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→ OpenShift Virtualization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measure the move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Steps, four decisions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support tiers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pinning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stages — and warm and cold are different routes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last. A cold migration is down for the whole copy; a warm one only for the cutover — so they are drawn as what they are.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664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600200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00200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DISCOVER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655064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760" dirty="0"/>
          </a:p>
        </p:txBody>
      </p:sp>
      <p:sp>
        <p:nvSpPr>
          <p:cNvPr id="12" name="Text 10"/>
          <p:cNvSpPr/>
          <p:nvPr/>
        </p:nvSpPr>
        <p:spPr>
          <a:xfrm>
            <a:off x="3200400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10128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EDE9FE"/>
          </a:solidFill>
          <a:ln w="22225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128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ANALYSE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364992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</a:t>
            </a:r>
            <a:endParaRPr lang="en-US" sz="760" dirty="0"/>
          </a:p>
        </p:txBody>
      </p:sp>
      <p:sp>
        <p:nvSpPr>
          <p:cNvPr id="16" name="Text 14"/>
          <p:cNvSpPr/>
          <p:nvPr/>
        </p:nvSpPr>
        <p:spPr>
          <a:xfrm>
            <a:off x="4910328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0056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0056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SELECT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074920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wave + warm or cold</a:t>
            </a:r>
            <a:endParaRPr lang="en-US" sz="760" dirty="0"/>
          </a:p>
        </p:txBody>
      </p:sp>
      <p:sp>
        <p:nvSpPr>
          <p:cNvPr id="20" name="Text 18"/>
          <p:cNvSpPr/>
          <p:nvPr/>
        </p:nvSpPr>
        <p:spPr>
          <a:xfrm>
            <a:off x="6620256" y="1719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9984" y="1463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729984" y="1517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PLAN &amp; CHANGE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784848" y="1810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window · CAB</a:t>
            </a:r>
            <a:endParaRPr lang="en-US" sz="760" dirty="0"/>
          </a:p>
        </p:txBody>
      </p:sp>
      <p:sp>
        <p:nvSpPr>
          <p:cNvPr id="24" name="Text 22"/>
          <p:cNvSpPr/>
          <p:nvPr/>
        </p:nvSpPr>
        <p:spPr>
          <a:xfrm>
            <a:off x="411480" y="2807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1600200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00200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POWER OFF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55064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copy IS the outage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3200400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310128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10128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VERIFY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3364992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4910328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5020056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020056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RETIRE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5074920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6620256" y="2862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729984" y="2606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1F5F9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729984" y="2660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6784848" y="2953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cutover step</a:t>
            </a:r>
            <a:endParaRPr lang="en-US" sz="760" dirty="0"/>
          </a:p>
        </p:txBody>
      </p:sp>
      <p:sp>
        <p:nvSpPr>
          <p:cNvPr id="40" name="Text 38"/>
          <p:cNvSpPr/>
          <p:nvPr/>
        </p:nvSpPr>
        <p:spPr>
          <a:xfrm>
            <a:off x="411480" y="3950208"/>
            <a:ext cx="1051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600200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BEAFE"/>
          </a:solidFill>
          <a:ln w="22225">
            <a:solidFill>
              <a:srgbClr val="2563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600200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DISKS COPY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655064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keeps serving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3200400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310128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F3C7"/>
          </a:solidFill>
          <a:ln w="22225">
            <a:solidFill>
              <a:srgbClr val="D97706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10128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CUTOVER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3364992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only downtime</a:t>
            </a:r>
            <a:endParaRPr lang="en-US" sz="760" dirty="0"/>
          </a:p>
        </p:txBody>
      </p:sp>
      <p:sp>
        <p:nvSpPr>
          <p:cNvPr id="48" name="Text 46"/>
          <p:cNvSpPr/>
          <p:nvPr/>
        </p:nvSpPr>
        <p:spPr>
          <a:xfrm>
            <a:off x="4910328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020056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D1FAE5"/>
          </a:solidFill>
          <a:ln w="22225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0056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VERIFY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5074920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checks</a:t>
            </a:r>
            <a:endParaRPr lang="en-US" sz="760" dirty="0"/>
          </a:p>
        </p:txBody>
      </p:sp>
      <p:sp>
        <p:nvSpPr>
          <p:cNvPr id="52" name="Text 50"/>
          <p:cNvSpPr/>
          <p:nvPr/>
        </p:nvSpPr>
        <p:spPr>
          <a:xfrm>
            <a:off x="6620256" y="4005072"/>
            <a:ext cx="1280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6729984" y="3749040"/>
            <a:ext cx="1572768" cy="777240"/>
          </a:xfrm>
          <a:prstGeom prst="roundRect">
            <a:avLst>
              <a:gd name="adj" fmla="val 8235"/>
            </a:avLst>
          </a:prstGeom>
          <a:solidFill>
            <a:srgbClr val="FEE2E2"/>
          </a:solidFill>
          <a:ln w="22225">
            <a:solidFill>
              <a:srgbClr val="B91C1C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9984" y="3803904"/>
            <a:ext cx="15727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RETIRE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784848" y="4096512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2nd change · after soak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411480" y="4937760"/>
            <a:ext cx="11338560" cy="749808"/>
          </a:xfrm>
          <a:prstGeom prst="roundRect">
            <a:avLst>
              <a:gd name="adj" fmla="val 7317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6928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66928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3383280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3383280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cold, clamped by rules.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6199632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6199632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Re-read from the cluster, not the browser.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9015984" y="5010912"/>
            <a:ext cx="2651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🔴 Reversible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9015984" y="5248656"/>
            <a:ext cx="265176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Until the source VMs are deleted.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 and a change request approved — and the source VM is never deleted by this platform.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CUTOVER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outage, scheduled into the window that was approved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migration stops after the precopy on purpose. Every other tool puts a button here and lets you press it whenever — that is how a production VM goes down at 3pm on a Tuesday.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657600"/>
                <a:gridCol w="4480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State of the change request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offers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Not approved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names the CR and its state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cutover IS the outage the CAB is asked to approve.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inside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⏻ Power off &amp; cut over now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shuts down, final blocks copy, VM starts on OpenShift.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window opens later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◷ Schedule for the window opening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performs it unattended. Nobody sits up until midnight.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Approved, a chosen moment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Picker clamped to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Server re-checks BOTH ends — a UI state is not authorisation.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expired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Refused — points at the change board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Extend it, or raise a new change request.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Window unknown / unreadable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Reported as unknown, never as open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gate that fails open is not a gate.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board moves the window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scheduled cutover follows it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Otherwise it fires outside the window they approved.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663440"/>
            <a:ext cx="11338560" cy="1005840"/>
          </a:xfrm>
          <a:prstGeom prst="roundRect">
            <a:avLst>
              <a:gd name="adj" fmla="val 6364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Waiting is not free — and this is invisible until it bites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5029200"/>
            <a:ext cx="10972800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precopy spends ONE changed-block snapshot every hour while it waits, and a VM supports 28. A day of waiting spends most of that budget on nothing and grows the delta the cutover must copy — lengthening the very outage the window was sized for. So a warm cutover is proposed for the SAME DAY, and the change request says why.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VERIFY &amp; RETIRE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'Succeeded' on a Plan describes the transfer, not the machine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reports success when it has finished copying. The questions a person actually has afterwards are different ones — and one of them costs real money if the answer is wrong.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480560"/>
                <a:gridCol w="40233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asks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If it fails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VM is running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Is it up, and on which node?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Usually firmware, Secure Boot or a missing driver.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SOURCE VM IS POWERED OFF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Two copies of one identity on one network, each writing to storage the other cannot see.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991B1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Power the source off NOW. Whichever machine loses is the one somebody was using.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Kept its IP address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address survive?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DNS, firewall rules, app config and monitoring need updating.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All disks present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Against the count recorded on the Plan.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storage map missed a datastore — a missing filesystem.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and memory match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Did the shape survive the copy?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Resize, unless the difference was deliberate.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48640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not a pass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48640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unreachable source reports 'not confirmed' and the verdict drops to INCOMPLETE. It never says 'powered off' because it failed to look.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224528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D1FAE5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361688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Closure is on evidence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361688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passing verdict closes the change request with the results. Failed or incomplete closes nothing — that is the point of a verdict.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8037576" y="4160520"/>
            <a:ext cx="3611880" cy="1417320"/>
          </a:xfrm>
          <a:prstGeom prst="roundRect">
            <a:avLst>
              <a:gd name="adj" fmla="val 4516"/>
            </a:avLst>
          </a:prstGeom>
          <a:solidFill>
            <a:srgbClr val="FEE2E2"/>
          </a:solidFill>
          <a:ln w="19050">
            <a:solidFill>
              <a:srgbClr val="B91C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251960"/>
            <a:ext cx="3337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Retiring is a SECOND change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74736" y="4617720"/>
            <a:ext cx="33375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migration was reversible; deleting the source is not. Behind a soak period, and blocked outright by an incomplete verification.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platform deletes nothing on the source platform. It raises the request; the VMware team carries it out.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 steps — 43 deterministic · 11 manual · 2 AI-assisted · 2 external.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7784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35608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435608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273552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19856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297680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97680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135624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81928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159752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159752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8997696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CFFAFE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0" y="1536192"/>
            <a:ext cx="86868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10021824" y="1591056"/>
            <a:ext cx="1600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749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21824" y="1865376"/>
            <a:ext cx="16002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MTV, ServiceNow, or the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team acting on request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7373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Stage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it is for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5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Read-only. Nothing is written to the source platform.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Analyse support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12   🟡 1   🟣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Every VM assessed. The report is the decision record.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Select &amp; strategy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is chosen after the evidence, never before it.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  Plan &amp; change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9   🟡 2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Plans validate; the change request carries the document.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 Transfer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live, judged against what was approved.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  Cutover  (warm only)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3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ONLY. The outage. Scheduled inside the approved window.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  Verify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7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Migrated is not working. Five checks decide which.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  Retire the source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1   🟡 1   🔗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only irreversible step, behind a soak and a second change.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9  Roll back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2   🟡 1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Available at every stage until the source is deleted.</a:t>
                      </a:r>
                      <a:endParaRPr lang="en-US" sz="9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publishes NO throughput figure — only that migrating without VDDK “could result in significantly lower migration speeds”. The panel quotes that and labels the 3× default (MTV_VDDK_SPEEDUP) as this product’s assumption.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rate is in hand describes the configuration IN FORCE; the other side is derived from it,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2026-09-10T12:56:01Z</dcterms:created>
  <dcterms:modified xsi:type="dcterms:W3CDTF">2026-09-10T12:56:01Z</dcterms:modified>
</cp:coreProperties>
</file>