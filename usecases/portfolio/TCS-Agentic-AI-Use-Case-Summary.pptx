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2880360"/>
            <a:ext cx="12188952" cy="41148"/>
          </a:xfrm>
          <a:prstGeom prst="rect">
            <a:avLst/>
          </a:prstGeom>
          <a:solidFill>
            <a:srgbClr val="2563EB"/>
          </a:solidFill>
          <a:ln/>
        </p:spPr>
      </p:sp>
      <p:sp>
        <p:nvSpPr>
          <p:cNvPr id="3" name="Text 1"/>
          <p:cNvSpPr/>
          <p:nvPr/>
        </p:nvSpPr>
        <p:spPr>
          <a:xfrm>
            <a:off x="731520" y="1417320"/>
            <a:ext cx="10607040" cy="292608"/>
          </a:xfrm>
          <a:prstGeom prst="rect">
            <a:avLst/>
          </a:prstGeom>
          <a:noFill/>
          <a:ln/>
        </p:spPr>
        <p:txBody>
          <a:bodyPr wrap="square" rtlCol="0" anchor="ctr"/>
          <a:lstStyle/>
          <a:p>
            <a:pPr indent="0" marL="0">
              <a:buNone/>
            </a:pPr>
            <a:r>
              <a:rPr lang="en-US" sz="1300" b="1" spc="300" kern="0" dirty="0">
                <a:solidFill>
                  <a:srgbClr val="0891B2"/>
                </a:solidFill>
                <a:latin typeface="Inter" pitchFamily="34" charset="0"/>
                <a:ea typeface="Inter" pitchFamily="34" charset="-122"/>
                <a:cs typeface="Inter" pitchFamily="34" charset="-120"/>
              </a:rPr>
              <a:t>TCS AGENTIC AI FOR HYBRID INFRASTRUCTURE</a:t>
            </a:r>
            <a:endParaRPr lang="en-US" sz="1300" dirty="0"/>
          </a:p>
        </p:txBody>
      </p:sp>
      <p:sp>
        <p:nvSpPr>
          <p:cNvPr id="4" name="Text 2"/>
          <p:cNvSpPr/>
          <p:nvPr/>
        </p:nvSpPr>
        <p:spPr>
          <a:xfrm>
            <a:off x="731520" y="1755648"/>
            <a:ext cx="10607040" cy="777240"/>
          </a:xfrm>
          <a:prstGeom prst="rect">
            <a:avLst/>
          </a:prstGeom>
          <a:noFill/>
          <a:ln/>
        </p:spPr>
        <p:txBody>
          <a:bodyPr wrap="square" rtlCol="0" anchor="ctr"/>
          <a:lstStyle/>
          <a:p>
            <a:pPr indent="0" marL="0">
              <a:buNone/>
            </a:pPr>
            <a:r>
              <a:rPr lang="en-US" sz="4000" b="1" dirty="0">
                <a:solidFill>
                  <a:srgbClr val="FFFFFF"/>
                </a:solidFill>
                <a:latin typeface="Inter" pitchFamily="34" charset="0"/>
                <a:ea typeface="Inter" pitchFamily="34" charset="-122"/>
                <a:cs typeface="Inter" pitchFamily="34" charset="-120"/>
              </a:rPr>
              <a:t>Use Case Summary</a:t>
            </a:r>
            <a:endParaRPr lang="en-US" sz="4000" dirty="0"/>
          </a:p>
        </p:txBody>
      </p:sp>
      <p:sp>
        <p:nvSpPr>
          <p:cNvPr id="5" name="Text 3"/>
          <p:cNvSpPr/>
          <p:nvPr/>
        </p:nvSpPr>
        <p:spPr>
          <a:xfrm>
            <a:off x="731520" y="3063240"/>
            <a:ext cx="10607040" cy="365760"/>
          </a:xfrm>
          <a:prstGeom prst="rect">
            <a:avLst/>
          </a:prstGeom>
          <a:noFill/>
          <a:ln/>
        </p:spPr>
        <p:txBody>
          <a:bodyPr wrap="square" rtlCol="0" anchor="ctr"/>
          <a:lstStyle/>
          <a:p>
            <a:pPr indent="0" marL="0">
              <a:buNone/>
            </a:pPr>
            <a:r>
              <a:rPr lang="en-US" sz="1500" dirty="0">
                <a:solidFill>
                  <a:srgbClr val="94A3B8"/>
                </a:solidFill>
                <a:latin typeface="Inter" pitchFamily="34" charset="0"/>
                <a:ea typeface="Inter" pitchFamily="34" charset="-122"/>
                <a:cs typeface="Inter" pitchFamily="34" charset="-120"/>
              </a:rPr>
              <a:t>Container &amp; Kubernetes Operations  ·  one slide per use case: name, description, and its master workflow</a:t>
            </a:r>
            <a:endParaRPr lang="en-US" sz="1500" dirty="0"/>
          </a:p>
        </p:txBody>
      </p:sp>
      <p:sp>
        <p:nvSpPr>
          <p:cNvPr id="6" name="Shape 4"/>
          <p:cNvSpPr/>
          <p:nvPr/>
        </p:nvSpPr>
        <p:spPr>
          <a:xfrm>
            <a:off x="731520" y="3886200"/>
            <a:ext cx="2514600" cy="1051560"/>
          </a:xfrm>
          <a:prstGeom prst="roundRect">
            <a:avLst>
              <a:gd name="adj" fmla="val 5217"/>
            </a:avLst>
          </a:prstGeom>
          <a:solidFill>
            <a:srgbClr val="1E293B"/>
          </a:solidFill>
          <a:ln w="12700">
            <a:solidFill>
              <a:srgbClr val="334155"/>
            </a:solidFill>
            <a:prstDash val="solid"/>
          </a:ln>
        </p:spPr>
      </p:sp>
      <p:sp>
        <p:nvSpPr>
          <p:cNvPr id="7" name="Text 5"/>
          <p:cNvSpPr/>
          <p:nvPr/>
        </p:nvSpPr>
        <p:spPr>
          <a:xfrm>
            <a:off x="731520" y="3995928"/>
            <a:ext cx="2514600" cy="457200"/>
          </a:xfrm>
          <a:prstGeom prst="rect">
            <a:avLst/>
          </a:prstGeom>
          <a:noFill/>
          <a:ln/>
        </p:spPr>
        <p:txBody>
          <a:bodyPr wrap="square" rtlCol="0" anchor="ctr"/>
          <a:lstStyle/>
          <a:p>
            <a:pPr algn="ctr" indent="0" marL="0">
              <a:buNone/>
            </a:pPr>
            <a:r>
              <a:rPr lang="en-US" sz="2600" b="1" dirty="0">
                <a:solidFill>
                  <a:srgbClr val="0891B2"/>
                </a:solidFill>
                <a:latin typeface="Inter" pitchFamily="34" charset="0"/>
                <a:ea typeface="Inter" pitchFamily="34" charset="-122"/>
                <a:cs typeface="Inter" pitchFamily="34" charset="-120"/>
              </a:rPr>
              <a:t>8</a:t>
            </a:r>
            <a:endParaRPr lang="en-US" sz="2600" dirty="0"/>
          </a:p>
        </p:txBody>
      </p:sp>
      <p:sp>
        <p:nvSpPr>
          <p:cNvPr id="8" name="Text 6"/>
          <p:cNvSpPr/>
          <p:nvPr/>
        </p:nvSpPr>
        <p:spPr>
          <a:xfrm>
            <a:off x="731520" y="4453128"/>
            <a:ext cx="2514600" cy="274320"/>
          </a:xfrm>
          <a:prstGeom prst="rect">
            <a:avLst/>
          </a:prstGeom>
          <a:noFill/>
          <a:ln/>
        </p:spPr>
        <p:txBody>
          <a:bodyPr wrap="square" rtlCol="0" anchor="ctr"/>
          <a:lstStyle/>
          <a:p>
            <a:pPr algn="ctr" indent="0" marL="0">
              <a:buNone/>
            </a:pPr>
            <a:r>
              <a:rPr lang="en-US" sz="950" dirty="0">
                <a:solidFill>
                  <a:srgbClr val="94A3B8"/>
                </a:solidFill>
                <a:latin typeface="Inter" pitchFamily="34" charset="0"/>
                <a:ea typeface="Inter" pitchFamily="34" charset="-122"/>
                <a:cs typeface="Inter" pitchFamily="34" charset="-120"/>
              </a:rPr>
              <a:t>Use cases</a:t>
            </a:r>
            <a:endParaRPr lang="en-US" sz="950" dirty="0"/>
          </a:p>
        </p:txBody>
      </p:sp>
      <p:sp>
        <p:nvSpPr>
          <p:cNvPr id="9" name="Shape 7"/>
          <p:cNvSpPr/>
          <p:nvPr/>
        </p:nvSpPr>
        <p:spPr>
          <a:xfrm>
            <a:off x="3474720" y="3886200"/>
            <a:ext cx="2514600" cy="1051560"/>
          </a:xfrm>
          <a:prstGeom prst="roundRect">
            <a:avLst>
              <a:gd name="adj" fmla="val 5217"/>
            </a:avLst>
          </a:prstGeom>
          <a:solidFill>
            <a:srgbClr val="1E293B"/>
          </a:solidFill>
          <a:ln w="12700">
            <a:solidFill>
              <a:srgbClr val="334155"/>
            </a:solidFill>
            <a:prstDash val="solid"/>
          </a:ln>
        </p:spPr>
      </p:sp>
      <p:sp>
        <p:nvSpPr>
          <p:cNvPr id="10" name="Text 8"/>
          <p:cNvSpPr/>
          <p:nvPr/>
        </p:nvSpPr>
        <p:spPr>
          <a:xfrm>
            <a:off x="3474720" y="3995928"/>
            <a:ext cx="2514600" cy="457200"/>
          </a:xfrm>
          <a:prstGeom prst="rect">
            <a:avLst/>
          </a:prstGeom>
          <a:noFill/>
          <a:ln/>
        </p:spPr>
        <p:txBody>
          <a:bodyPr wrap="square" rtlCol="0" anchor="ctr"/>
          <a:lstStyle/>
          <a:p>
            <a:pPr algn="ctr" indent="0" marL="0">
              <a:buNone/>
            </a:pPr>
            <a:r>
              <a:rPr lang="en-US" sz="2600" b="1" dirty="0">
                <a:solidFill>
                  <a:srgbClr val="0891B2"/>
                </a:solidFill>
                <a:latin typeface="Inter" pitchFamily="34" charset="0"/>
                <a:ea typeface="Inter" pitchFamily="34" charset="-122"/>
                <a:cs typeface="Inter" pitchFamily="34" charset="-120"/>
              </a:rPr>
              <a:t>15</a:t>
            </a:r>
            <a:endParaRPr lang="en-US" sz="2600" dirty="0"/>
          </a:p>
        </p:txBody>
      </p:sp>
      <p:sp>
        <p:nvSpPr>
          <p:cNvPr id="11" name="Text 9"/>
          <p:cNvSpPr/>
          <p:nvPr/>
        </p:nvSpPr>
        <p:spPr>
          <a:xfrm>
            <a:off x="3474720" y="4453128"/>
            <a:ext cx="2514600" cy="274320"/>
          </a:xfrm>
          <a:prstGeom prst="rect">
            <a:avLst/>
          </a:prstGeom>
          <a:noFill/>
          <a:ln/>
        </p:spPr>
        <p:txBody>
          <a:bodyPr wrap="square" rtlCol="0" anchor="ctr"/>
          <a:lstStyle/>
          <a:p>
            <a:pPr algn="ctr" indent="0" marL="0">
              <a:buNone/>
            </a:pPr>
            <a:r>
              <a:rPr lang="en-US" sz="950" dirty="0">
                <a:solidFill>
                  <a:srgbClr val="94A3B8"/>
                </a:solidFill>
                <a:latin typeface="Inter" pitchFamily="34" charset="0"/>
                <a:ea typeface="Inter" pitchFamily="34" charset="-122"/>
                <a:cs typeface="Inter" pitchFamily="34" charset="-120"/>
              </a:rPr>
              <a:t>MCP agents</a:t>
            </a:r>
            <a:endParaRPr lang="en-US" sz="950" dirty="0"/>
          </a:p>
        </p:txBody>
      </p:sp>
      <p:sp>
        <p:nvSpPr>
          <p:cNvPr id="12" name="Shape 10"/>
          <p:cNvSpPr/>
          <p:nvPr/>
        </p:nvSpPr>
        <p:spPr>
          <a:xfrm>
            <a:off x="6217920" y="3886200"/>
            <a:ext cx="2514600" cy="1051560"/>
          </a:xfrm>
          <a:prstGeom prst="roundRect">
            <a:avLst>
              <a:gd name="adj" fmla="val 5217"/>
            </a:avLst>
          </a:prstGeom>
          <a:solidFill>
            <a:srgbClr val="1E293B"/>
          </a:solidFill>
          <a:ln w="12700">
            <a:solidFill>
              <a:srgbClr val="334155"/>
            </a:solidFill>
            <a:prstDash val="solid"/>
          </a:ln>
        </p:spPr>
      </p:sp>
      <p:sp>
        <p:nvSpPr>
          <p:cNvPr id="13" name="Text 11"/>
          <p:cNvSpPr/>
          <p:nvPr/>
        </p:nvSpPr>
        <p:spPr>
          <a:xfrm>
            <a:off x="6217920" y="3995928"/>
            <a:ext cx="2514600" cy="457200"/>
          </a:xfrm>
          <a:prstGeom prst="rect">
            <a:avLst/>
          </a:prstGeom>
          <a:noFill/>
          <a:ln/>
        </p:spPr>
        <p:txBody>
          <a:bodyPr wrap="square" rtlCol="0" anchor="ctr"/>
          <a:lstStyle/>
          <a:p>
            <a:pPr algn="ctr" indent="0" marL="0">
              <a:buNone/>
            </a:pPr>
            <a:r>
              <a:rPr lang="en-US" sz="2600" b="1" dirty="0">
                <a:solidFill>
                  <a:srgbClr val="0891B2"/>
                </a:solidFill>
                <a:latin typeface="Inter" pitchFamily="34" charset="0"/>
                <a:ea typeface="Inter" pitchFamily="34" charset="-122"/>
                <a:cs typeface="Inter" pitchFamily="34" charset="-120"/>
              </a:rPr>
              <a:t>177</a:t>
            </a:r>
            <a:endParaRPr lang="en-US" sz="2600" dirty="0"/>
          </a:p>
        </p:txBody>
      </p:sp>
      <p:sp>
        <p:nvSpPr>
          <p:cNvPr id="14" name="Text 12"/>
          <p:cNvSpPr/>
          <p:nvPr/>
        </p:nvSpPr>
        <p:spPr>
          <a:xfrm>
            <a:off x="6217920" y="4453128"/>
            <a:ext cx="2514600" cy="274320"/>
          </a:xfrm>
          <a:prstGeom prst="rect">
            <a:avLst/>
          </a:prstGeom>
          <a:noFill/>
          <a:ln/>
        </p:spPr>
        <p:txBody>
          <a:bodyPr wrap="square" rtlCol="0" anchor="ctr"/>
          <a:lstStyle/>
          <a:p>
            <a:pPr algn="ctr" indent="0" marL="0">
              <a:buNone/>
            </a:pPr>
            <a:r>
              <a:rPr lang="en-US" sz="950" dirty="0">
                <a:solidFill>
                  <a:srgbClr val="94A3B8"/>
                </a:solidFill>
                <a:latin typeface="Inter" pitchFamily="34" charset="0"/>
                <a:ea typeface="Inter" pitchFamily="34" charset="-122"/>
                <a:cs typeface="Inter" pitchFamily="34" charset="-120"/>
              </a:rPr>
              <a:t>Tools</a:t>
            </a:r>
            <a:endParaRPr lang="en-US" sz="950" dirty="0"/>
          </a:p>
        </p:txBody>
      </p:sp>
      <p:sp>
        <p:nvSpPr>
          <p:cNvPr id="15" name="Shape 13"/>
          <p:cNvSpPr/>
          <p:nvPr/>
        </p:nvSpPr>
        <p:spPr>
          <a:xfrm>
            <a:off x="8961120" y="3886200"/>
            <a:ext cx="2514600" cy="1051560"/>
          </a:xfrm>
          <a:prstGeom prst="roundRect">
            <a:avLst>
              <a:gd name="adj" fmla="val 5217"/>
            </a:avLst>
          </a:prstGeom>
          <a:solidFill>
            <a:srgbClr val="1E293B"/>
          </a:solidFill>
          <a:ln w="12700">
            <a:solidFill>
              <a:srgbClr val="334155"/>
            </a:solidFill>
            <a:prstDash val="solid"/>
          </a:ln>
        </p:spPr>
      </p:sp>
      <p:sp>
        <p:nvSpPr>
          <p:cNvPr id="16" name="Text 14"/>
          <p:cNvSpPr/>
          <p:nvPr/>
        </p:nvSpPr>
        <p:spPr>
          <a:xfrm>
            <a:off x="8961120" y="3995928"/>
            <a:ext cx="2514600" cy="457200"/>
          </a:xfrm>
          <a:prstGeom prst="rect">
            <a:avLst/>
          </a:prstGeom>
          <a:noFill/>
          <a:ln/>
        </p:spPr>
        <p:txBody>
          <a:bodyPr wrap="square" rtlCol="0" anchor="ctr"/>
          <a:lstStyle/>
          <a:p>
            <a:pPr algn="ctr" indent="0" marL="0">
              <a:buNone/>
            </a:pPr>
            <a:r>
              <a:rPr lang="en-US" sz="2600" b="1" dirty="0">
                <a:solidFill>
                  <a:srgbClr val="0891B2"/>
                </a:solidFill>
                <a:latin typeface="Inter" pitchFamily="34" charset="0"/>
                <a:ea typeface="Inter" pitchFamily="34" charset="-122"/>
                <a:cs typeface="Inter" pitchFamily="34" charset="-120"/>
              </a:rPr>
              <a:t>4</a:t>
            </a:r>
            <a:endParaRPr lang="en-US" sz="2600" dirty="0"/>
          </a:p>
        </p:txBody>
      </p:sp>
      <p:sp>
        <p:nvSpPr>
          <p:cNvPr id="17" name="Text 15"/>
          <p:cNvSpPr/>
          <p:nvPr/>
        </p:nvSpPr>
        <p:spPr>
          <a:xfrm>
            <a:off x="8961120" y="4453128"/>
            <a:ext cx="2514600" cy="274320"/>
          </a:xfrm>
          <a:prstGeom prst="rect">
            <a:avLst/>
          </a:prstGeom>
          <a:noFill/>
          <a:ln/>
        </p:spPr>
        <p:txBody>
          <a:bodyPr wrap="square" rtlCol="0" anchor="ctr"/>
          <a:lstStyle/>
          <a:p>
            <a:pPr algn="ctr" indent="0" marL="0">
              <a:buNone/>
            </a:pPr>
            <a:r>
              <a:rPr lang="en-US" sz="950" dirty="0">
                <a:solidFill>
                  <a:srgbClr val="94A3B8"/>
                </a:solidFill>
                <a:latin typeface="Inter" pitchFamily="34" charset="0"/>
                <a:ea typeface="Inter" pitchFamily="34" charset="-122"/>
                <a:cs typeface="Inter" pitchFamily="34" charset="-120"/>
              </a:rPr>
              <a:t>Actor types</a:t>
            </a:r>
            <a:endParaRPr lang="en-US" sz="950" dirty="0"/>
          </a:p>
        </p:txBody>
      </p:sp>
      <p:sp>
        <p:nvSpPr>
          <p:cNvPr id="18" name="Text 16"/>
          <p:cNvSpPr/>
          <p:nvPr/>
        </p:nvSpPr>
        <p:spPr>
          <a:xfrm>
            <a:off x="731520" y="5257800"/>
            <a:ext cx="10607040" cy="320040"/>
          </a:xfrm>
          <a:prstGeom prst="rect">
            <a:avLst/>
          </a:prstGeom>
          <a:noFill/>
          <a:ln/>
        </p:spPr>
        <p:txBody>
          <a:bodyPr wrap="square" rtlCol="0" anchor="ctr"/>
          <a:lstStyle/>
          <a:p>
            <a:pPr indent="0" marL="0">
              <a:buNone/>
            </a:pPr>
            <a:r>
              <a:rPr lang="en-US" sz="1150" dirty="0">
                <a:solidFill>
                  <a:srgbClr val="CBD5E1"/>
                </a:solidFill>
                <a:latin typeface="Inter" pitchFamily="34" charset="0"/>
                <a:ea typeface="Inter" pitchFamily="34" charset="-122"/>
                <a:cs typeface="Inter" pitchFamily="34" charset="-120"/>
              </a:rPr>
              <a:t>Each workflow below is the same Master Workflow that appears in that use case's own deck.</a:t>
            </a:r>
            <a:endParaRPr lang="en-US" sz="1150" dirty="0"/>
          </a:p>
        </p:txBody>
      </p:sp>
      <p:sp>
        <p:nvSpPr>
          <p:cNvPr id="19" name="Text 17"/>
          <p:cNvSpPr/>
          <p:nvPr/>
        </p:nvSpPr>
        <p:spPr>
          <a:xfrm>
            <a:off x="731520" y="5596128"/>
            <a:ext cx="10607040" cy="274320"/>
          </a:xfrm>
          <a:prstGeom prst="rect">
            <a:avLst/>
          </a:prstGeom>
          <a:noFill/>
          <a:ln/>
        </p:spPr>
        <p:txBody>
          <a:bodyPr wrap="square" rtlCol="0" anchor="ctr"/>
          <a:lstStyle/>
          <a:p>
            <a:pPr indent="0" marL="0">
              <a:buNone/>
            </a:pPr>
            <a:r>
              <a:rPr lang="en-US" sz="1100" i="1" dirty="0">
                <a:solidFill>
                  <a:srgbClr val="64748B"/>
                </a:solidFill>
                <a:latin typeface="Inter" pitchFamily="34" charset="0"/>
                <a:ea typeface="Inter" pitchFamily="34" charset="-122"/>
                <a:cs typeface="Inter" pitchFamily="34" charset="-120"/>
              </a:rPr>
              <a:t>Colour code:  purple reasons  ·  blue repeats exactly  ·  amber decides  ·  green is proven against the cluster</a:t>
            </a:r>
            <a:endParaRPr lang="en-US" sz="1100" dirty="0"/>
          </a:p>
        </p:txBody>
      </p:sp>
      <p:sp>
        <p:nvSpPr>
          <p:cNvPr id="20" name="Text 18"/>
          <p:cNvSpPr/>
          <p:nvPr/>
        </p:nvSpPr>
        <p:spPr>
          <a:xfrm>
            <a:off x="731520" y="6144768"/>
            <a:ext cx="10607040" cy="274320"/>
          </a:xfrm>
          <a:prstGeom prst="rect">
            <a:avLst/>
          </a:prstGeom>
          <a:noFill/>
          <a:ln/>
        </p:spPr>
        <p:txBody>
          <a:bodyPr wrap="square" rtlCol="0" anchor="ctr"/>
          <a:lstStyle/>
          <a:p>
            <a:pPr indent="0" marL="0">
              <a:buNone/>
            </a:pPr>
            <a:r>
              <a:rPr lang="en-US" sz="1100" dirty="0">
                <a:solidFill>
                  <a:srgbClr val="64748B"/>
                </a:solidFill>
                <a:latin typeface="Inter" pitchFamily="34" charset="0"/>
                <a:ea typeface="Inter" pitchFamily="34" charset="-122"/>
                <a:cs typeface="Inter" pitchFamily="34" charset="-120"/>
              </a:rPr>
              <a:t>Tata Consultancy Services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1060704"/>
          </a:xfrm>
          <a:prstGeom prst="rect">
            <a:avLst/>
          </a:prstGeom>
          <a:solidFill>
            <a:srgbClr val="0F172A"/>
          </a:solidFill>
          <a:ln/>
        </p:spPr>
      </p:sp>
      <p:sp>
        <p:nvSpPr>
          <p:cNvPr id="3" name="Text 1"/>
          <p:cNvSpPr/>
          <p:nvPr/>
        </p:nvSpPr>
        <p:spPr>
          <a:xfrm>
            <a:off x="411480" y="118872"/>
            <a:ext cx="4572000" cy="219456"/>
          </a:xfrm>
          <a:prstGeom prst="rect">
            <a:avLst/>
          </a:prstGeom>
          <a:noFill/>
          <a:ln/>
        </p:spPr>
        <p:txBody>
          <a:bodyPr wrap="square" rtlCol="0" anchor="ctr"/>
          <a:lstStyle/>
          <a:p>
            <a:pPr indent="0" marL="0">
              <a:buNone/>
            </a:pPr>
            <a:r>
              <a:rPr lang="en-US" sz="1000" b="1" spc="220" kern="0" dirty="0">
                <a:solidFill>
                  <a:srgbClr val="0891B2"/>
                </a:solidFill>
                <a:latin typeface="Inter" pitchFamily="34" charset="0"/>
                <a:ea typeface="Inter" pitchFamily="34" charset="-122"/>
                <a:cs typeface="Inter" pitchFamily="34" charset="-120"/>
              </a:rPr>
              <a:t>TCS AGENTIC AI</a:t>
            </a:r>
            <a:endParaRPr lang="en-US" sz="1000" dirty="0"/>
          </a:p>
        </p:txBody>
      </p:sp>
      <p:sp>
        <p:nvSpPr>
          <p:cNvPr id="4" name="Text 2"/>
          <p:cNvSpPr/>
          <p:nvPr/>
        </p:nvSpPr>
        <p:spPr>
          <a:xfrm>
            <a:off x="411480" y="329184"/>
            <a:ext cx="9692640" cy="402336"/>
          </a:xfrm>
          <a:prstGeom prst="rect">
            <a:avLst/>
          </a:prstGeom>
          <a:noFill/>
          <a:ln/>
        </p:spPr>
        <p:txBody>
          <a:bodyPr wrap="square" rtlCol="0" anchor="ctr"/>
          <a:lstStyle/>
          <a:p>
            <a:pPr indent="0" marL="0">
              <a:buNone/>
            </a:pPr>
            <a:r>
              <a:rPr lang="en-US" sz="2300" b="1" dirty="0">
                <a:solidFill>
                  <a:srgbClr val="FFFFFF"/>
                </a:solidFill>
                <a:latin typeface="Inter" pitchFamily="34" charset="0"/>
                <a:ea typeface="Inter" pitchFamily="34" charset="-122"/>
                <a:cs typeface="Inter" pitchFamily="34" charset="-120"/>
              </a:rPr>
              <a:t>Incident Response Agent</a:t>
            </a:r>
            <a:endParaRPr lang="en-US" sz="2300" dirty="0"/>
          </a:p>
        </p:txBody>
      </p:sp>
      <p:sp>
        <p:nvSpPr>
          <p:cNvPr id="5" name="Text 3"/>
          <p:cNvSpPr/>
          <p:nvPr/>
        </p:nvSpPr>
        <p:spPr>
          <a:xfrm>
            <a:off x="411480" y="749808"/>
            <a:ext cx="9692640" cy="256032"/>
          </a:xfrm>
          <a:prstGeom prst="rect">
            <a:avLst/>
          </a:prstGeom>
          <a:noFill/>
          <a:ln/>
        </p:spPr>
        <p:txBody>
          <a:bodyPr wrap="square" rtlCol="0" anchor="ctr"/>
          <a:lstStyle/>
          <a:p>
            <a:pPr indent="0" marL="0">
              <a:buNone/>
            </a:pPr>
            <a:r>
              <a:rPr lang="en-US" sz="1050" i="1" dirty="0">
                <a:solidFill>
                  <a:srgbClr val="94A3B8"/>
                </a:solidFill>
                <a:latin typeface="Inter" pitchFamily="34" charset="0"/>
                <a:ea typeface="Inter" pitchFamily="34" charset="-122"/>
                <a:cs typeface="Inter" pitchFamily="34" charset="-120"/>
              </a:rPr>
              <a:t>Container troubleshooting &amp; remediation — “why is my pod crashing?” to a verified, closed ticket</a:t>
            </a:r>
            <a:endParaRPr lang="en-US" sz="1050" dirty="0"/>
          </a:p>
        </p:txBody>
      </p:sp>
      <p:sp>
        <p:nvSpPr>
          <p:cNvPr id="6" name="Text 4"/>
          <p:cNvSpPr/>
          <p:nvPr/>
        </p:nvSpPr>
        <p:spPr>
          <a:xfrm>
            <a:off x="10561320" y="310896"/>
            <a:ext cx="1234440" cy="365760"/>
          </a:xfrm>
          <a:prstGeom prst="rect">
            <a:avLst>
              <a:gd name="adj" fmla="val 12500"/>
            </a:avLst>
          </a:prstGeom>
          <a:solidFill>
            <a:srgbClr val="2563EB"/>
          </a:solid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UC-01</a:t>
            </a:r>
            <a:endParaRPr lang="en-US" sz="1500" dirty="0"/>
          </a:p>
        </p:txBody>
      </p:sp>
      <p:sp>
        <p:nvSpPr>
          <p:cNvPr id="7" name="Text 5"/>
          <p:cNvSpPr/>
          <p:nvPr/>
        </p:nvSpPr>
        <p:spPr>
          <a:xfrm>
            <a:off x="411480" y="1188720"/>
            <a:ext cx="3657600" cy="182880"/>
          </a:xfrm>
          <a:prstGeom prst="rect">
            <a:avLst/>
          </a:prstGeom>
          <a:noFill/>
          <a:ln/>
        </p:spPr>
        <p:txBody>
          <a:bodyPr wrap="square" rtlCol="0" anchor="ctr"/>
          <a:lstStyle/>
          <a:p>
            <a:pPr indent="0" marL="0">
              <a:buNone/>
            </a:pPr>
            <a:r>
              <a:rPr lang="en-US" sz="850" b="1" spc="140" kern="0" dirty="0">
                <a:solidFill>
                  <a:srgbClr val="64748B"/>
                </a:solidFill>
                <a:latin typeface="Inter" pitchFamily="34" charset="0"/>
                <a:ea typeface="Inter" pitchFamily="34" charset="-122"/>
                <a:cs typeface="Inter" pitchFamily="34" charset="-120"/>
              </a:rPr>
              <a:t>USE CASE DESCRIPTION</a:t>
            </a:r>
            <a:endParaRPr lang="en-US" sz="850" dirty="0"/>
          </a:p>
        </p:txBody>
      </p:sp>
      <p:sp>
        <p:nvSpPr>
          <p:cNvPr id="8" name="Text 6"/>
          <p:cNvSpPr/>
          <p:nvPr/>
        </p:nvSpPr>
        <p:spPr>
          <a:xfrm>
            <a:off x="411480" y="1389888"/>
            <a:ext cx="11384280" cy="914400"/>
          </a:xfrm>
          <a:prstGeom prst="rect">
            <a:avLst/>
          </a:prstGeom>
          <a:noFill/>
          <a:ln/>
        </p:spPr>
        <p:txBody>
          <a:bodyPr wrap="square" rtlCol="0" anchor="t"/>
          <a:lstStyle/>
          <a:p>
            <a:pPr indent="0" marL="0">
              <a:lnSpc>
                <a:spcPct val="120000"/>
              </a:lnSpc>
              <a:buNone/>
            </a:pPr>
            <a:r>
              <a:rPr lang="en-US" sz="1200" dirty="0">
                <a:solidFill>
                  <a:srgbClr val="1E293B"/>
                </a:solidFill>
                <a:latin typeface="Inter" pitchFamily="34" charset="0"/>
                <a:ea typeface="Inter" pitchFamily="34" charset="-122"/>
                <a:cs typeface="Inter" pitchFamily="34" charset="-120"/>
              </a:rPr>
              <a:t>An engineer asks a question in plain language. The agent gathers real cluster evidence, diagnoses the root cause, assesses severity, raises the ServiceNow incident, and proposes a targeted fix — presented with a dry-run result attached, so the operator approves an action whose effect is already known. It then applies, proves recovery, and closes the ticket. This is the same remediation pipeline UC-05 runs autonomously; here it is entered by a person asking.</a:t>
            </a:r>
            <a:endParaRPr lang="en-US" sz="1200" dirty="0"/>
          </a:p>
        </p:txBody>
      </p:sp>
      <p:sp>
        <p:nvSpPr>
          <p:cNvPr id="9" name="Text 7"/>
          <p:cNvSpPr/>
          <p:nvPr/>
        </p:nvSpPr>
        <p:spPr>
          <a:xfrm>
            <a:off x="411480" y="2176272"/>
            <a:ext cx="3657600" cy="201168"/>
          </a:xfrm>
          <a:prstGeom prst="rect">
            <a:avLst/>
          </a:prstGeom>
          <a:noFill/>
          <a:ln/>
        </p:spPr>
        <p:txBody>
          <a:bodyPr wrap="square" rtlCol="0" anchor="ctr"/>
          <a:lstStyle/>
          <a:p>
            <a:pPr indent="0" marL="0">
              <a:buNone/>
            </a:pPr>
            <a:r>
              <a:rPr lang="en-US" sz="850" b="1" spc="140" kern="0" dirty="0">
                <a:solidFill>
                  <a:srgbClr val="2563EB"/>
                </a:solidFill>
                <a:latin typeface="Inter" pitchFamily="34" charset="0"/>
                <a:ea typeface="Inter" pitchFamily="34" charset="-122"/>
                <a:cs typeface="Inter" pitchFamily="34" charset="-120"/>
              </a:rPr>
              <a:t>END-TO-END WORKFLOW</a:t>
            </a:r>
            <a:endParaRPr lang="en-US" sz="850" dirty="0"/>
          </a:p>
        </p:txBody>
      </p:sp>
      <p:sp>
        <p:nvSpPr>
          <p:cNvPr id="10" name="Text 8"/>
          <p:cNvSpPr/>
          <p:nvPr/>
        </p:nvSpPr>
        <p:spPr>
          <a:xfrm>
            <a:off x="411480" y="2395728"/>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ASK  →  DIAGNOSE</a:t>
            </a:r>
            <a:endParaRPr lang="en-US" sz="900" dirty="0"/>
          </a:p>
        </p:txBody>
      </p:sp>
      <p:sp>
        <p:nvSpPr>
          <p:cNvPr id="11" name="Shape 9"/>
          <p:cNvSpPr/>
          <p:nvPr/>
        </p:nvSpPr>
        <p:spPr>
          <a:xfrm>
            <a:off x="411480" y="2569464"/>
            <a:ext cx="2640330" cy="715503"/>
          </a:xfrm>
          <a:prstGeom prst="roundRect">
            <a:avLst>
              <a:gd name="adj" fmla="val 8946"/>
            </a:avLst>
          </a:prstGeom>
          <a:solidFill>
            <a:srgbClr val="FEF3C7"/>
          </a:solidFill>
          <a:ln w="19050">
            <a:solidFill>
              <a:srgbClr val="D97706"/>
            </a:solidFill>
            <a:prstDash val="solid"/>
          </a:ln>
        </p:spPr>
      </p:sp>
      <p:sp>
        <p:nvSpPr>
          <p:cNvPr id="12" name="Text 10"/>
          <p:cNvSpPr/>
          <p:nvPr/>
        </p:nvSpPr>
        <p:spPr>
          <a:xfrm>
            <a:off x="466344" y="2633859"/>
            <a:ext cx="2530602" cy="300511"/>
          </a:xfrm>
          <a:prstGeom prst="rect">
            <a:avLst/>
          </a:prstGeom>
          <a:noFill/>
          <a:ln/>
        </p:spPr>
        <p:txBody>
          <a:bodyPr wrap="square" rtlCol="0" anchor="ctr"/>
          <a:lstStyle/>
          <a:p>
            <a:pPr algn="ctr" indent="0" marL="0">
              <a:buNone/>
            </a:pPr>
            <a:r>
              <a:rPr lang="en-US" sz="1050" b="1" dirty="0">
                <a:solidFill>
                  <a:srgbClr val="92400E"/>
                </a:solidFill>
                <a:latin typeface="Inter" pitchFamily="34" charset="0"/>
                <a:ea typeface="Inter" pitchFamily="34" charset="-122"/>
                <a:cs typeface="Inter" pitchFamily="34" charset="-120"/>
              </a:rPr>
              <a:t>👤 Question in chat</a:t>
            </a:r>
            <a:endParaRPr lang="en-US" sz="1050" dirty="0"/>
          </a:p>
        </p:txBody>
      </p:sp>
      <p:sp>
        <p:nvSpPr>
          <p:cNvPr id="13" name="Text 11"/>
          <p:cNvSpPr/>
          <p:nvPr/>
        </p:nvSpPr>
        <p:spPr>
          <a:xfrm>
            <a:off x="466344" y="2927216"/>
            <a:ext cx="2530602" cy="314821"/>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plain language</a:t>
            </a:r>
            <a:endParaRPr lang="en-US" sz="850" dirty="0"/>
          </a:p>
        </p:txBody>
      </p:sp>
      <p:sp>
        <p:nvSpPr>
          <p:cNvPr id="14" name="Text 12"/>
          <p:cNvSpPr/>
          <p:nvPr/>
        </p:nvSpPr>
        <p:spPr>
          <a:xfrm>
            <a:off x="3051810" y="279920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5" name="Shape 13"/>
          <p:cNvSpPr/>
          <p:nvPr/>
        </p:nvSpPr>
        <p:spPr>
          <a:xfrm>
            <a:off x="3326130" y="2569464"/>
            <a:ext cx="2640330" cy="715503"/>
          </a:xfrm>
          <a:prstGeom prst="roundRect">
            <a:avLst>
              <a:gd name="adj" fmla="val 8946"/>
            </a:avLst>
          </a:prstGeom>
          <a:solidFill>
            <a:srgbClr val="DBEAFE"/>
          </a:solidFill>
          <a:ln w="19050">
            <a:solidFill>
              <a:srgbClr val="2563EB"/>
            </a:solidFill>
            <a:prstDash val="solid"/>
          </a:ln>
        </p:spPr>
      </p:sp>
      <p:sp>
        <p:nvSpPr>
          <p:cNvPr id="16" name="Text 14"/>
          <p:cNvSpPr/>
          <p:nvPr/>
        </p:nvSpPr>
        <p:spPr>
          <a:xfrm>
            <a:off x="3380994" y="2633859"/>
            <a:ext cx="2530602" cy="300511"/>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Cluster context</a:t>
            </a:r>
            <a:endParaRPr lang="en-US" sz="1050" dirty="0"/>
          </a:p>
        </p:txBody>
      </p:sp>
      <p:sp>
        <p:nvSpPr>
          <p:cNvPr id="17" name="Text 15"/>
          <p:cNvSpPr/>
          <p:nvPr/>
        </p:nvSpPr>
        <p:spPr>
          <a:xfrm>
            <a:off x="3380994" y="2927216"/>
            <a:ext cx="2530602" cy="314821"/>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parallel API calls</a:t>
            </a:r>
            <a:endParaRPr lang="en-US" sz="850" dirty="0"/>
          </a:p>
        </p:txBody>
      </p:sp>
      <p:sp>
        <p:nvSpPr>
          <p:cNvPr id="18" name="Text 16"/>
          <p:cNvSpPr/>
          <p:nvPr/>
        </p:nvSpPr>
        <p:spPr>
          <a:xfrm>
            <a:off x="5966460" y="279920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9" name="Shape 17"/>
          <p:cNvSpPr/>
          <p:nvPr/>
        </p:nvSpPr>
        <p:spPr>
          <a:xfrm>
            <a:off x="6240780" y="2569464"/>
            <a:ext cx="2640330" cy="715503"/>
          </a:xfrm>
          <a:prstGeom prst="roundRect">
            <a:avLst>
              <a:gd name="adj" fmla="val 8946"/>
            </a:avLst>
          </a:prstGeom>
          <a:solidFill>
            <a:srgbClr val="EDE9FE"/>
          </a:solidFill>
          <a:ln w="19050">
            <a:solidFill>
              <a:srgbClr val="7C3AED"/>
            </a:solidFill>
            <a:prstDash val="solid"/>
          </a:ln>
        </p:spPr>
      </p:sp>
      <p:sp>
        <p:nvSpPr>
          <p:cNvPr id="20" name="Text 18"/>
          <p:cNvSpPr/>
          <p:nvPr/>
        </p:nvSpPr>
        <p:spPr>
          <a:xfrm>
            <a:off x="6295644" y="2633859"/>
            <a:ext cx="2530602" cy="300511"/>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Pod doctor diagnosis</a:t>
            </a:r>
            <a:endParaRPr lang="en-US" sz="1050" dirty="0"/>
          </a:p>
        </p:txBody>
      </p:sp>
      <p:sp>
        <p:nvSpPr>
          <p:cNvPr id="21" name="Text 19"/>
          <p:cNvSpPr/>
          <p:nvPr/>
        </p:nvSpPr>
        <p:spPr>
          <a:xfrm>
            <a:off x="6295644" y="2927216"/>
            <a:ext cx="2530602" cy="314821"/>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error pattern recognised</a:t>
            </a:r>
            <a:endParaRPr lang="en-US" sz="850" dirty="0"/>
          </a:p>
        </p:txBody>
      </p:sp>
      <p:sp>
        <p:nvSpPr>
          <p:cNvPr id="22" name="Text 20"/>
          <p:cNvSpPr/>
          <p:nvPr/>
        </p:nvSpPr>
        <p:spPr>
          <a:xfrm>
            <a:off x="8881110" y="279920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3" name="Shape 21"/>
          <p:cNvSpPr/>
          <p:nvPr/>
        </p:nvSpPr>
        <p:spPr>
          <a:xfrm>
            <a:off x="9155430" y="2569464"/>
            <a:ext cx="2640330" cy="715503"/>
          </a:xfrm>
          <a:prstGeom prst="roundRect">
            <a:avLst>
              <a:gd name="adj" fmla="val 8946"/>
            </a:avLst>
          </a:prstGeom>
          <a:solidFill>
            <a:srgbClr val="EDE9FE"/>
          </a:solidFill>
          <a:ln w="19050">
            <a:solidFill>
              <a:srgbClr val="7C3AED"/>
            </a:solidFill>
            <a:prstDash val="solid"/>
          </a:ln>
        </p:spPr>
      </p:sp>
      <p:sp>
        <p:nvSpPr>
          <p:cNvPr id="24" name="Text 22"/>
          <p:cNvSpPr/>
          <p:nvPr/>
        </p:nvSpPr>
        <p:spPr>
          <a:xfrm>
            <a:off x="9210294" y="2633859"/>
            <a:ext cx="2530602" cy="300511"/>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Severity assessed</a:t>
            </a:r>
            <a:endParaRPr lang="en-US" sz="1050" dirty="0"/>
          </a:p>
        </p:txBody>
      </p:sp>
      <p:sp>
        <p:nvSpPr>
          <p:cNvPr id="25" name="Text 23"/>
          <p:cNvSpPr/>
          <p:nvPr/>
        </p:nvSpPr>
        <p:spPr>
          <a:xfrm>
            <a:off x="9210294" y="2927216"/>
            <a:ext cx="2530602" cy="314821"/>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impact and urgency</a:t>
            </a:r>
            <a:endParaRPr lang="en-US" sz="850" dirty="0"/>
          </a:p>
        </p:txBody>
      </p:sp>
      <p:sp>
        <p:nvSpPr>
          <p:cNvPr id="26" name="Text 24"/>
          <p:cNvSpPr/>
          <p:nvPr/>
        </p:nvSpPr>
        <p:spPr>
          <a:xfrm>
            <a:off x="411480" y="3403839"/>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PROPOSE  &amp;  VALIDATE</a:t>
            </a:r>
            <a:endParaRPr lang="en-US" sz="900" dirty="0"/>
          </a:p>
        </p:txBody>
      </p:sp>
      <p:sp>
        <p:nvSpPr>
          <p:cNvPr id="27" name="Shape 25"/>
          <p:cNvSpPr/>
          <p:nvPr/>
        </p:nvSpPr>
        <p:spPr>
          <a:xfrm>
            <a:off x="411480" y="3577575"/>
            <a:ext cx="3611880" cy="715503"/>
          </a:xfrm>
          <a:prstGeom prst="roundRect">
            <a:avLst>
              <a:gd name="adj" fmla="val 8946"/>
            </a:avLst>
          </a:prstGeom>
          <a:solidFill>
            <a:srgbClr val="DBEAFE"/>
          </a:solidFill>
          <a:ln w="19050">
            <a:solidFill>
              <a:srgbClr val="2563EB"/>
            </a:solidFill>
            <a:prstDash val="solid"/>
          </a:ln>
        </p:spPr>
      </p:sp>
      <p:sp>
        <p:nvSpPr>
          <p:cNvPr id="28" name="Text 26"/>
          <p:cNvSpPr/>
          <p:nvPr/>
        </p:nvSpPr>
        <p:spPr>
          <a:xfrm>
            <a:off x="466344" y="3641970"/>
            <a:ext cx="3502152" cy="300511"/>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Smart fix proposed</a:t>
            </a:r>
            <a:endParaRPr lang="en-US" sz="1050" dirty="0"/>
          </a:p>
        </p:txBody>
      </p:sp>
      <p:sp>
        <p:nvSpPr>
          <p:cNvPr id="29" name="Text 27"/>
          <p:cNvSpPr/>
          <p:nvPr/>
        </p:nvSpPr>
        <p:spPr>
          <a:xfrm>
            <a:off x="466344" y="3935327"/>
            <a:ext cx="3502152" cy="314821"/>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targeted, not generic</a:t>
            </a:r>
            <a:endParaRPr lang="en-US" sz="850" dirty="0"/>
          </a:p>
        </p:txBody>
      </p:sp>
      <p:sp>
        <p:nvSpPr>
          <p:cNvPr id="30" name="Text 28"/>
          <p:cNvSpPr/>
          <p:nvPr/>
        </p:nvSpPr>
        <p:spPr>
          <a:xfrm>
            <a:off x="4023360" y="3807311"/>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1" name="Shape 29"/>
          <p:cNvSpPr/>
          <p:nvPr/>
        </p:nvSpPr>
        <p:spPr>
          <a:xfrm>
            <a:off x="4297680" y="3577575"/>
            <a:ext cx="3611880" cy="715503"/>
          </a:xfrm>
          <a:prstGeom prst="roundRect">
            <a:avLst>
              <a:gd name="adj" fmla="val 8946"/>
            </a:avLst>
          </a:prstGeom>
          <a:solidFill>
            <a:srgbClr val="DBEAFE"/>
          </a:solidFill>
          <a:ln w="19050">
            <a:solidFill>
              <a:srgbClr val="2563EB"/>
            </a:solidFill>
            <a:prstDash val="solid"/>
          </a:ln>
        </p:spPr>
      </p:sp>
      <p:sp>
        <p:nvSpPr>
          <p:cNvPr id="32" name="Text 30"/>
          <p:cNvSpPr/>
          <p:nvPr/>
        </p:nvSpPr>
        <p:spPr>
          <a:xfrm>
            <a:off x="4352544" y="3641970"/>
            <a:ext cx="3502152" cy="300511"/>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ServiceNow INC created</a:t>
            </a:r>
            <a:endParaRPr lang="en-US" sz="1050" dirty="0"/>
          </a:p>
        </p:txBody>
      </p:sp>
      <p:sp>
        <p:nvSpPr>
          <p:cNvPr id="33" name="Text 31"/>
          <p:cNvSpPr/>
          <p:nvPr/>
        </p:nvSpPr>
        <p:spPr>
          <a:xfrm>
            <a:off x="4352544" y="3935327"/>
            <a:ext cx="3502152" cy="314821"/>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populated from the evidence</a:t>
            </a:r>
            <a:endParaRPr lang="en-US" sz="850" dirty="0"/>
          </a:p>
        </p:txBody>
      </p:sp>
      <p:sp>
        <p:nvSpPr>
          <p:cNvPr id="34" name="Text 32"/>
          <p:cNvSpPr/>
          <p:nvPr/>
        </p:nvSpPr>
        <p:spPr>
          <a:xfrm>
            <a:off x="7909560" y="3807311"/>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5" name="Shape 33"/>
          <p:cNvSpPr/>
          <p:nvPr/>
        </p:nvSpPr>
        <p:spPr>
          <a:xfrm>
            <a:off x="8183880" y="3577575"/>
            <a:ext cx="3611880" cy="715503"/>
          </a:xfrm>
          <a:prstGeom prst="roundRect">
            <a:avLst>
              <a:gd name="adj" fmla="val 8946"/>
            </a:avLst>
          </a:prstGeom>
          <a:solidFill>
            <a:srgbClr val="DBEAFE"/>
          </a:solidFill>
          <a:ln w="19050">
            <a:solidFill>
              <a:srgbClr val="2563EB"/>
            </a:solidFill>
            <a:prstDash val="solid"/>
          </a:ln>
        </p:spPr>
      </p:sp>
      <p:sp>
        <p:nvSpPr>
          <p:cNvPr id="36" name="Text 34"/>
          <p:cNvSpPr/>
          <p:nvPr/>
        </p:nvSpPr>
        <p:spPr>
          <a:xfrm>
            <a:off x="8238744" y="3641970"/>
            <a:ext cx="3502152" cy="300511"/>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Dry-run validation</a:t>
            </a:r>
            <a:endParaRPr lang="en-US" sz="1050" dirty="0"/>
          </a:p>
        </p:txBody>
      </p:sp>
      <p:sp>
        <p:nvSpPr>
          <p:cNvPr id="37" name="Text 35"/>
          <p:cNvSpPr/>
          <p:nvPr/>
        </p:nvSpPr>
        <p:spPr>
          <a:xfrm>
            <a:off x="8238744" y="3935327"/>
            <a:ext cx="3502152" cy="314821"/>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effect known before approval</a:t>
            </a:r>
            <a:endParaRPr lang="en-US" sz="850" dirty="0"/>
          </a:p>
        </p:txBody>
      </p:sp>
      <p:sp>
        <p:nvSpPr>
          <p:cNvPr id="38" name="Shape 36"/>
          <p:cNvSpPr/>
          <p:nvPr/>
        </p:nvSpPr>
        <p:spPr>
          <a:xfrm>
            <a:off x="2606040" y="4411950"/>
            <a:ext cx="6995160" cy="523539"/>
          </a:xfrm>
          <a:prstGeom prst="roundRect">
            <a:avLst>
              <a:gd name="adj" fmla="val 12226"/>
            </a:avLst>
          </a:prstGeom>
          <a:solidFill>
            <a:srgbClr val="D97706"/>
          </a:solidFill>
          <a:ln w="25400">
            <a:solidFill>
              <a:srgbClr val="92400E"/>
            </a:solidFill>
            <a:prstDash val="solid"/>
          </a:ln>
        </p:spPr>
      </p:sp>
      <p:sp>
        <p:nvSpPr>
          <p:cNvPr id="39" name="Text 37"/>
          <p:cNvSpPr/>
          <p:nvPr/>
        </p:nvSpPr>
        <p:spPr>
          <a:xfrm>
            <a:off x="2606040" y="4411950"/>
            <a:ext cx="6995160" cy="523539"/>
          </a:xfrm>
          <a:prstGeom prst="rect">
            <a:avLst/>
          </a:prstGeom>
          <a:noFill/>
          <a:ln/>
        </p:spPr>
        <p:txBody>
          <a:bodyPr wrap="square"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  FIX CARD IN AI CHAT — APPROVE OR REJECT  👤</a:t>
            </a:r>
            <a:endParaRPr lang="en-US" sz="1200" dirty="0"/>
          </a:p>
        </p:txBody>
      </p:sp>
      <p:sp>
        <p:nvSpPr>
          <p:cNvPr id="40" name="Text 38"/>
          <p:cNvSpPr/>
          <p:nvPr/>
        </p:nvSpPr>
        <p:spPr>
          <a:xfrm>
            <a:off x="411480" y="5054361"/>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APPLY  &amp;  PROVE</a:t>
            </a:r>
            <a:endParaRPr lang="en-US" sz="900" dirty="0"/>
          </a:p>
        </p:txBody>
      </p:sp>
      <p:sp>
        <p:nvSpPr>
          <p:cNvPr id="41" name="Shape 39"/>
          <p:cNvSpPr/>
          <p:nvPr/>
        </p:nvSpPr>
        <p:spPr>
          <a:xfrm>
            <a:off x="411480" y="5228097"/>
            <a:ext cx="3611880" cy="715503"/>
          </a:xfrm>
          <a:prstGeom prst="roundRect">
            <a:avLst>
              <a:gd name="adj" fmla="val 8946"/>
            </a:avLst>
          </a:prstGeom>
          <a:solidFill>
            <a:srgbClr val="DBEAFE"/>
          </a:solidFill>
          <a:ln w="19050">
            <a:solidFill>
              <a:srgbClr val="2563EB"/>
            </a:solidFill>
            <a:prstDash val="solid"/>
          </a:ln>
        </p:spPr>
      </p:sp>
      <p:sp>
        <p:nvSpPr>
          <p:cNvPr id="42" name="Text 40"/>
          <p:cNvSpPr/>
          <p:nvPr/>
        </p:nvSpPr>
        <p:spPr>
          <a:xfrm>
            <a:off x="466344" y="5292492"/>
            <a:ext cx="3502152" cy="300511"/>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Fix applied</a:t>
            </a:r>
            <a:endParaRPr lang="en-US" sz="1050" dirty="0"/>
          </a:p>
        </p:txBody>
      </p:sp>
      <p:sp>
        <p:nvSpPr>
          <p:cNvPr id="43" name="Text 41"/>
          <p:cNvSpPr/>
          <p:nvPr/>
        </p:nvSpPr>
        <p:spPr>
          <a:xfrm>
            <a:off x="466344" y="5585848"/>
            <a:ext cx="3502152" cy="314821"/>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before / after metrics captured</a:t>
            </a:r>
            <a:endParaRPr lang="en-US" sz="850" dirty="0"/>
          </a:p>
        </p:txBody>
      </p:sp>
      <p:sp>
        <p:nvSpPr>
          <p:cNvPr id="44" name="Text 42"/>
          <p:cNvSpPr/>
          <p:nvPr/>
        </p:nvSpPr>
        <p:spPr>
          <a:xfrm>
            <a:off x="4023360" y="545783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5" name="Shape 43"/>
          <p:cNvSpPr/>
          <p:nvPr/>
        </p:nvSpPr>
        <p:spPr>
          <a:xfrm>
            <a:off x="4297680" y="5228097"/>
            <a:ext cx="3611880" cy="715503"/>
          </a:xfrm>
          <a:prstGeom prst="roundRect">
            <a:avLst>
              <a:gd name="adj" fmla="val 8946"/>
            </a:avLst>
          </a:prstGeom>
          <a:solidFill>
            <a:srgbClr val="D1FAE5"/>
          </a:solidFill>
          <a:ln w="19050">
            <a:solidFill>
              <a:srgbClr val="059669"/>
            </a:solidFill>
            <a:prstDash val="solid"/>
          </a:ln>
        </p:spPr>
      </p:sp>
      <p:sp>
        <p:nvSpPr>
          <p:cNvPr id="46" name="Text 44"/>
          <p:cNvSpPr/>
          <p:nvPr/>
        </p:nvSpPr>
        <p:spPr>
          <a:xfrm>
            <a:off x="4352544" y="5292492"/>
            <a:ext cx="3502152" cy="300511"/>
          </a:xfrm>
          <a:prstGeom prst="rect">
            <a:avLst/>
          </a:prstGeom>
          <a:noFill/>
          <a:ln/>
        </p:spPr>
        <p:txBody>
          <a:bodyPr wrap="square" rtlCol="0" anchor="ctr"/>
          <a:lstStyle/>
          <a:p>
            <a:pPr algn="ctr" indent="0" marL="0">
              <a:buNone/>
            </a:pPr>
            <a:r>
              <a:rPr lang="en-US" sz="1050" b="1" dirty="0">
                <a:solidFill>
                  <a:srgbClr val="065F46"/>
                </a:solidFill>
                <a:latin typeface="Inter" pitchFamily="34" charset="0"/>
                <a:ea typeface="Inter" pitchFamily="34" charset="-122"/>
                <a:cs typeface="Inter" pitchFamily="34" charset="-120"/>
              </a:rPr>
              <a:t>✅ Recovery verified</a:t>
            </a:r>
            <a:endParaRPr lang="en-US" sz="1050" dirty="0"/>
          </a:p>
        </p:txBody>
      </p:sp>
      <p:sp>
        <p:nvSpPr>
          <p:cNvPr id="47" name="Text 45"/>
          <p:cNvSpPr/>
          <p:nvPr/>
        </p:nvSpPr>
        <p:spPr>
          <a:xfrm>
            <a:off x="4352544" y="5585848"/>
            <a:ext cx="3502152" cy="314821"/>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the fix actually held</a:t>
            </a:r>
            <a:endParaRPr lang="en-US" sz="850" dirty="0"/>
          </a:p>
        </p:txBody>
      </p:sp>
      <p:sp>
        <p:nvSpPr>
          <p:cNvPr id="48" name="Text 46"/>
          <p:cNvSpPr/>
          <p:nvPr/>
        </p:nvSpPr>
        <p:spPr>
          <a:xfrm>
            <a:off x="7909560" y="545783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9" name="Shape 47"/>
          <p:cNvSpPr/>
          <p:nvPr/>
        </p:nvSpPr>
        <p:spPr>
          <a:xfrm>
            <a:off x="8183880" y="5228097"/>
            <a:ext cx="3611880" cy="715503"/>
          </a:xfrm>
          <a:prstGeom prst="roundRect">
            <a:avLst>
              <a:gd name="adj" fmla="val 8946"/>
            </a:avLst>
          </a:prstGeom>
          <a:solidFill>
            <a:srgbClr val="D1FAE5"/>
          </a:solidFill>
          <a:ln w="19050">
            <a:solidFill>
              <a:srgbClr val="059669"/>
            </a:solidFill>
            <a:prstDash val="solid"/>
          </a:ln>
        </p:spPr>
      </p:sp>
      <p:sp>
        <p:nvSpPr>
          <p:cNvPr id="50" name="Text 48"/>
          <p:cNvSpPr/>
          <p:nvPr/>
        </p:nvSpPr>
        <p:spPr>
          <a:xfrm>
            <a:off x="8238744" y="5292492"/>
            <a:ext cx="3502152" cy="300511"/>
          </a:xfrm>
          <a:prstGeom prst="rect">
            <a:avLst/>
          </a:prstGeom>
          <a:noFill/>
          <a:ln/>
        </p:spPr>
        <p:txBody>
          <a:bodyPr wrap="square" rtlCol="0" anchor="ctr"/>
          <a:lstStyle/>
          <a:p>
            <a:pPr algn="ctr" indent="0" marL="0">
              <a:buNone/>
            </a:pPr>
            <a:r>
              <a:rPr lang="en-US" sz="1050" b="1" dirty="0">
                <a:solidFill>
                  <a:srgbClr val="065F46"/>
                </a:solidFill>
                <a:latin typeface="Inter" pitchFamily="34" charset="0"/>
                <a:ea typeface="Inter" pitchFamily="34" charset="-122"/>
                <a:cs typeface="Inter" pitchFamily="34" charset="-120"/>
              </a:rPr>
              <a:t>✅ Incident auto-closed</a:t>
            </a:r>
            <a:endParaRPr lang="en-US" sz="1050" dirty="0"/>
          </a:p>
        </p:txBody>
      </p:sp>
      <p:sp>
        <p:nvSpPr>
          <p:cNvPr id="51" name="Text 49"/>
          <p:cNvSpPr/>
          <p:nvPr/>
        </p:nvSpPr>
        <p:spPr>
          <a:xfrm>
            <a:off x="8238744" y="5585848"/>
            <a:ext cx="3502152" cy="314821"/>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outcome written back</a:t>
            </a:r>
            <a:endParaRPr lang="en-US" sz="850" dirty="0"/>
          </a:p>
        </p:txBody>
      </p:sp>
      <p:sp>
        <p:nvSpPr>
          <p:cNvPr id="52" name="Shape 50"/>
          <p:cNvSpPr/>
          <p:nvPr/>
        </p:nvSpPr>
        <p:spPr>
          <a:xfrm>
            <a:off x="411480" y="6089904"/>
            <a:ext cx="173736" cy="173736"/>
          </a:xfrm>
          <a:prstGeom prst="roundRect">
            <a:avLst>
              <a:gd name="adj" fmla="val 15789"/>
            </a:avLst>
          </a:prstGeom>
          <a:solidFill>
            <a:srgbClr val="EDE9FE"/>
          </a:solidFill>
          <a:ln w="12700">
            <a:solidFill>
              <a:srgbClr val="7C3AED"/>
            </a:solidFill>
            <a:prstDash val="solid"/>
          </a:ln>
        </p:spPr>
      </p:sp>
      <p:sp>
        <p:nvSpPr>
          <p:cNvPr id="53" name="Text 51"/>
          <p:cNvSpPr/>
          <p:nvPr/>
        </p:nvSpPr>
        <p:spPr>
          <a:xfrm>
            <a:off x="621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AI</a:t>
            </a:r>
            <a:endParaRPr lang="en-US" sz="850" dirty="0"/>
          </a:p>
        </p:txBody>
      </p:sp>
      <p:sp>
        <p:nvSpPr>
          <p:cNvPr id="54" name="Shape 52"/>
          <p:cNvSpPr/>
          <p:nvPr/>
        </p:nvSpPr>
        <p:spPr>
          <a:xfrm>
            <a:off x="1554480" y="6089904"/>
            <a:ext cx="173736" cy="173736"/>
          </a:xfrm>
          <a:prstGeom prst="roundRect">
            <a:avLst>
              <a:gd name="adj" fmla="val 15789"/>
            </a:avLst>
          </a:prstGeom>
          <a:solidFill>
            <a:srgbClr val="DBEAFE"/>
          </a:solidFill>
          <a:ln w="12700">
            <a:solidFill>
              <a:srgbClr val="2563EB"/>
            </a:solidFill>
            <a:prstDash val="solid"/>
          </a:ln>
        </p:spPr>
      </p:sp>
      <p:sp>
        <p:nvSpPr>
          <p:cNvPr id="55" name="Text 53"/>
          <p:cNvSpPr/>
          <p:nvPr/>
        </p:nvSpPr>
        <p:spPr>
          <a:xfrm>
            <a:off x="1764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Automatic</a:t>
            </a:r>
            <a:endParaRPr lang="en-US" sz="850" dirty="0"/>
          </a:p>
        </p:txBody>
      </p:sp>
      <p:sp>
        <p:nvSpPr>
          <p:cNvPr id="56" name="Shape 54"/>
          <p:cNvSpPr/>
          <p:nvPr/>
        </p:nvSpPr>
        <p:spPr>
          <a:xfrm>
            <a:off x="2697480" y="6089904"/>
            <a:ext cx="173736" cy="173736"/>
          </a:xfrm>
          <a:prstGeom prst="roundRect">
            <a:avLst>
              <a:gd name="adj" fmla="val 15789"/>
            </a:avLst>
          </a:prstGeom>
          <a:solidFill>
            <a:srgbClr val="FEF3C7"/>
          </a:solidFill>
          <a:ln w="12700">
            <a:solidFill>
              <a:srgbClr val="D97706"/>
            </a:solidFill>
            <a:prstDash val="solid"/>
          </a:ln>
        </p:spPr>
      </p:sp>
      <p:sp>
        <p:nvSpPr>
          <p:cNvPr id="57" name="Text 55"/>
          <p:cNvSpPr/>
          <p:nvPr/>
        </p:nvSpPr>
        <p:spPr>
          <a:xfrm>
            <a:off x="2907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Human</a:t>
            </a:r>
            <a:endParaRPr lang="en-US" sz="850" dirty="0"/>
          </a:p>
        </p:txBody>
      </p:sp>
      <p:sp>
        <p:nvSpPr>
          <p:cNvPr id="58" name="Shape 56"/>
          <p:cNvSpPr/>
          <p:nvPr/>
        </p:nvSpPr>
        <p:spPr>
          <a:xfrm>
            <a:off x="3840480" y="6089904"/>
            <a:ext cx="173736" cy="173736"/>
          </a:xfrm>
          <a:prstGeom prst="roundRect">
            <a:avLst>
              <a:gd name="adj" fmla="val 15789"/>
            </a:avLst>
          </a:prstGeom>
          <a:solidFill>
            <a:srgbClr val="D1FAE5"/>
          </a:solidFill>
          <a:ln w="12700">
            <a:solidFill>
              <a:srgbClr val="059669"/>
            </a:solidFill>
            <a:prstDash val="solid"/>
          </a:ln>
        </p:spPr>
      </p:sp>
      <p:sp>
        <p:nvSpPr>
          <p:cNvPr id="59" name="Text 57"/>
          <p:cNvSpPr/>
          <p:nvPr/>
        </p:nvSpPr>
        <p:spPr>
          <a:xfrm>
            <a:off x="4050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Verified</a:t>
            </a:r>
            <a:endParaRPr lang="en-US" sz="850" dirty="0"/>
          </a:p>
        </p:txBody>
      </p:sp>
      <p:sp>
        <p:nvSpPr>
          <p:cNvPr id="60" name="Text 58"/>
          <p:cNvSpPr/>
          <p:nvPr/>
        </p:nvSpPr>
        <p:spPr>
          <a:xfrm>
            <a:off x="5120640" y="6025896"/>
            <a:ext cx="6675120" cy="292608"/>
          </a:xfrm>
          <a:prstGeom prst="rect">
            <a:avLst/>
          </a:prstGeom>
          <a:noFill/>
          <a:ln/>
        </p:spPr>
        <p:txBody>
          <a:bodyPr wrap="square" rtlCol="0" anchor="ctr"/>
          <a:lstStyle/>
          <a:p>
            <a:pPr algn="r" indent="0" marL="0">
              <a:buNone/>
            </a:pPr>
            <a:r>
              <a:rPr lang="en-US" sz="1050" b="1" dirty="0">
                <a:solidFill>
                  <a:srgbClr val="2563EB"/>
                </a:solidFill>
                <a:latin typeface="Inter" pitchFamily="34" charset="0"/>
                <a:ea typeface="Inter" pitchFamily="34" charset="-122"/>
                <a:cs typeface="Inter" pitchFamily="34" charset="-120"/>
              </a:rPr>
              <a:t>Human-initiated · UC-05 is the same pipeline, agent-initiated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1060704"/>
          </a:xfrm>
          <a:prstGeom prst="rect">
            <a:avLst/>
          </a:prstGeom>
          <a:solidFill>
            <a:srgbClr val="0F172A"/>
          </a:solidFill>
          <a:ln/>
        </p:spPr>
      </p:sp>
      <p:sp>
        <p:nvSpPr>
          <p:cNvPr id="3" name="Text 1"/>
          <p:cNvSpPr/>
          <p:nvPr/>
        </p:nvSpPr>
        <p:spPr>
          <a:xfrm>
            <a:off x="411480" y="118872"/>
            <a:ext cx="4572000" cy="219456"/>
          </a:xfrm>
          <a:prstGeom prst="rect">
            <a:avLst/>
          </a:prstGeom>
          <a:noFill/>
          <a:ln/>
        </p:spPr>
        <p:txBody>
          <a:bodyPr wrap="square" rtlCol="0" anchor="ctr"/>
          <a:lstStyle/>
          <a:p>
            <a:pPr indent="0" marL="0">
              <a:buNone/>
            </a:pPr>
            <a:r>
              <a:rPr lang="en-US" sz="1000" b="1" spc="220" kern="0" dirty="0">
                <a:solidFill>
                  <a:srgbClr val="0891B2"/>
                </a:solidFill>
                <a:latin typeface="Inter" pitchFamily="34" charset="0"/>
                <a:ea typeface="Inter" pitchFamily="34" charset="-122"/>
                <a:cs typeface="Inter" pitchFamily="34" charset="-120"/>
              </a:rPr>
              <a:t>TCS AGENTIC AI</a:t>
            </a:r>
            <a:endParaRPr lang="en-US" sz="1000" dirty="0"/>
          </a:p>
        </p:txBody>
      </p:sp>
      <p:sp>
        <p:nvSpPr>
          <p:cNvPr id="4" name="Text 2"/>
          <p:cNvSpPr/>
          <p:nvPr/>
        </p:nvSpPr>
        <p:spPr>
          <a:xfrm>
            <a:off x="411480" y="329184"/>
            <a:ext cx="9692640" cy="402336"/>
          </a:xfrm>
          <a:prstGeom prst="rect">
            <a:avLst/>
          </a:prstGeom>
          <a:noFill/>
          <a:ln/>
        </p:spPr>
        <p:txBody>
          <a:bodyPr wrap="square" rtlCol="0" anchor="ctr"/>
          <a:lstStyle/>
          <a:p>
            <a:pPr indent="0" marL="0">
              <a:buNone/>
            </a:pPr>
            <a:r>
              <a:rPr lang="en-US" sz="2300" b="1" dirty="0">
                <a:solidFill>
                  <a:srgbClr val="FFFFFF"/>
                </a:solidFill>
                <a:latin typeface="Inter" pitchFamily="34" charset="0"/>
                <a:ea typeface="Inter" pitchFamily="34" charset="-122"/>
                <a:cs typeface="Inter" pitchFamily="34" charset="-120"/>
              </a:rPr>
              <a:t>Cluster Upgrade Agent</a:t>
            </a:r>
            <a:endParaRPr lang="en-US" sz="2300" dirty="0"/>
          </a:p>
        </p:txBody>
      </p:sp>
      <p:sp>
        <p:nvSpPr>
          <p:cNvPr id="5" name="Text 3"/>
          <p:cNvSpPr/>
          <p:nvPr/>
        </p:nvSpPr>
        <p:spPr>
          <a:xfrm>
            <a:off x="411480" y="749808"/>
            <a:ext cx="9692640" cy="256032"/>
          </a:xfrm>
          <a:prstGeom prst="rect">
            <a:avLst/>
          </a:prstGeom>
          <a:noFill/>
          <a:ln/>
        </p:spPr>
        <p:txBody>
          <a:bodyPr wrap="square" rtlCol="0" anchor="ctr"/>
          <a:lstStyle/>
          <a:p>
            <a:pPr indent="0" marL="0">
              <a:buNone/>
            </a:pPr>
            <a:r>
              <a:rPr lang="en-US" sz="1050" i="1" dirty="0">
                <a:solidFill>
                  <a:srgbClr val="94A3B8"/>
                </a:solidFill>
                <a:latin typeface="Inter" pitchFamily="34" charset="0"/>
                <a:ea typeface="Inter" pitchFamily="34" charset="-122"/>
                <a:cs typeface="Inter" pitchFamily="34" charset="-120"/>
              </a:rPr>
              <a:t>End-to-end cluster upgrade automation — pre-assessment through post-verification, with ITSM in the loop</a:t>
            </a:r>
            <a:endParaRPr lang="en-US" sz="1050" dirty="0"/>
          </a:p>
        </p:txBody>
      </p:sp>
      <p:sp>
        <p:nvSpPr>
          <p:cNvPr id="6" name="Text 4"/>
          <p:cNvSpPr/>
          <p:nvPr/>
        </p:nvSpPr>
        <p:spPr>
          <a:xfrm>
            <a:off x="10561320" y="310896"/>
            <a:ext cx="1234440" cy="365760"/>
          </a:xfrm>
          <a:prstGeom prst="rect">
            <a:avLst>
              <a:gd name="adj" fmla="val 12500"/>
            </a:avLst>
          </a:prstGeom>
          <a:solidFill>
            <a:srgbClr val="2563EB"/>
          </a:solid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UC-02</a:t>
            </a:r>
            <a:endParaRPr lang="en-US" sz="1500" dirty="0"/>
          </a:p>
        </p:txBody>
      </p:sp>
      <p:sp>
        <p:nvSpPr>
          <p:cNvPr id="7" name="Text 5"/>
          <p:cNvSpPr/>
          <p:nvPr/>
        </p:nvSpPr>
        <p:spPr>
          <a:xfrm>
            <a:off x="411480" y="1188720"/>
            <a:ext cx="3657600" cy="182880"/>
          </a:xfrm>
          <a:prstGeom prst="rect">
            <a:avLst/>
          </a:prstGeom>
          <a:noFill/>
          <a:ln/>
        </p:spPr>
        <p:txBody>
          <a:bodyPr wrap="square" rtlCol="0" anchor="ctr"/>
          <a:lstStyle/>
          <a:p>
            <a:pPr indent="0" marL="0">
              <a:buNone/>
            </a:pPr>
            <a:r>
              <a:rPr lang="en-US" sz="850" b="1" spc="140" kern="0" dirty="0">
                <a:solidFill>
                  <a:srgbClr val="64748B"/>
                </a:solidFill>
                <a:latin typeface="Inter" pitchFamily="34" charset="0"/>
                <a:ea typeface="Inter" pitchFamily="34" charset="-122"/>
                <a:cs typeface="Inter" pitchFamily="34" charset="-120"/>
              </a:rPr>
              <a:t>USE CASE DESCRIPTION</a:t>
            </a:r>
            <a:endParaRPr lang="en-US" sz="850" dirty="0"/>
          </a:p>
        </p:txBody>
      </p:sp>
      <p:sp>
        <p:nvSpPr>
          <p:cNvPr id="8" name="Text 6"/>
          <p:cNvSpPr/>
          <p:nvPr/>
        </p:nvSpPr>
        <p:spPr>
          <a:xfrm>
            <a:off x="411480" y="1389888"/>
            <a:ext cx="11384280" cy="914400"/>
          </a:xfrm>
          <a:prstGeom prst="rect">
            <a:avLst/>
          </a:prstGeom>
          <a:noFill/>
          <a:ln/>
        </p:spPr>
        <p:txBody>
          <a:bodyPr wrap="square" rtlCol="0" anchor="t"/>
          <a:lstStyle/>
          <a:p>
            <a:pPr indent="0" marL="0">
              <a:lnSpc>
                <a:spcPct val="120000"/>
              </a:lnSpc>
              <a:buNone/>
            </a:pPr>
            <a:r>
              <a:rPr lang="en-US" sz="1200" dirty="0">
                <a:solidFill>
                  <a:srgbClr val="1E293B"/>
                </a:solidFill>
                <a:latin typeface="Inter" pitchFamily="34" charset="0"/>
                <a:ea typeface="Inter" pitchFamily="34" charset="-122"/>
                <a:cs typeface="Inter" pitchFamily="34" charset="-120"/>
              </a:rPr>
              <a:t>OpenShift cluster upgrades orchestrated end to end: a pre-assessment against the live cluster, the change record raised automatically, execution with real-time observability, and verification afterwards — instead of a human tracking a long-running operation across consoles and spreadsheets.</a:t>
            </a:r>
            <a:endParaRPr lang="en-US" sz="1200" dirty="0"/>
          </a:p>
        </p:txBody>
      </p:sp>
      <p:sp>
        <p:nvSpPr>
          <p:cNvPr id="9" name="Text 7"/>
          <p:cNvSpPr/>
          <p:nvPr/>
        </p:nvSpPr>
        <p:spPr>
          <a:xfrm>
            <a:off x="411480" y="2176272"/>
            <a:ext cx="3657600" cy="201168"/>
          </a:xfrm>
          <a:prstGeom prst="rect">
            <a:avLst/>
          </a:prstGeom>
          <a:noFill/>
          <a:ln/>
        </p:spPr>
        <p:txBody>
          <a:bodyPr wrap="square" rtlCol="0" anchor="ctr"/>
          <a:lstStyle/>
          <a:p>
            <a:pPr indent="0" marL="0">
              <a:buNone/>
            </a:pPr>
            <a:r>
              <a:rPr lang="en-US" sz="850" b="1" spc="140" kern="0" dirty="0">
                <a:solidFill>
                  <a:srgbClr val="2563EB"/>
                </a:solidFill>
                <a:latin typeface="Inter" pitchFamily="34" charset="0"/>
                <a:ea typeface="Inter" pitchFamily="34" charset="-122"/>
                <a:cs typeface="Inter" pitchFamily="34" charset="-120"/>
              </a:rPr>
              <a:t>END-TO-END WORKFLOW</a:t>
            </a:r>
            <a:endParaRPr lang="en-US" sz="850" dirty="0"/>
          </a:p>
        </p:txBody>
      </p:sp>
      <p:sp>
        <p:nvSpPr>
          <p:cNvPr id="10" name="Text 8"/>
          <p:cNvSpPr/>
          <p:nvPr/>
        </p:nvSpPr>
        <p:spPr>
          <a:xfrm>
            <a:off x="411480" y="2395728"/>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ASSESS</a:t>
            </a:r>
            <a:endParaRPr lang="en-US" sz="900" dirty="0"/>
          </a:p>
        </p:txBody>
      </p:sp>
      <p:sp>
        <p:nvSpPr>
          <p:cNvPr id="11" name="Shape 9"/>
          <p:cNvSpPr/>
          <p:nvPr/>
        </p:nvSpPr>
        <p:spPr>
          <a:xfrm>
            <a:off x="411480" y="2569464"/>
            <a:ext cx="2640330" cy="749808"/>
          </a:xfrm>
          <a:prstGeom prst="roundRect">
            <a:avLst>
              <a:gd name="adj" fmla="val 8537"/>
            </a:avLst>
          </a:prstGeom>
          <a:solidFill>
            <a:srgbClr val="DBEAFE"/>
          </a:solidFill>
          <a:ln w="19050">
            <a:solidFill>
              <a:srgbClr val="2563EB"/>
            </a:solidFill>
            <a:prstDash val="solid"/>
          </a:ln>
        </p:spPr>
      </p:sp>
      <p:sp>
        <p:nvSpPr>
          <p:cNvPr id="12" name="Text 10"/>
          <p:cNvSpPr/>
          <p:nvPr/>
        </p:nvSpPr>
        <p:spPr>
          <a:xfrm>
            <a:off x="466344" y="2636947"/>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Pre-assessment</a:t>
            </a:r>
            <a:endParaRPr lang="en-US" sz="1050" dirty="0"/>
          </a:p>
        </p:txBody>
      </p:sp>
      <p:sp>
        <p:nvSpPr>
          <p:cNvPr id="13" name="Text 11"/>
          <p:cNvSpPr/>
          <p:nvPr/>
        </p:nvSpPr>
        <p:spPr>
          <a:xfrm>
            <a:off x="466344" y="2944368"/>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operators · PDBs · capacity</a:t>
            </a:r>
            <a:endParaRPr lang="en-US" sz="850" dirty="0"/>
          </a:p>
        </p:txBody>
      </p:sp>
      <p:sp>
        <p:nvSpPr>
          <p:cNvPr id="14" name="Text 12"/>
          <p:cNvSpPr/>
          <p:nvPr/>
        </p:nvSpPr>
        <p:spPr>
          <a:xfrm>
            <a:off x="305181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5" name="Shape 13"/>
          <p:cNvSpPr/>
          <p:nvPr/>
        </p:nvSpPr>
        <p:spPr>
          <a:xfrm>
            <a:off x="3326130" y="2569464"/>
            <a:ext cx="2640330" cy="749808"/>
          </a:xfrm>
          <a:prstGeom prst="roundRect">
            <a:avLst>
              <a:gd name="adj" fmla="val 8537"/>
            </a:avLst>
          </a:prstGeom>
          <a:solidFill>
            <a:srgbClr val="DBEAFE"/>
          </a:solidFill>
          <a:ln w="19050">
            <a:solidFill>
              <a:srgbClr val="2563EB"/>
            </a:solidFill>
            <a:prstDash val="solid"/>
          </a:ln>
        </p:spPr>
      </p:sp>
      <p:sp>
        <p:nvSpPr>
          <p:cNvPr id="16" name="Text 14"/>
          <p:cNvSpPr/>
          <p:nvPr/>
        </p:nvSpPr>
        <p:spPr>
          <a:xfrm>
            <a:off x="3380994" y="2636947"/>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Deprecated APIs</a:t>
            </a:r>
            <a:endParaRPr lang="en-US" sz="1050" dirty="0"/>
          </a:p>
        </p:txBody>
      </p:sp>
      <p:sp>
        <p:nvSpPr>
          <p:cNvPr id="17" name="Text 15"/>
          <p:cNvSpPr/>
          <p:nvPr/>
        </p:nvSpPr>
        <p:spPr>
          <a:xfrm>
            <a:off x="3380994" y="2944368"/>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what breaks at the target version</a:t>
            </a:r>
            <a:endParaRPr lang="en-US" sz="850" dirty="0"/>
          </a:p>
        </p:txBody>
      </p:sp>
      <p:sp>
        <p:nvSpPr>
          <p:cNvPr id="18" name="Text 16"/>
          <p:cNvSpPr/>
          <p:nvPr/>
        </p:nvSpPr>
        <p:spPr>
          <a:xfrm>
            <a:off x="596646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9" name="Shape 17"/>
          <p:cNvSpPr/>
          <p:nvPr/>
        </p:nvSpPr>
        <p:spPr>
          <a:xfrm>
            <a:off x="6240780" y="2569464"/>
            <a:ext cx="2640330" cy="749808"/>
          </a:xfrm>
          <a:prstGeom prst="roundRect">
            <a:avLst>
              <a:gd name="adj" fmla="val 8537"/>
            </a:avLst>
          </a:prstGeom>
          <a:solidFill>
            <a:srgbClr val="EDE9FE"/>
          </a:solidFill>
          <a:ln w="19050">
            <a:solidFill>
              <a:srgbClr val="7C3AED"/>
            </a:solidFill>
            <a:prstDash val="solid"/>
          </a:ln>
        </p:spPr>
      </p:sp>
      <p:sp>
        <p:nvSpPr>
          <p:cNvPr id="20" name="Text 18"/>
          <p:cNvSpPr/>
          <p:nvPr/>
        </p:nvSpPr>
        <p:spPr>
          <a:xfrm>
            <a:off x="6295644" y="2636947"/>
            <a:ext cx="2530602" cy="314919"/>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Risk report</a:t>
            </a:r>
            <a:endParaRPr lang="en-US" sz="1050" dirty="0"/>
          </a:p>
        </p:txBody>
      </p:sp>
      <p:sp>
        <p:nvSpPr>
          <p:cNvPr id="21" name="Text 19"/>
          <p:cNvSpPr/>
          <p:nvPr/>
        </p:nvSpPr>
        <p:spPr>
          <a:xfrm>
            <a:off x="6295644" y="2944368"/>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what will block, and why</a:t>
            </a:r>
            <a:endParaRPr lang="en-US" sz="850" dirty="0"/>
          </a:p>
        </p:txBody>
      </p:sp>
      <p:sp>
        <p:nvSpPr>
          <p:cNvPr id="22" name="Text 20"/>
          <p:cNvSpPr/>
          <p:nvPr/>
        </p:nvSpPr>
        <p:spPr>
          <a:xfrm>
            <a:off x="888111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3" name="Shape 21"/>
          <p:cNvSpPr/>
          <p:nvPr/>
        </p:nvSpPr>
        <p:spPr>
          <a:xfrm>
            <a:off x="9155430" y="2569464"/>
            <a:ext cx="2640330" cy="749808"/>
          </a:xfrm>
          <a:prstGeom prst="roundRect">
            <a:avLst>
              <a:gd name="adj" fmla="val 8537"/>
            </a:avLst>
          </a:prstGeom>
          <a:solidFill>
            <a:srgbClr val="DBEAFE"/>
          </a:solidFill>
          <a:ln w="19050">
            <a:solidFill>
              <a:srgbClr val="2563EB"/>
            </a:solidFill>
            <a:prstDash val="solid"/>
          </a:ln>
        </p:spPr>
      </p:sp>
      <p:sp>
        <p:nvSpPr>
          <p:cNvPr id="24" name="Text 22"/>
          <p:cNvSpPr/>
          <p:nvPr/>
        </p:nvSpPr>
        <p:spPr>
          <a:xfrm>
            <a:off x="9210294" y="2636947"/>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Change record</a:t>
            </a:r>
            <a:endParaRPr lang="en-US" sz="1050" dirty="0"/>
          </a:p>
        </p:txBody>
      </p:sp>
      <p:sp>
        <p:nvSpPr>
          <p:cNvPr id="25" name="Text 23"/>
          <p:cNvSpPr/>
          <p:nvPr/>
        </p:nvSpPr>
        <p:spPr>
          <a:xfrm>
            <a:off x="9210294" y="2944368"/>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plans attached</a:t>
            </a:r>
            <a:endParaRPr lang="en-US" sz="850" dirty="0"/>
          </a:p>
        </p:txBody>
      </p:sp>
      <p:sp>
        <p:nvSpPr>
          <p:cNvPr id="26" name="Shape 24"/>
          <p:cNvSpPr/>
          <p:nvPr/>
        </p:nvSpPr>
        <p:spPr>
          <a:xfrm>
            <a:off x="2606040" y="3438144"/>
            <a:ext cx="6995160" cy="548640"/>
          </a:xfrm>
          <a:prstGeom prst="roundRect">
            <a:avLst>
              <a:gd name="adj" fmla="val 11667"/>
            </a:avLst>
          </a:prstGeom>
          <a:solidFill>
            <a:srgbClr val="D97706"/>
          </a:solidFill>
          <a:ln w="25400">
            <a:solidFill>
              <a:srgbClr val="92400E"/>
            </a:solidFill>
            <a:prstDash val="solid"/>
          </a:ln>
        </p:spPr>
      </p:sp>
      <p:sp>
        <p:nvSpPr>
          <p:cNvPr id="27" name="Text 25"/>
          <p:cNvSpPr/>
          <p:nvPr/>
        </p:nvSpPr>
        <p:spPr>
          <a:xfrm>
            <a:off x="2606040" y="3438144"/>
            <a:ext cx="6995160" cy="548640"/>
          </a:xfrm>
          <a:prstGeom prst="rect">
            <a:avLst/>
          </a:prstGeom>
          <a:noFill/>
          <a:ln/>
        </p:spPr>
        <p:txBody>
          <a:bodyPr wrap="square"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  APPROVE THE UPGRADE WINDOW — THE HUMAN GATE  👤</a:t>
            </a:r>
            <a:endParaRPr lang="en-US" sz="1200" dirty="0"/>
          </a:p>
        </p:txBody>
      </p:sp>
      <p:sp>
        <p:nvSpPr>
          <p:cNvPr id="28" name="Text 26"/>
          <p:cNvSpPr/>
          <p:nvPr/>
        </p:nvSpPr>
        <p:spPr>
          <a:xfrm>
            <a:off x="411480" y="4105656"/>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EXECUTE &amp; VERIFY</a:t>
            </a:r>
            <a:endParaRPr lang="en-US" sz="900" dirty="0"/>
          </a:p>
        </p:txBody>
      </p:sp>
      <p:sp>
        <p:nvSpPr>
          <p:cNvPr id="29" name="Shape 27"/>
          <p:cNvSpPr/>
          <p:nvPr/>
        </p:nvSpPr>
        <p:spPr>
          <a:xfrm>
            <a:off x="411480" y="4279392"/>
            <a:ext cx="2640330" cy="749808"/>
          </a:xfrm>
          <a:prstGeom prst="roundRect">
            <a:avLst>
              <a:gd name="adj" fmla="val 8537"/>
            </a:avLst>
          </a:prstGeom>
          <a:solidFill>
            <a:srgbClr val="DBEAFE"/>
          </a:solidFill>
          <a:ln w="19050">
            <a:solidFill>
              <a:srgbClr val="2563EB"/>
            </a:solidFill>
            <a:prstDash val="solid"/>
          </a:ln>
        </p:spPr>
      </p:sp>
      <p:sp>
        <p:nvSpPr>
          <p:cNvPr id="30" name="Text 28"/>
          <p:cNvSpPr/>
          <p:nvPr/>
        </p:nvSpPr>
        <p:spPr>
          <a:xfrm>
            <a:off x="466344" y="4346875"/>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Upgrade executed</a:t>
            </a:r>
            <a:endParaRPr lang="en-US" sz="1050" dirty="0"/>
          </a:p>
        </p:txBody>
      </p:sp>
      <p:sp>
        <p:nvSpPr>
          <p:cNvPr id="31" name="Text 29"/>
          <p:cNvSpPr/>
          <p:nvPr/>
        </p:nvSpPr>
        <p:spPr>
          <a:xfrm>
            <a:off x="466344" y="4654296"/>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live progress per node</a:t>
            </a:r>
            <a:endParaRPr lang="en-US" sz="850" dirty="0"/>
          </a:p>
        </p:txBody>
      </p:sp>
      <p:sp>
        <p:nvSpPr>
          <p:cNvPr id="32" name="Text 30"/>
          <p:cNvSpPr/>
          <p:nvPr/>
        </p:nvSpPr>
        <p:spPr>
          <a:xfrm>
            <a:off x="3051810" y="452628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3" name="Shape 31"/>
          <p:cNvSpPr/>
          <p:nvPr/>
        </p:nvSpPr>
        <p:spPr>
          <a:xfrm>
            <a:off x="3326130" y="4279392"/>
            <a:ext cx="2640330" cy="749808"/>
          </a:xfrm>
          <a:prstGeom prst="roundRect">
            <a:avLst>
              <a:gd name="adj" fmla="val 8537"/>
            </a:avLst>
          </a:prstGeom>
          <a:solidFill>
            <a:srgbClr val="DBEAFE"/>
          </a:solidFill>
          <a:ln w="19050">
            <a:solidFill>
              <a:srgbClr val="2563EB"/>
            </a:solidFill>
            <a:prstDash val="solid"/>
          </a:ln>
        </p:spPr>
      </p:sp>
      <p:sp>
        <p:nvSpPr>
          <p:cNvPr id="34" name="Text 32"/>
          <p:cNvSpPr/>
          <p:nvPr/>
        </p:nvSpPr>
        <p:spPr>
          <a:xfrm>
            <a:off x="3380994" y="4346875"/>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Continuously narrated</a:t>
            </a:r>
            <a:endParaRPr lang="en-US" sz="1050" dirty="0"/>
          </a:p>
        </p:txBody>
      </p:sp>
      <p:sp>
        <p:nvSpPr>
          <p:cNvPr id="35" name="Text 33"/>
          <p:cNvSpPr/>
          <p:nvPr/>
        </p:nvSpPr>
        <p:spPr>
          <a:xfrm>
            <a:off x="3380994" y="4654296"/>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no black box</a:t>
            </a:r>
            <a:endParaRPr lang="en-US" sz="850" dirty="0"/>
          </a:p>
        </p:txBody>
      </p:sp>
      <p:sp>
        <p:nvSpPr>
          <p:cNvPr id="36" name="Text 34"/>
          <p:cNvSpPr/>
          <p:nvPr/>
        </p:nvSpPr>
        <p:spPr>
          <a:xfrm>
            <a:off x="5966460" y="452628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7" name="Shape 35"/>
          <p:cNvSpPr/>
          <p:nvPr/>
        </p:nvSpPr>
        <p:spPr>
          <a:xfrm>
            <a:off x="6240780" y="4279392"/>
            <a:ext cx="2640330" cy="749808"/>
          </a:xfrm>
          <a:prstGeom prst="roundRect">
            <a:avLst>
              <a:gd name="adj" fmla="val 8537"/>
            </a:avLst>
          </a:prstGeom>
          <a:solidFill>
            <a:srgbClr val="D1FAE5"/>
          </a:solidFill>
          <a:ln w="19050">
            <a:solidFill>
              <a:srgbClr val="059669"/>
            </a:solidFill>
            <a:prstDash val="solid"/>
          </a:ln>
        </p:spPr>
      </p:sp>
      <p:sp>
        <p:nvSpPr>
          <p:cNvPr id="38" name="Text 36"/>
          <p:cNvSpPr/>
          <p:nvPr/>
        </p:nvSpPr>
        <p:spPr>
          <a:xfrm>
            <a:off x="6295644" y="4346875"/>
            <a:ext cx="2530602" cy="314919"/>
          </a:xfrm>
          <a:prstGeom prst="rect">
            <a:avLst/>
          </a:prstGeom>
          <a:noFill/>
          <a:ln/>
        </p:spPr>
        <p:txBody>
          <a:bodyPr wrap="square" rtlCol="0" anchor="ctr"/>
          <a:lstStyle/>
          <a:p>
            <a:pPr algn="ctr" indent="0" marL="0">
              <a:buNone/>
            </a:pPr>
            <a:r>
              <a:rPr lang="en-US" sz="1050" b="1" dirty="0">
                <a:solidFill>
                  <a:srgbClr val="065F46"/>
                </a:solidFill>
                <a:latin typeface="Inter" pitchFamily="34" charset="0"/>
                <a:ea typeface="Inter" pitchFamily="34" charset="-122"/>
                <a:cs typeface="Inter" pitchFamily="34" charset="-120"/>
              </a:rPr>
              <a:t>✅ Post-verification</a:t>
            </a:r>
            <a:endParaRPr lang="en-US" sz="1050" dirty="0"/>
          </a:p>
        </p:txBody>
      </p:sp>
      <p:sp>
        <p:nvSpPr>
          <p:cNvPr id="39" name="Text 37"/>
          <p:cNvSpPr/>
          <p:nvPr/>
        </p:nvSpPr>
        <p:spPr>
          <a:xfrm>
            <a:off x="6295644" y="4654296"/>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cluster + workload health</a:t>
            </a:r>
            <a:endParaRPr lang="en-US" sz="850" dirty="0"/>
          </a:p>
        </p:txBody>
      </p:sp>
      <p:sp>
        <p:nvSpPr>
          <p:cNvPr id="40" name="Text 38"/>
          <p:cNvSpPr/>
          <p:nvPr/>
        </p:nvSpPr>
        <p:spPr>
          <a:xfrm>
            <a:off x="8881110" y="452628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1" name="Shape 39"/>
          <p:cNvSpPr/>
          <p:nvPr/>
        </p:nvSpPr>
        <p:spPr>
          <a:xfrm>
            <a:off x="9155430" y="4279392"/>
            <a:ext cx="2640330" cy="749808"/>
          </a:xfrm>
          <a:prstGeom prst="roundRect">
            <a:avLst>
              <a:gd name="adj" fmla="val 8537"/>
            </a:avLst>
          </a:prstGeom>
          <a:solidFill>
            <a:srgbClr val="DBEAFE"/>
          </a:solidFill>
          <a:ln w="19050">
            <a:solidFill>
              <a:srgbClr val="2563EB"/>
            </a:solidFill>
            <a:prstDash val="solid"/>
          </a:ln>
        </p:spPr>
      </p:sp>
      <p:sp>
        <p:nvSpPr>
          <p:cNvPr id="42" name="Text 40"/>
          <p:cNvSpPr/>
          <p:nvPr/>
        </p:nvSpPr>
        <p:spPr>
          <a:xfrm>
            <a:off x="9210294" y="4346875"/>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Change closed</a:t>
            </a:r>
            <a:endParaRPr lang="en-US" sz="1050" dirty="0"/>
          </a:p>
        </p:txBody>
      </p:sp>
      <p:sp>
        <p:nvSpPr>
          <p:cNvPr id="43" name="Text 41"/>
          <p:cNvSpPr/>
          <p:nvPr/>
        </p:nvSpPr>
        <p:spPr>
          <a:xfrm>
            <a:off x="9210294" y="4654296"/>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outcome recorded</a:t>
            </a:r>
            <a:endParaRPr lang="en-US" sz="850" dirty="0"/>
          </a:p>
        </p:txBody>
      </p:sp>
      <p:sp>
        <p:nvSpPr>
          <p:cNvPr id="44" name="Shape 42"/>
          <p:cNvSpPr/>
          <p:nvPr/>
        </p:nvSpPr>
        <p:spPr>
          <a:xfrm>
            <a:off x="411480" y="6089904"/>
            <a:ext cx="173736" cy="173736"/>
          </a:xfrm>
          <a:prstGeom prst="roundRect">
            <a:avLst>
              <a:gd name="adj" fmla="val 15789"/>
            </a:avLst>
          </a:prstGeom>
          <a:solidFill>
            <a:srgbClr val="EDE9FE"/>
          </a:solidFill>
          <a:ln w="12700">
            <a:solidFill>
              <a:srgbClr val="7C3AED"/>
            </a:solidFill>
            <a:prstDash val="solid"/>
          </a:ln>
        </p:spPr>
      </p:sp>
      <p:sp>
        <p:nvSpPr>
          <p:cNvPr id="45" name="Text 43"/>
          <p:cNvSpPr/>
          <p:nvPr/>
        </p:nvSpPr>
        <p:spPr>
          <a:xfrm>
            <a:off x="621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AI</a:t>
            </a:r>
            <a:endParaRPr lang="en-US" sz="850" dirty="0"/>
          </a:p>
        </p:txBody>
      </p:sp>
      <p:sp>
        <p:nvSpPr>
          <p:cNvPr id="46" name="Shape 44"/>
          <p:cNvSpPr/>
          <p:nvPr/>
        </p:nvSpPr>
        <p:spPr>
          <a:xfrm>
            <a:off x="1554480" y="6089904"/>
            <a:ext cx="173736" cy="173736"/>
          </a:xfrm>
          <a:prstGeom prst="roundRect">
            <a:avLst>
              <a:gd name="adj" fmla="val 15789"/>
            </a:avLst>
          </a:prstGeom>
          <a:solidFill>
            <a:srgbClr val="DBEAFE"/>
          </a:solidFill>
          <a:ln w="12700">
            <a:solidFill>
              <a:srgbClr val="2563EB"/>
            </a:solidFill>
            <a:prstDash val="solid"/>
          </a:ln>
        </p:spPr>
      </p:sp>
      <p:sp>
        <p:nvSpPr>
          <p:cNvPr id="47" name="Text 45"/>
          <p:cNvSpPr/>
          <p:nvPr/>
        </p:nvSpPr>
        <p:spPr>
          <a:xfrm>
            <a:off x="1764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Automatic</a:t>
            </a:r>
            <a:endParaRPr lang="en-US" sz="850" dirty="0"/>
          </a:p>
        </p:txBody>
      </p:sp>
      <p:sp>
        <p:nvSpPr>
          <p:cNvPr id="48" name="Shape 46"/>
          <p:cNvSpPr/>
          <p:nvPr/>
        </p:nvSpPr>
        <p:spPr>
          <a:xfrm>
            <a:off x="2697480" y="6089904"/>
            <a:ext cx="173736" cy="173736"/>
          </a:xfrm>
          <a:prstGeom prst="roundRect">
            <a:avLst>
              <a:gd name="adj" fmla="val 15789"/>
            </a:avLst>
          </a:prstGeom>
          <a:solidFill>
            <a:srgbClr val="FEF3C7"/>
          </a:solidFill>
          <a:ln w="12700">
            <a:solidFill>
              <a:srgbClr val="D97706"/>
            </a:solidFill>
            <a:prstDash val="solid"/>
          </a:ln>
        </p:spPr>
      </p:sp>
      <p:sp>
        <p:nvSpPr>
          <p:cNvPr id="49" name="Text 47"/>
          <p:cNvSpPr/>
          <p:nvPr/>
        </p:nvSpPr>
        <p:spPr>
          <a:xfrm>
            <a:off x="2907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Human</a:t>
            </a:r>
            <a:endParaRPr lang="en-US" sz="850" dirty="0"/>
          </a:p>
        </p:txBody>
      </p:sp>
      <p:sp>
        <p:nvSpPr>
          <p:cNvPr id="50" name="Shape 48"/>
          <p:cNvSpPr/>
          <p:nvPr/>
        </p:nvSpPr>
        <p:spPr>
          <a:xfrm>
            <a:off x="3840480" y="6089904"/>
            <a:ext cx="173736" cy="173736"/>
          </a:xfrm>
          <a:prstGeom prst="roundRect">
            <a:avLst>
              <a:gd name="adj" fmla="val 15789"/>
            </a:avLst>
          </a:prstGeom>
          <a:solidFill>
            <a:srgbClr val="D1FAE5"/>
          </a:solidFill>
          <a:ln w="12700">
            <a:solidFill>
              <a:srgbClr val="059669"/>
            </a:solidFill>
            <a:prstDash val="solid"/>
          </a:ln>
        </p:spPr>
      </p:sp>
      <p:sp>
        <p:nvSpPr>
          <p:cNvPr id="51" name="Text 49"/>
          <p:cNvSpPr/>
          <p:nvPr/>
        </p:nvSpPr>
        <p:spPr>
          <a:xfrm>
            <a:off x="4050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Verified</a:t>
            </a:r>
            <a:endParaRPr lang="en-US" sz="850" dirty="0"/>
          </a:p>
        </p:txBody>
      </p:sp>
      <p:sp>
        <p:nvSpPr>
          <p:cNvPr id="52" name="Text 50"/>
          <p:cNvSpPr/>
          <p:nvPr/>
        </p:nvSpPr>
        <p:spPr>
          <a:xfrm>
            <a:off x="5120640" y="6025896"/>
            <a:ext cx="6675120" cy="292608"/>
          </a:xfrm>
          <a:prstGeom prst="rect">
            <a:avLst/>
          </a:prstGeom>
          <a:noFill/>
          <a:ln/>
        </p:spPr>
        <p:txBody>
          <a:bodyPr wrap="square" rtlCol="0" anchor="ctr"/>
          <a:lstStyle/>
          <a:p>
            <a:pPr algn="r" indent="0" marL="0">
              <a:buNone/>
            </a:pPr>
            <a:r>
              <a:rPr lang="en-US" sz="1050" b="1" dirty="0">
                <a:solidFill>
                  <a:srgbClr val="2563EB"/>
                </a:solidFill>
                <a:latin typeface="Inter" pitchFamily="34" charset="0"/>
                <a:ea typeface="Inter" pitchFamily="34" charset="-122"/>
                <a:cs typeface="Inter" pitchFamily="34" charset="-120"/>
              </a:rPr>
              <a:t>A long-running operation, continuously narrated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1060704"/>
          </a:xfrm>
          <a:prstGeom prst="rect">
            <a:avLst/>
          </a:prstGeom>
          <a:solidFill>
            <a:srgbClr val="0F172A"/>
          </a:solidFill>
          <a:ln/>
        </p:spPr>
      </p:sp>
      <p:sp>
        <p:nvSpPr>
          <p:cNvPr id="3" name="Text 1"/>
          <p:cNvSpPr/>
          <p:nvPr/>
        </p:nvSpPr>
        <p:spPr>
          <a:xfrm>
            <a:off x="411480" y="118872"/>
            <a:ext cx="4572000" cy="219456"/>
          </a:xfrm>
          <a:prstGeom prst="rect">
            <a:avLst/>
          </a:prstGeom>
          <a:noFill/>
          <a:ln/>
        </p:spPr>
        <p:txBody>
          <a:bodyPr wrap="square" rtlCol="0" anchor="ctr"/>
          <a:lstStyle/>
          <a:p>
            <a:pPr indent="0" marL="0">
              <a:buNone/>
            </a:pPr>
            <a:r>
              <a:rPr lang="en-US" sz="1000" b="1" spc="220" kern="0" dirty="0">
                <a:solidFill>
                  <a:srgbClr val="0891B2"/>
                </a:solidFill>
                <a:latin typeface="Inter" pitchFamily="34" charset="0"/>
                <a:ea typeface="Inter" pitchFamily="34" charset="-122"/>
                <a:cs typeface="Inter" pitchFamily="34" charset="-120"/>
              </a:rPr>
              <a:t>TCS AGENTIC AI</a:t>
            </a:r>
            <a:endParaRPr lang="en-US" sz="1000" dirty="0"/>
          </a:p>
        </p:txBody>
      </p:sp>
      <p:sp>
        <p:nvSpPr>
          <p:cNvPr id="4" name="Text 2"/>
          <p:cNvSpPr/>
          <p:nvPr/>
        </p:nvSpPr>
        <p:spPr>
          <a:xfrm>
            <a:off x="411480" y="329184"/>
            <a:ext cx="9692640" cy="402336"/>
          </a:xfrm>
          <a:prstGeom prst="rect">
            <a:avLst/>
          </a:prstGeom>
          <a:noFill/>
          <a:ln/>
        </p:spPr>
        <p:txBody>
          <a:bodyPr wrap="square" rtlCol="0" anchor="ctr"/>
          <a:lstStyle/>
          <a:p>
            <a:pPr indent="0" marL="0">
              <a:buNone/>
            </a:pPr>
            <a:r>
              <a:rPr lang="en-US" sz="2300" b="1" dirty="0">
                <a:solidFill>
                  <a:srgbClr val="FFFFFF"/>
                </a:solidFill>
                <a:latin typeface="Inter" pitchFamily="34" charset="0"/>
                <a:ea typeface="Inter" pitchFamily="34" charset="-122"/>
                <a:cs typeface="Inter" pitchFamily="34" charset="-120"/>
              </a:rPr>
              <a:t>Proactive Intelligence Agent</a:t>
            </a:r>
            <a:endParaRPr lang="en-US" sz="2300" dirty="0"/>
          </a:p>
        </p:txBody>
      </p:sp>
      <p:sp>
        <p:nvSpPr>
          <p:cNvPr id="5" name="Text 3"/>
          <p:cNvSpPr/>
          <p:nvPr/>
        </p:nvSpPr>
        <p:spPr>
          <a:xfrm>
            <a:off x="411480" y="749808"/>
            <a:ext cx="9692640" cy="256032"/>
          </a:xfrm>
          <a:prstGeom prst="rect">
            <a:avLst/>
          </a:prstGeom>
          <a:noFill/>
          <a:ln/>
        </p:spPr>
        <p:txBody>
          <a:bodyPr wrap="square" rtlCol="0" anchor="ctr"/>
          <a:lstStyle/>
          <a:p>
            <a:pPr indent="0" marL="0">
              <a:buNone/>
            </a:pPr>
            <a:r>
              <a:rPr lang="en-US" sz="1050" i="1" dirty="0">
                <a:solidFill>
                  <a:srgbClr val="94A3B8"/>
                </a:solidFill>
                <a:latin typeface="Inter" pitchFamily="34" charset="0"/>
                <a:ea typeface="Inter" pitchFamily="34" charset="-122"/>
                <a:cs typeface="Inter" pitchFamily="34" charset="-120"/>
              </a:rPr>
              <a:t>Predictive intelligence &amp; anomaly detection — forecast the failure before it becomes an incident</a:t>
            </a:r>
            <a:endParaRPr lang="en-US" sz="1050" dirty="0"/>
          </a:p>
        </p:txBody>
      </p:sp>
      <p:sp>
        <p:nvSpPr>
          <p:cNvPr id="6" name="Text 4"/>
          <p:cNvSpPr/>
          <p:nvPr/>
        </p:nvSpPr>
        <p:spPr>
          <a:xfrm>
            <a:off x="10561320" y="310896"/>
            <a:ext cx="1234440" cy="365760"/>
          </a:xfrm>
          <a:prstGeom prst="rect">
            <a:avLst>
              <a:gd name="adj" fmla="val 12500"/>
            </a:avLst>
          </a:prstGeom>
          <a:solidFill>
            <a:srgbClr val="2563EB"/>
          </a:solid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UC-03</a:t>
            </a:r>
            <a:endParaRPr lang="en-US" sz="1500" dirty="0"/>
          </a:p>
        </p:txBody>
      </p:sp>
      <p:sp>
        <p:nvSpPr>
          <p:cNvPr id="7" name="Text 5"/>
          <p:cNvSpPr/>
          <p:nvPr/>
        </p:nvSpPr>
        <p:spPr>
          <a:xfrm>
            <a:off x="411480" y="1188720"/>
            <a:ext cx="3657600" cy="182880"/>
          </a:xfrm>
          <a:prstGeom prst="rect">
            <a:avLst/>
          </a:prstGeom>
          <a:noFill/>
          <a:ln/>
        </p:spPr>
        <p:txBody>
          <a:bodyPr wrap="square" rtlCol="0" anchor="ctr"/>
          <a:lstStyle/>
          <a:p>
            <a:pPr indent="0" marL="0">
              <a:buNone/>
            </a:pPr>
            <a:r>
              <a:rPr lang="en-US" sz="850" b="1" spc="140" kern="0" dirty="0">
                <a:solidFill>
                  <a:srgbClr val="64748B"/>
                </a:solidFill>
                <a:latin typeface="Inter" pitchFamily="34" charset="0"/>
                <a:ea typeface="Inter" pitchFamily="34" charset="-122"/>
                <a:cs typeface="Inter" pitchFamily="34" charset="-120"/>
              </a:rPr>
              <a:t>USE CASE DESCRIPTION</a:t>
            </a:r>
            <a:endParaRPr lang="en-US" sz="850" dirty="0"/>
          </a:p>
        </p:txBody>
      </p:sp>
      <p:sp>
        <p:nvSpPr>
          <p:cNvPr id="8" name="Text 6"/>
          <p:cNvSpPr/>
          <p:nvPr/>
        </p:nvSpPr>
        <p:spPr>
          <a:xfrm>
            <a:off x="411480" y="1389888"/>
            <a:ext cx="11384280" cy="914400"/>
          </a:xfrm>
          <a:prstGeom prst="rect">
            <a:avLst/>
          </a:prstGeom>
          <a:noFill/>
          <a:ln/>
        </p:spPr>
        <p:txBody>
          <a:bodyPr wrap="square" rtlCol="0" anchor="t"/>
          <a:lstStyle/>
          <a:p>
            <a:pPr indent="0" marL="0">
              <a:lnSpc>
                <a:spcPct val="120000"/>
              </a:lnSpc>
              <a:buNone/>
            </a:pPr>
            <a:r>
              <a:rPr lang="en-US" sz="1200" dirty="0">
                <a:solidFill>
                  <a:srgbClr val="1E293B"/>
                </a:solidFill>
                <a:latin typeface="Inter" pitchFamily="34" charset="0"/>
                <a:ea typeface="Inter" pitchFamily="34" charset="-122"/>
                <a:cs typeface="Inter" pitchFamily="34" charset="-120"/>
              </a:rPr>
              <a:t>Trend analysis over rolling metric windows forecasts infrastructure failures before they occur — capacity exhaustion, memory growth, certificate expiry, node pressure. The agent surfaces what is about to break and how long there is to act, converting reactive firefighting into scheduled maintenance.</a:t>
            </a:r>
            <a:endParaRPr lang="en-US" sz="1200" dirty="0"/>
          </a:p>
        </p:txBody>
      </p:sp>
      <p:sp>
        <p:nvSpPr>
          <p:cNvPr id="9" name="Text 7"/>
          <p:cNvSpPr/>
          <p:nvPr/>
        </p:nvSpPr>
        <p:spPr>
          <a:xfrm>
            <a:off x="411480" y="2176272"/>
            <a:ext cx="3657600" cy="201168"/>
          </a:xfrm>
          <a:prstGeom prst="rect">
            <a:avLst/>
          </a:prstGeom>
          <a:noFill/>
          <a:ln/>
        </p:spPr>
        <p:txBody>
          <a:bodyPr wrap="square" rtlCol="0" anchor="ctr"/>
          <a:lstStyle/>
          <a:p>
            <a:pPr indent="0" marL="0">
              <a:buNone/>
            </a:pPr>
            <a:r>
              <a:rPr lang="en-US" sz="850" b="1" spc="140" kern="0" dirty="0">
                <a:solidFill>
                  <a:srgbClr val="2563EB"/>
                </a:solidFill>
                <a:latin typeface="Inter" pitchFamily="34" charset="0"/>
                <a:ea typeface="Inter" pitchFamily="34" charset="-122"/>
                <a:cs typeface="Inter" pitchFamily="34" charset="-120"/>
              </a:rPr>
              <a:t>END-TO-END WORKFLOW</a:t>
            </a:r>
            <a:endParaRPr lang="en-US" sz="850" dirty="0"/>
          </a:p>
        </p:txBody>
      </p:sp>
      <p:sp>
        <p:nvSpPr>
          <p:cNvPr id="10" name="Text 8"/>
          <p:cNvSpPr/>
          <p:nvPr/>
        </p:nvSpPr>
        <p:spPr>
          <a:xfrm>
            <a:off x="411480" y="2395728"/>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OBSERVE</a:t>
            </a:r>
            <a:endParaRPr lang="en-US" sz="900" dirty="0"/>
          </a:p>
        </p:txBody>
      </p:sp>
      <p:sp>
        <p:nvSpPr>
          <p:cNvPr id="11" name="Shape 9"/>
          <p:cNvSpPr/>
          <p:nvPr/>
        </p:nvSpPr>
        <p:spPr>
          <a:xfrm>
            <a:off x="411480" y="2569464"/>
            <a:ext cx="3611880" cy="749808"/>
          </a:xfrm>
          <a:prstGeom prst="roundRect">
            <a:avLst>
              <a:gd name="adj" fmla="val 8537"/>
            </a:avLst>
          </a:prstGeom>
          <a:solidFill>
            <a:srgbClr val="DBEAFE"/>
          </a:solidFill>
          <a:ln w="19050">
            <a:solidFill>
              <a:srgbClr val="2563EB"/>
            </a:solidFill>
            <a:prstDash val="solid"/>
          </a:ln>
        </p:spPr>
      </p:sp>
      <p:sp>
        <p:nvSpPr>
          <p:cNvPr id="12" name="Text 10"/>
          <p:cNvSpPr/>
          <p:nvPr/>
        </p:nvSpPr>
        <p:spPr>
          <a:xfrm>
            <a:off x="466344" y="2636947"/>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Continuous scan</a:t>
            </a:r>
            <a:endParaRPr lang="en-US" sz="1050" dirty="0"/>
          </a:p>
        </p:txBody>
      </p:sp>
      <p:sp>
        <p:nvSpPr>
          <p:cNvPr id="13" name="Text 11"/>
          <p:cNvSpPr/>
          <p:nvPr/>
        </p:nvSpPr>
        <p:spPr>
          <a:xfrm>
            <a:off x="466344" y="2944368"/>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rolling windows, whole fleet</a:t>
            </a:r>
            <a:endParaRPr lang="en-US" sz="850" dirty="0"/>
          </a:p>
        </p:txBody>
      </p:sp>
      <p:sp>
        <p:nvSpPr>
          <p:cNvPr id="14" name="Text 12"/>
          <p:cNvSpPr/>
          <p:nvPr/>
        </p:nvSpPr>
        <p:spPr>
          <a:xfrm>
            <a:off x="402336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5" name="Shape 13"/>
          <p:cNvSpPr/>
          <p:nvPr/>
        </p:nvSpPr>
        <p:spPr>
          <a:xfrm>
            <a:off x="4297680" y="2569464"/>
            <a:ext cx="3611880" cy="749808"/>
          </a:xfrm>
          <a:prstGeom prst="roundRect">
            <a:avLst>
              <a:gd name="adj" fmla="val 8537"/>
            </a:avLst>
          </a:prstGeom>
          <a:solidFill>
            <a:srgbClr val="DBEAFE"/>
          </a:solidFill>
          <a:ln w="19050">
            <a:solidFill>
              <a:srgbClr val="2563EB"/>
            </a:solidFill>
            <a:prstDash val="solid"/>
          </a:ln>
        </p:spPr>
      </p:sp>
      <p:sp>
        <p:nvSpPr>
          <p:cNvPr id="16" name="Text 14"/>
          <p:cNvSpPr/>
          <p:nvPr/>
        </p:nvSpPr>
        <p:spPr>
          <a:xfrm>
            <a:off x="4352544" y="2636947"/>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Trend analysis</a:t>
            </a:r>
            <a:endParaRPr lang="en-US" sz="1050" dirty="0"/>
          </a:p>
        </p:txBody>
      </p:sp>
      <p:sp>
        <p:nvSpPr>
          <p:cNvPr id="17" name="Text 15"/>
          <p:cNvSpPr/>
          <p:nvPr/>
        </p:nvSpPr>
        <p:spPr>
          <a:xfrm>
            <a:off x="4352544" y="2944368"/>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growth rates · thresholds</a:t>
            </a:r>
            <a:endParaRPr lang="en-US" sz="850" dirty="0"/>
          </a:p>
        </p:txBody>
      </p:sp>
      <p:sp>
        <p:nvSpPr>
          <p:cNvPr id="18" name="Text 16"/>
          <p:cNvSpPr/>
          <p:nvPr/>
        </p:nvSpPr>
        <p:spPr>
          <a:xfrm>
            <a:off x="790956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9" name="Shape 17"/>
          <p:cNvSpPr/>
          <p:nvPr/>
        </p:nvSpPr>
        <p:spPr>
          <a:xfrm>
            <a:off x="8183880" y="2569464"/>
            <a:ext cx="3611880" cy="749808"/>
          </a:xfrm>
          <a:prstGeom prst="roundRect">
            <a:avLst>
              <a:gd name="adj" fmla="val 8537"/>
            </a:avLst>
          </a:prstGeom>
          <a:solidFill>
            <a:srgbClr val="DBEAFE"/>
          </a:solidFill>
          <a:ln w="19050">
            <a:solidFill>
              <a:srgbClr val="2563EB"/>
            </a:solidFill>
            <a:prstDash val="solid"/>
          </a:ln>
        </p:spPr>
      </p:sp>
      <p:sp>
        <p:nvSpPr>
          <p:cNvPr id="20" name="Text 18"/>
          <p:cNvSpPr/>
          <p:nvPr/>
        </p:nvSpPr>
        <p:spPr>
          <a:xfrm>
            <a:off x="8238744" y="2636947"/>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Anomaly detection</a:t>
            </a:r>
            <a:endParaRPr lang="en-US" sz="1050" dirty="0"/>
          </a:p>
        </p:txBody>
      </p:sp>
      <p:sp>
        <p:nvSpPr>
          <p:cNvPr id="21" name="Text 19"/>
          <p:cNvSpPr/>
          <p:nvPr/>
        </p:nvSpPr>
        <p:spPr>
          <a:xfrm>
            <a:off x="8238744" y="2944368"/>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deviation from the norm</a:t>
            </a:r>
            <a:endParaRPr lang="en-US" sz="850" dirty="0"/>
          </a:p>
        </p:txBody>
      </p:sp>
      <p:sp>
        <p:nvSpPr>
          <p:cNvPr id="22" name="Text 20"/>
          <p:cNvSpPr/>
          <p:nvPr/>
        </p:nvSpPr>
        <p:spPr>
          <a:xfrm>
            <a:off x="411480" y="3438144"/>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PREDICT</a:t>
            </a:r>
            <a:endParaRPr lang="en-US" sz="900" dirty="0"/>
          </a:p>
        </p:txBody>
      </p:sp>
      <p:sp>
        <p:nvSpPr>
          <p:cNvPr id="23" name="Shape 21"/>
          <p:cNvSpPr/>
          <p:nvPr/>
        </p:nvSpPr>
        <p:spPr>
          <a:xfrm>
            <a:off x="411480" y="3611880"/>
            <a:ext cx="3611880" cy="749808"/>
          </a:xfrm>
          <a:prstGeom prst="roundRect">
            <a:avLst>
              <a:gd name="adj" fmla="val 8537"/>
            </a:avLst>
          </a:prstGeom>
          <a:solidFill>
            <a:srgbClr val="EDE9FE"/>
          </a:solidFill>
          <a:ln w="19050">
            <a:solidFill>
              <a:srgbClr val="7C3AED"/>
            </a:solidFill>
            <a:prstDash val="solid"/>
          </a:ln>
        </p:spPr>
      </p:sp>
      <p:sp>
        <p:nvSpPr>
          <p:cNvPr id="24" name="Text 22"/>
          <p:cNvSpPr/>
          <p:nvPr/>
        </p:nvSpPr>
        <p:spPr>
          <a:xfrm>
            <a:off x="466344" y="3679363"/>
            <a:ext cx="3502152" cy="314919"/>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Prediction formed</a:t>
            </a:r>
            <a:endParaRPr lang="en-US" sz="1050" dirty="0"/>
          </a:p>
        </p:txBody>
      </p:sp>
      <p:sp>
        <p:nvSpPr>
          <p:cNvPr id="25" name="Text 23"/>
          <p:cNvSpPr/>
          <p:nvPr/>
        </p:nvSpPr>
        <p:spPr>
          <a:xfrm>
            <a:off x="466344" y="3986784"/>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what fails, and when</a:t>
            </a:r>
            <a:endParaRPr lang="en-US" sz="850" dirty="0"/>
          </a:p>
        </p:txBody>
      </p:sp>
      <p:sp>
        <p:nvSpPr>
          <p:cNvPr id="26" name="Text 24"/>
          <p:cNvSpPr/>
          <p:nvPr/>
        </p:nvSpPr>
        <p:spPr>
          <a:xfrm>
            <a:off x="4023360" y="385876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7" name="Shape 25"/>
          <p:cNvSpPr/>
          <p:nvPr/>
        </p:nvSpPr>
        <p:spPr>
          <a:xfrm>
            <a:off x="4297680" y="3611880"/>
            <a:ext cx="3611880" cy="749808"/>
          </a:xfrm>
          <a:prstGeom prst="roundRect">
            <a:avLst>
              <a:gd name="adj" fmla="val 8537"/>
            </a:avLst>
          </a:prstGeom>
          <a:solidFill>
            <a:srgbClr val="EDE9FE"/>
          </a:solidFill>
          <a:ln w="19050">
            <a:solidFill>
              <a:srgbClr val="7C3AED"/>
            </a:solidFill>
            <a:prstDash val="solid"/>
          </a:ln>
        </p:spPr>
      </p:sp>
      <p:sp>
        <p:nvSpPr>
          <p:cNvPr id="28" name="Text 26"/>
          <p:cNvSpPr/>
          <p:nvPr/>
        </p:nvSpPr>
        <p:spPr>
          <a:xfrm>
            <a:off x="4352544" y="3679363"/>
            <a:ext cx="3502152" cy="314919"/>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Risk prioritised</a:t>
            </a:r>
            <a:endParaRPr lang="en-US" sz="1050" dirty="0"/>
          </a:p>
        </p:txBody>
      </p:sp>
      <p:sp>
        <p:nvSpPr>
          <p:cNvPr id="29" name="Text 27"/>
          <p:cNvSpPr/>
          <p:nvPr/>
        </p:nvSpPr>
        <p:spPr>
          <a:xfrm>
            <a:off x="4352544" y="3986784"/>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impact × time-to-impact</a:t>
            </a:r>
            <a:endParaRPr lang="en-US" sz="850" dirty="0"/>
          </a:p>
        </p:txBody>
      </p:sp>
      <p:sp>
        <p:nvSpPr>
          <p:cNvPr id="30" name="Text 28"/>
          <p:cNvSpPr/>
          <p:nvPr/>
        </p:nvSpPr>
        <p:spPr>
          <a:xfrm>
            <a:off x="7909560" y="385876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1" name="Shape 29"/>
          <p:cNvSpPr/>
          <p:nvPr/>
        </p:nvSpPr>
        <p:spPr>
          <a:xfrm>
            <a:off x="8183880" y="3611880"/>
            <a:ext cx="3611880" cy="749808"/>
          </a:xfrm>
          <a:prstGeom prst="roundRect">
            <a:avLst>
              <a:gd name="adj" fmla="val 8537"/>
            </a:avLst>
          </a:prstGeom>
          <a:solidFill>
            <a:srgbClr val="DBEAFE"/>
          </a:solidFill>
          <a:ln w="19050">
            <a:solidFill>
              <a:srgbClr val="2563EB"/>
            </a:solidFill>
            <a:prstDash val="solid"/>
          </a:ln>
        </p:spPr>
      </p:sp>
      <p:sp>
        <p:nvSpPr>
          <p:cNvPr id="32" name="Text 30"/>
          <p:cNvSpPr/>
          <p:nvPr/>
        </p:nvSpPr>
        <p:spPr>
          <a:xfrm>
            <a:off x="8238744" y="3679363"/>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Recommendation</a:t>
            </a:r>
            <a:endParaRPr lang="en-US" sz="1050" dirty="0"/>
          </a:p>
        </p:txBody>
      </p:sp>
      <p:sp>
        <p:nvSpPr>
          <p:cNvPr id="33" name="Text 31"/>
          <p:cNvSpPr/>
          <p:nvPr/>
        </p:nvSpPr>
        <p:spPr>
          <a:xfrm>
            <a:off x="8238744" y="3986784"/>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the action that prevents it</a:t>
            </a:r>
            <a:endParaRPr lang="en-US" sz="850" dirty="0"/>
          </a:p>
        </p:txBody>
      </p:sp>
      <p:sp>
        <p:nvSpPr>
          <p:cNvPr id="34" name="Text 32"/>
          <p:cNvSpPr/>
          <p:nvPr/>
        </p:nvSpPr>
        <p:spPr>
          <a:xfrm>
            <a:off x="411480" y="4480560"/>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OUTCOMES</a:t>
            </a:r>
            <a:endParaRPr lang="en-US" sz="900" dirty="0"/>
          </a:p>
        </p:txBody>
      </p:sp>
      <p:sp>
        <p:nvSpPr>
          <p:cNvPr id="35" name="Shape 33"/>
          <p:cNvSpPr/>
          <p:nvPr/>
        </p:nvSpPr>
        <p:spPr>
          <a:xfrm>
            <a:off x="411480" y="4654296"/>
            <a:ext cx="3697224" cy="420624"/>
          </a:xfrm>
          <a:prstGeom prst="roundRect">
            <a:avLst>
              <a:gd name="adj" fmla="val 10870"/>
            </a:avLst>
          </a:prstGeom>
          <a:solidFill>
            <a:srgbClr val="FEF3C7"/>
          </a:solidFill>
          <a:ln w="12700">
            <a:solidFill>
              <a:srgbClr val="D97706"/>
            </a:solidFill>
            <a:prstDash val="solid"/>
          </a:ln>
        </p:spPr>
      </p:sp>
      <p:sp>
        <p:nvSpPr>
          <p:cNvPr id="36" name="Text 34"/>
          <p:cNvSpPr/>
          <p:nvPr/>
        </p:nvSpPr>
        <p:spPr>
          <a:xfrm>
            <a:off x="466344" y="4654296"/>
            <a:ext cx="3587496" cy="420624"/>
          </a:xfrm>
          <a:prstGeom prst="rect">
            <a:avLst/>
          </a:prstGeom>
          <a:noFill/>
          <a:ln/>
        </p:spPr>
        <p:txBody>
          <a:bodyPr wrap="square" rtlCol="0" anchor="ctr"/>
          <a:lstStyle/>
          <a:p>
            <a:pPr algn="ctr" indent="0" marL="0">
              <a:buNone/>
            </a:pPr>
            <a:r>
              <a:rPr lang="en-US" sz="950" b="1" dirty="0">
                <a:solidFill>
                  <a:srgbClr val="92400E"/>
                </a:solidFill>
                <a:latin typeface="Inter" pitchFamily="34" charset="0"/>
                <a:ea typeface="Inter" pitchFamily="34" charset="-122"/>
                <a:cs typeface="Inter" pitchFamily="34" charset="-120"/>
              </a:rPr>
              <a:t>👤 Act now — capacity added before exhaustion</a:t>
            </a:r>
            <a:endParaRPr lang="en-US" sz="950" dirty="0"/>
          </a:p>
        </p:txBody>
      </p:sp>
      <p:sp>
        <p:nvSpPr>
          <p:cNvPr id="37" name="Shape 35"/>
          <p:cNvSpPr/>
          <p:nvPr/>
        </p:nvSpPr>
        <p:spPr>
          <a:xfrm>
            <a:off x="4255008" y="4654296"/>
            <a:ext cx="3697224" cy="420624"/>
          </a:xfrm>
          <a:prstGeom prst="roundRect">
            <a:avLst>
              <a:gd name="adj" fmla="val 10870"/>
            </a:avLst>
          </a:prstGeom>
          <a:solidFill>
            <a:srgbClr val="FEF3C7"/>
          </a:solidFill>
          <a:ln w="12700">
            <a:solidFill>
              <a:srgbClr val="D97706"/>
            </a:solidFill>
            <a:prstDash val="solid"/>
          </a:ln>
        </p:spPr>
      </p:sp>
      <p:sp>
        <p:nvSpPr>
          <p:cNvPr id="38" name="Text 36"/>
          <p:cNvSpPr/>
          <p:nvPr/>
        </p:nvSpPr>
        <p:spPr>
          <a:xfrm>
            <a:off x="4309872" y="4654296"/>
            <a:ext cx="3587496" cy="420624"/>
          </a:xfrm>
          <a:prstGeom prst="rect">
            <a:avLst/>
          </a:prstGeom>
          <a:noFill/>
          <a:ln/>
        </p:spPr>
        <p:txBody>
          <a:bodyPr wrap="square" rtlCol="0" anchor="ctr"/>
          <a:lstStyle/>
          <a:p>
            <a:pPr algn="ctr" indent="0" marL="0">
              <a:buNone/>
            </a:pPr>
            <a:r>
              <a:rPr lang="en-US" sz="950" b="1" dirty="0">
                <a:solidFill>
                  <a:srgbClr val="92400E"/>
                </a:solidFill>
                <a:latin typeface="Inter" pitchFamily="34" charset="0"/>
                <a:ea typeface="Inter" pitchFamily="34" charset="-122"/>
                <a:cs typeface="Inter" pitchFamily="34" charset="-120"/>
              </a:rPr>
              <a:t>👤 Schedule it into the next maintenance window</a:t>
            </a:r>
            <a:endParaRPr lang="en-US" sz="950" dirty="0"/>
          </a:p>
        </p:txBody>
      </p:sp>
      <p:sp>
        <p:nvSpPr>
          <p:cNvPr id="39" name="Shape 37"/>
          <p:cNvSpPr/>
          <p:nvPr/>
        </p:nvSpPr>
        <p:spPr>
          <a:xfrm>
            <a:off x="8098536" y="4654296"/>
            <a:ext cx="3697224" cy="420624"/>
          </a:xfrm>
          <a:prstGeom prst="roundRect">
            <a:avLst>
              <a:gd name="adj" fmla="val 10870"/>
            </a:avLst>
          </a:prstGeom>
          <a:solidFill>
            <a:srgbClr val="DBEAFE"/>
          </a:solidFill>
          <a:ln w="12700">
            <a:solidFill>
              <a:srgbClr val="2563EB"/>
            </a:solidFill>
            <a:prstDash val="solid"/>
          </a:ln>
        </p:spPr>
      </p:sp>
      <p:sp>
        <p:nvSpPr>
          <p:cNvPr id="40" name="Text 38"/>
          <p:cNvSpPr/>
          <p:nvPr/>
        </p:nvSpPr>
        <p:spPr>
          <a:xfrm>
            <a:off x="8153400" y="4654296"/>
            <a:ext cx="3587496" cy="420624"/>
          </a:xfrm>
          <a:prstGeom prst="rect">
            <a:avLst/>
          </a:prstGeom>
          <a:noFill/>
          <a:ln/>
        </p:spPr>
        <p:txBody>
          <a:bodyPr wrap="square" rtlCol="0" anchor="ctr"/>
          <a:lstStyle/>
          <a:p>
            <a:pPr algn="ctr" indent="0" marL="0">
              <a:buNone/>
            </a:pPr>
            <a:r>
              <a:rPr lang="en-US" sz="950" b="1" dirty="0">
                <a:solidFill>
                  <a:srgbClr val="1E40AF"/>
                </a:solidFill>
                <a:latin typeface="Inter" pitchFamily="34" charset="0"/>
                <a:ea typeface="Inter" pitchFamily="34" charset="-122"/>
                <a:cs typeface="Inter" pitchFamily="34" charset="-120"/>
              </a:rPr>
              <a:t>⚙️ Watch — re-forecast on the next cycle</a:t>
            </a:r>
            <a:endParaRPr lang="en-US" sz="950" dirty="0"/>
          </a:p>
        </p:txBody>
      </p:sp>
      <p:sp>
        <p:nvSpPr>
          <p:cNvPr id="41" name="Shape 39"/>
          <p:cNvSpPr/>
          <p:nvPr/>
        </p:nvSpPr>
        <p:spPr>
          <a:xfrm>
            <a:off x="411480" y="6089904"/>
            <a:ext cx="173736" cy="173736"/>
          </a:xfrm>
          <a:prstGeom prst="roundRect">
            <a:avLst>
              <a:gd name="adj" fmla="val 15789"/>
            </a:avLst>
          </a:prstGeom>
          <a:solidFill>
            <a:srgbClr val="EDE9FE"/>
          </a:solidFill>
          <a:ln w="12700">
            <a:solidFill>
              <a:srgbClr val="7C3AED"/>
            </a:solidFill>
            <a:prstDash val="solid"/>
          </a:ln>
        </p:spPr>
      </p:sp>
      <p:sp>
        <p:nvSpPr>
          <p:cNvPr id="42" name="Text 40"/>
          <p:cNvSpPr/>
          <p:nvPr/>
        </p:nvSpPr>
        <p:spPr>
          <a:xfrm>
            <a:off x="621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AI</a:t>
            </a:r>
            <a:endParaRPr lang="en-US" sz="850" dirty="0"/>
          </a:p>
        </p:txBody>
      </p:sp>
      <p:sp>
        <p:nvSpPr>
          <p:cNvPr id="43" name="Shape 41"/>
          <p:cNvSpPr/>
          <p:nvPr/>
        </p:nvSpPr>
        <p:spPr>
          <a:xfrm>
            <a:off x="1554480" y="6089904"/>
            <a:ext cx="173736" cy="173736"/>
          </a:xfrm>
          <a:prstGeom prst="roundRect">
            <a:avLst>
              <a:gd name="adj" fmla="val 15789"/>
            </a:avLst>
          </a:prstGeom>
          <a:solidFill>
            <a:srgbClr val="DBEAFE"/>
          </a:solidFill>
          <a:ln w="12700">
            <a:solidFill>
              <a:srgbClr val="2563EB"/>
            </a:solidFill>
            <a:prstDash val="solid"/>
          </a:ln>
        </p:spPr>
      </p:sp>
      <p:sp>
        <p:nvSpPr>
          <p:cNvPr id="44" name="Text 42"/>
          <p:cNvSpPr/>
          <p:nvPr/>
        </p:nvSpPr>
        <p:spPr>
          <a:xfrm>
            <a:off x="1764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Automatic</a:t>
            </a:r>
            <a:endParaRPr lang="en-US" sz="850" dirty="0"/>
          </a:p>
        </p:txBody>
      </p:sp>
      <p:sp>
        <p:nvSpPr>
          <p:cNvPr id="45" name="Shape 43"/>
          <p:cNvSpPr/>
          <p:nvPr/>
        </p:nvSpPr>
        <p:spPr>
          <a:xfrm>
            <a:off x="2697480" y="6089904"/>
            <a:ext cx="173736" cy="173736"/>
          </a:xfrm>
          <a:prstGeom prst="roundRect">
            <a:avLst>
              <a:gd name="adj" fmla="val 15789"/>
            </a:avLst>
          </a:prstGeom>
          <a:solidFill>
            <a:srgbClr val="FEF3C7"/>
          </a:solidFill>
          <a:ln w="12700">
            <a:solidFill>
              <a:srgbClr val="D97706"/>
            </a:solidFill>
            <a:prstDash val="solid"/>
          </a:ln>
        </p:spPr>
      </p:sp>
      <p:sp>
        <p:nvSpPr>
          <p:cNvPr id="46" name="Text 44"/>
          <p:cNvSpPr/>
          <p:nvPr/>
        </p:nvSpPr>
        <p:spPr>
          <a:xfrm>
            <a:off x="2907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Human</a:t>
            </a:r>
            <a:endParaRPr lang="en-US" sz="850" dirty="0"/>
          </a:p>
        </p:txBody>
      </p:sp>
      <p:sp>
        <p:nvSpPr>
          <p:cNvPr id="47" name="Shape 45"/>
          <p:cNvSpPr/>
          <p:nvPr/>
        </p:nvSpPr>
        <p:spPr>
          <a:xfrm>
            <a:off x="3840480" y="6089904"/>
            <a:ext cx="173736" cy="173736"/>
          </a:xfrm>
          <a:prstGeom prst="roundRect">
            <a:avLst>
              <a:gd name="adj" fmla="val 15789"/>
            </a:avLst>
          </a:prstGeom>
          <a:solidFill>
            <a:srgbClr val="D1FAE5"/>
          </a:solidFill>
          <a:ln w="12700">
            <a:solidFill>
              <a:srgbClr val="059669"/>
            </a:solidFill>
            <a:prstDash val="solid"/>
          </a:ln>
        </p:spPr>
      </p:sp>
      <p:sp>
        <p:nvSpPr>
          <p:cNvPr id="48" name="Text 46"/>
          <p:cNvSpPr/>
          <p:nvPr/>
        </p:nvSpPr>
        <p:spPr>
          <a:xfrm>
            <a:off x="4050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Verified</a:t>
            </a:r>
            <a:endParaRPr lang="en-US" sz="850" dirty="0"/>
          </a:p>
        </p:txBody>
      </p:sp>
      <p:sp>
        <p:nvSpPr>
          <p:cNvPr id="49" name="Text 47"/>
          <p:cNvSpPr/>
          <p:nvPr/>
        </p:nvSpPr>
        <p:spPr>
          <a:xfrm>
            <a:off x="5120640" y="6025896"/>
            <a:ext cx="6675120" cy="292608"/>
          </a:xfrm>
          <a:prstGeom prst="rect">
            <a:avLst/>
          </a:prstGeom>
          <a:noFill/>
          <a:ln/>
        </p:spPr>
        <p:txBody>
          <a:bodyPr wrap="square" rtlCol="0" anchor="ctr"/>
          <a:lstStyle/>
          <a:p>
            <a:pPr algn="r" indent="0" marL="0">
              <a:buNone/>
            </a:pPr>
            <a:r>
              <a:rPr lang="en-US" sz="1050" b="1" dirty="0">
                <a:solidFill>
                  <a:srgbClr val="7C3AED"/>
                </a:solidFill>
                <a:latin typeface="Inter" pitchFamily="34" charset="0"/>
                <a:ea typeface="Inter" pitchFamily="34" charset="-122"/>
                <a:cs typeface="Inter" pitchFamily="34" charset="-120"/>
              </a:rPr>
              <a:t>Reactive firefighting → scheduled maintenance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1060704"/>
          </a:xfrm>
          <a:prstGeom prst="rect">
            <a:avLst/>
          </a:prstGeom>
          <a:solidFill>
            <a:srgbClr val="0F172A"/>
          </a:solidFill>
          <a:ln/>
        </p:spPr>
      </p:sp>
      <p:sp>
        <p:nvSpPr>
          <p:cNvPr id="3" name="Text 1"/>
          <p:cNvSpPr/>
          <p:nvPr/>
        </p:nvSpPr>
        <p:spPr>
          <a:xfrm>
            <a:off x="411480" y="118872"/>
            <a:ext cx="4572000" cy="219456"/>
          </a:xfrm>
          <a:prstGeom prst="rect">
            <a:avLst/>
          </a:prstGeom>
          <a:noFill/>
          <a:ln/>
        </p:spPr>
        <p:txBody>
          <a:bodyPr wrap="square" rtlCol="0" anchor="ctr"/>
          <a:lstStyle/>
          <a:p>
            <a:pPr indent="0" marL="0">
              <a:buNone/>
            </a:pPr>
            <a:r>
              <a:rPr lang="en-US" sz="1000" b="1" spc="220" kern="0" dirty="0">
                <a:solidFill>
                  <a:srgbClr val="0891B2"/>
                </a:solidFill>
                <a:latin typeface="Inter" pitchFamily="34" charset="0"/>
                <a:ea typeface="Inter" pitchFamily="34" charset="-122"/>
                <a:cs typeface="Inter" pitchFamily="34" charset="-120"/>
              </a:rPr>
              <a:t>TCS AGENTIC AI</a:t>
            </a:r>
            <a:endParaRPr lang="en-US" sz="1000" dirty="0"/>
          </a:p>
        </p:txBody>
      </p:sp>
      <p:sp>
        <p:nvSpPr>
          <p:cNvPr id="4" name="Text 2"/>
          <p:cNvSpPr/>
          <p:nvPr/>
        </p:nvSpPr>
        <p:spPr>
          <a:xfrm>
            <a:off x="411480" y="329184"/>
            <a:ext cx="9692640" cy="402336"/>
          </a:xfrm>
          <a:prstGeom prst="rect">
            <a:avLst/>
          </a:prstGeom>
          <a:noFill/>
          <a:ln/>
        </p:spPr>
        <p:txBody>
          <a:bodyPr wrap="square" rtlCol="0" anchor="ctr"/>
          <a:lstStyle/>
          <a:p>
            <a:pPr indent="0" marL="0">
              <a:buNone/>
            </a:pPr>
            <a:r>
              <a:rPr lang="en-US" sz="2300" b="1" dirty="0">
                <a:solidFill>
                  <a:srgbClr val="FFFFFF"/>
                </a:solidFill>
                <a:latin typeface="Inter" pitchFamily="34" charset="0"/>
                <a:ea typeface="Inter" pitchFamily="34" charset="-122"/>
                <a:cs typeface="Inter" pitchFamily="34" charset="-120"/>
              </a:rPr>
              <a:t>Security &amp; Compliance Agent</a:t>
            </a:r>
            <a:endParaRPr lang="en-US" sz="2300" dirty="0"/>
          </a:p>
        </p:txBody>
      </p:sp>
      <p:sp>
        <p:nvSpPr>
          <p:cNvPr id="5" name="Text 3"/>
          <p:cNvSpPr/>
          <p:nvPr/>
        </p:nvSpPr>
        <p:spPr>
          <a:xfrm>
            <a:off x="411480" y="749808"/>
            <a:ext cx="9692640" cy="256032"/>
          </a:xfrm>
          <a:prstGeom prst="rect">
            <a:avLst/>
          </a:prstGeom>
          <a:noFill/>
          <a:ln/>
        </p:spPr>
        <p:txBody>
          <a:bodyPr wrap="square" rtlCol="0" anchor="ctr"/>
          <a:lstStyle/>
          <a:p>
            <a:pPr indent="0" marL="0">
              <a:buNone/>
            </a:pPr>
            <a:r>
              <a:rPr lang="en-US" sz="1050" i="1" dirty="0">
                <a:solidFill>
                  <a:srgbClr val="94A3B8"/>
                </a:solidFill>
                <a:latin typeface="Inter" pitchFamily="34" charset="0"/>
                <a:ea typeface="Inter" pitchFamily="34" charset="-122"/>
                <a:cs typeface="Inter" pitchFamily="34" charset="-120"/>
              </a:rPr>
              <a:t>Security &amp; compliance governance — continuous posture assessment, not a quarterly audit</a:t>
            </a:r>
            <a:endParaRPr lang="en-US" sz="1050" dirty="0"/>
          </a:p>
        </p:txBody>
      </p:sp>
      <p:sp>
        <p:nvSpPr>
          <p:cNvPr id="6" name="Text 4"/>
          <p:cNvSpPr/>
          <p:nvPr/>
        </p:nvSpPr>
        <p:spPr>
          <a:xfrm>
            <a:off x="10561320" y="310896"/>
            <a:ext cx="1234440" cy="365760"/>
          </a:xfrm>
          <a:prstGeom prst="rect">
            <a:avLst>
              <a:gd name="adj" fmla="val 12500"/>
            </a:avLst>
          </a:prstGeom>
          <a:solidFill>
            <a:srgbClr val="2563EB"/>
          </a:solid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UC-04</a:t>
            </a:r>
            <a:endParaRPr lang="en-US" sz="1500" dirty="0"/>
          </a:p>
        </p:txBody>
      </p:sp>
      <p:sp>
        <p:nvSpPr>
          <p:cNvPr id="7" name="Text 5"/>
          <p:cNvSpPr/>
          <p:nvPr/>
        </p:nvSpPr>
        <p:spPr>
          <a:xfrm>
            <a:off x="411480" y="1188720"/>
            <a:ext cx="3657600" cy="182880"/>
          </a:xfrm>
          <a:prstGeom prst="rect">
            <a:avLst/>
          </a:prstGeom>
          <a:noFill/>
          <a:ln/>
        </p:spPr>
        <p:txBody>
          <a:bodyPr wrap="square" rtlCol="0" anchor="ctr"/>
          <a:lstStyle/>
          <a:p>
            <a:pPr indent="0" marL="0">
              <a:buNone/>
            </a:pPr>
            <a:r>
              <a:rPr lang="en-US" sz="850" b="1" spc="140" kern="0" dirty="0">
                <a:solidFill>
                  <a:srgbClr val="64748B"/>
                </a:solidFill>
                <a:latin typeface="Inter" pitchFamily="34" charset="0"/>
                <a:ea typeface="Inter" pitchFamily="34" charset="-122"/>
                <a:cs typeface="Inter" pitchFamily="34" charset="-120"/>
              </a:rPr>
              <a:t>USE CASE DESCRIPTION</a:t>
            </a:r>
            <a:endParaRPr lang="en-US" sz="850" dirty="0"/>
          </a:p>
        </p:txBody>
      </p:sp>
      <p:sp>
        <p:nvSpPr>
          <p:cNvPr id="8" name="Text 6"/>
          <p:cNvSpPr/>
          <p:nvPr/>
        </p:nvSpPr>
        <p:spPr>
          <a:xfrm>
            <a:off x="411480" y="1389888"/>
            <a:ext cx="11384280" cy="914400"/>
          </a:xfrm>
          <a:prstGeom prst="rect">
            <a:avLst/>
          </a:prstGeom>
          <a:noFill/>
          <a:ln/>
        </p:spPr>
        <p:txBody>
          <a:bodyPr wrap="square" rtlCol="0" anchor="t"/>
          <a:lstStyle/>
          <a:p>
            <a:pPr indent="0" marL="0">
              <a:lnSpc>
                <a:spcPct val="120000"/>
              </a:lnSpc>
              <a:buNone/>
            </a:pPr>
            <a:r>
              <a:rPr lang="en-US" sz="1200" dirty="0">
                <a:solidFill>
                  <a:srgbClr val="1E293B"/>
                </a:solidFill>
                <a:latin typeface="Inter" pitchFamily="34" charset="0"/>
                <a:ea typeface="Inter" pitchFamily="34" charset="-122"/>
                <a:cs typeface="Inter" pitchFamily="34" charset="-120"/>
              </a:rPr>
              <a:t>Continuous security posture across the fleet: CIS benchmark evaluation, image vulnerability scanning, RBAC audit and policy enforcement — run continuously and reported per namespace, so compliance is a live number rather than a point-in-time report that ages the moment it is produced.</a:t>
            </a:r>
            <a:endParaRPr lang="en-US" sz="1200" dirty="0"/>
          </a:p>
        </p:txBody>
      </p:sp>
      <p:sp>
        <p:nvSpPr>
          <p:cNvPr id="9" name="Text 7"/>
          <p:cNvSpPr/>
          <p:nvPr/>
        </p:nvSpPr>
        <p:spPr>
          <a:xfrm>
            <a:off x="411480" y="2176272"/>
            <a:ext cx="3657600" cy="201168"/>
          </a:xfrm>
          <a:prstGeom prst="rect">
            <a:avLst/>
          </a:prstGeom>
          <a:noFill/>
          <a:ln/>
        </p:spPr>
        <p:txBody>
          <a:bodyPr wrap="square" rtlCol="0" anchor="ctr"/>
          <a:lstStyle/>
          <a:p>
            <a:pPr indent="0" marL="0">
              <a:buNone/>
            </a:pPr>
            <a:r>
              <a:rPr lang="en-US" sz="850" b="1" spc="140" kern="0" dirty="0">
                <a:solidFill>
                  <a:srgbClr val="2563EB"/>
                </a:solidFill>
                <a:latin typeface="Inter" pitchFamily="34" charset="0"/>
                <a:ea typeface="Inter" pitchFamily="34" charset="-122"/>
                <a:cs typeface="Inter" pitchFamily="34" charset="-120"/>
              </a:rPr>
              <a:t>END-TO-END WORKFLOW</a:t>
            </a:r>
            <a:endParaRPr lang="en-US" sz="850" dirty="0"/>
          </a:p>
        </p:txBody>
      </p:sp>
      <p:sp>
        <p:nvSpPr>
          <p:cNvPr id="10" name="Text 8"/>
          <p:cNvSpPr/>
          <p:nvPr/>
        </p:nvSpPr>
        <p:spPr>
          <a:xfrm>
            <a:off x="411480" y="2395728"/>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DISCOVER &amp; SCAN</a:t>
            </a:r>
            <a:endParaRPr lang="en-US" sz="900" dirty="0"/>
          </a:p>
        </p:txBody>
      </p:sp>
      <p:sp>
        <p:nvSpPr>
          <p:cNvPr id="11" name="Shape 9"/>
          <p:cNvSpPr/>
          <p:nvPr/>
        </p:nvSpPr>
        <p:spPr>
          <a:xfrm>
            <a:off x="411480" y="2569464"/>
            <a:ext cx="2640330" cy="749808"/>
          </a:xfrm>
          <a:prstGeom prst="roundRect">
            <a:avLst>
              <a:gd name="adj" fmla="val 8537"/>
            </a:avLst>
          </a:prstGeom>
          <a:solidFill>
            <a:srgbClr val="DBEAFE"/>
          </a:solidFill>
          <a:ln w="19050">
            <a:solidFill>
              <a:srgbClr val="2563EB"/>
            </a:solidFill>
            <a:prstDash val="solid"/>
          </a:ln>
        </p:spPr>
      </p:sp>
      <p:sp>
        <p:nvSpPr>
          <p:cNvPr id="12" name="Text 10"/>
          <p:cNvSpPr/>
          <p:nvPr/>
        </p:nvSpPr>
        <p:spPr>
          <a:xfrm>
            <a:off x="466344" y="2636947"/>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Discovery</a:t>
            </a:r>
            <a:endParaRPr lang="en-US" sz="1050" dirty="0"/>
          </a:p>
        </p:txBody>
      </p:sp>
      <p:sp>
        <p:nvSpPr>
          <p:cNvPr id="13" name="Text 11"/>
          <p:cNvSpPr/>
          <p:nvPr/>
        </p:nvSpPr>
        <p:spPr>
          <a:xfrm>
            <a:off x="466344" y="2944368"/>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workloads · images · roles</a:t>
            </a:r>
            <a:endParaRPr lang="en-US" sz="850" dirty="0"/>
          </a:p>
        </p:txBody>
      </p:sp>
      <p:sp>
        <p:nvSpPr>
          <p:cNvPr id="14" name="Text 12"/>
          <p:cNvSpPr/>
          <p:nvPr/>
        </p:nvSpPr>
        <p:spPr>
          <a:xfrm>
            <a:off x="305181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5" name="Shape 13"/>
          <p:cNvSpPr/>
          <p:nvPr/>
        </p:nvSpPr>
        <p:spPr>
          <a:xfrm>
            <a:off x="3326130" y="2569464"/>
            <a:ext cx="2640330" cy="749808"/>
          </a:xfrm>
          <a:prstGeom prst="roundRect">
            <a:avLst>
              <a:gd name="adj" fmla="val 8537"/>
            </a:avLst>
          </a:prstGeom>
          <a:solidFill>
            <a:srgbClr val="DBEAFE"/>
          </a:solidFill>
          <a:ln w="19050">
            <a:solidFill>
              <a:srgbClr val="2563EB"/>
            </a:solidFill>
            <a:prstDash val="solid"/>
          </a:ln>
        </p:spPr>
      </p:sp>
      <p:sp>
        <p:nvSpPr>
          <p:cNvPr id="16" name="Text 14"/>
          <p:cNvSpPr/>
          <p:nvPr/>
        </p:nvSpPr>
        <p:spPr>
          <a:xfrm>
            <a:off x="3380994" y="2636947"/>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CIS benchmark</a:t>
            </a:r>
            <a:endParaRPr lang="en-US" sz="1050" dirty="0"/>
          </a:p>
        </p:txBody>
      </p:sp>
      <p:sp>
        <p:nvSpPr>
          <p:cNvPr id="17" name="Text 15"/>
          <p:cNvSpPr/>
          <p:nvPr/>
        </p:nvSpPr>
        <p:spPr>
          <a:xfrm>
            <a:off x="3380994" y="2944368"/>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control-by-control evaluation</a:t>
            </a:r>
            <a:endParaRPr lang="en-US" sz="850" dirty="0"/>
          </a:p>
        </p:txBody>
      </p:sp>
      <p:sp>
        <p:nvSpPr>
          <p:cNvPr id="18" name="Text 16"/>
          <p:cNvSpPr/>
          <p:nvPr/>
        </p:nvSpPr>
        <p:spPr>
          <a:xfrm>
            <a:off x="596646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9" name="Shape 17"/>
          <p:cNvSpPr/>
          <p:nvPr/>
        </p:nvSpPr>
        <p:spPr>
          <a:xfrm>
            <a:off x="6240780" y="2569464"/>
            <a:ext cx="2640330" cy="749808"/>
          </a:xfrm>
          <a:prstGeom prst="roundRect">
            <a:avLst>
              <a:gd name="adj" fmla="val 8537"/>
            </a:avLst>
          </a:prstGeom>
          <a:solidFill>
            <a:srgbClr val="DBEAFE"/>
          </a:solidFill>
          <a:ln w="19050">
            <a:solidFill>
              <a:srgbClr val="2563EB"/>
            </a:solidFill>
            <a:prstDash val="solid"/>
          </a:ln>
        </p:spPr>
      </p:sp>
      <p:sp>
        <p:nvSpPr>
          <p:cNvPr id="20" name="Text 18"/>
          <p:cNvSpPr/>
          <p:nvPr/>
        </p:nvSpPr>
        <p:spPr>
          <a:xfrm>
            <a:off x="6295644" y="2636947"/>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Image CVE scan</a:t>
            </a:r>
            <a:endParaRPr lang="en-US" sz="1050" dirty="0"/>
          </a:p>
        </p:txBody>
      </p:sp>
      <p:sp>
        <p:nvSpPr>
          <p:cNvPr id="21" name="Text 19"/>
          <p:cNvSpPr/>
          <p:nvPr/>
        </p:nvSpPr>
        <p:spPr>
          <a:xfrm>
            <a:off x="6295644" y="2944368"/>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critical · high · fixable</a:t>
            </a:r>
            <a:endParaRPr lang="en-US" sz="850" dirty="0"/>
          </a:p>
        </p:txBody>
      </p:sp>
      <p:sp>
        <p:nvSpPr>
          <p:cNvPr id="22" name="Text 20"/>
          <p:cNvSpPr/>
          <p:nvPr/>
        </p:nvSpPr>
        <p:spPr>
          <a:xfrm>
            <a:off x="888111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3" name="Shape 21"/>
          <p:cNvSpPr/>
          <p:nvPr/>
        </p:nvSpPr>
        <p:spPr>
          <a:xfrm>
            <a:off x="9155430" y="2569464"/>
            <a:ext cx="2640330" cy="749808"/>
          </a:xfrm>
          <a:prstGeom prst="roundRect">
            <a:avLst>
              <a:gd name="adj" fmla="val 8537"/>
            </a:avLst>
          </a:prstGeom>
          <a:solidFill>
            <a:srgbClr val="DBEAFE"/>
          </a:solidFill>
          <a:ln w="19050">
            <a:solidFill>
              <a:srgbClr val="2563EB"/>
            </a:solidFill>
            <a:prstDash val="solid"/>
          </a:ln>
        </p:spPr>
      </p:sp>
      <p:sp>
        <p:nvSpPr>
          <p:cNvPr id="24" name="Text 22"/>
          <p:cNvSpPr/>
          <p:nvPr/>
        </p:nvSpPr>
        <p:spPr>
          <a:xfrm>
            <a:off x="9210294" y="2636947"/>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RBAC audit</a:t>
            </a:r>
            <a:endParaRPr lang="en-US" sz="1050" dirty="0"/>
          </a:p>
        </p:txBody>
      </p:sp>
      <p:sp>
        <p:nvSpPr>
          <p:cNvPr id="25" name="Text 23"/>
          <p:cNvSpPr/>
          <p:nvPr/>
        </p:nvSpPr>
        <p:spPr>
          <a:xfrm>
            <a:off x="9210294" y="2944368"/>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over-privilege, orphaned bindings</a:t>
            </a:r>
            <a:endParaRPr lang="en-US" sz="850" dirty="0"/>
          </a:p>
        </p:txBody>
      </p:sp>
      <p:sp>
        <p:nvSpPr>
          <p:cNvPr id="26" name="Text 24"/>
          <p:cNvSpPr/>
          <p:nvPr/>
        </p:nvSpPr>
        <p:spPr>
          <a:xfrm>
            <a:off x="411480" y="3438144"/>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EXPLAIN &amp; DECIDE</a:t>
            </a:r>
            <a:endParaRPr lang="en-US" sz="900" dirty="0"/>
          </a:p>
        </p:txBody>
      </p:sp>
      <p:sp>
        <p:nvSpPr>
          <p:cNvPr id="27" name="Shape 25"/>
          <p:cNvSpPr/>
          <p:nvPr/>
        </p:nvSpPr>
        <p:spPr>
          <a:xfrm>
            <a:off x="411480" y="3611880"/>
            <a:ext cx="2640330" cy="749808"/>
          </a:xfrm>
          <a:prstGeom prst="roundRect">
            <a:avLst>
              <a:gd name="adj" fmla="val 8537"/>
            </a:avLst>
          </a:prstGeom>
          <a:solidFill>
            <a:srgbClr val="EDE9FE"/>
          </a:solidFill>
          <a:ln w="19050">
            <a:solidFill>
              <a:srgbClr val="7C3AED"/>
            </a:solidFill>
            <a:prstDash val="solid"/>
          </a:ln>
        </p:spPr>
      </p:sp>
      <p:sp>
        <p:nvSpPr>
          <p:cNvPr id="28" name="Text 26"/>
          <p:cNvSpPr/>
          <p:nvPr/>
        </p:nvSpPr>
        <p:spPr>
          <a:xfrm>
            <a:off x="466344" y="3679363"/>
            <a:ext cx="2530602" cy="314919"/>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Findings explained</a:t>
            </a:r>
            <a:endParaRPr lang="en-US" sz="1050" dirty="0"/>
          </a:p>
        </p:txBody>
      </p:sp>
      <p:sp>
        <p:nvSpPr>
          <p:cNvPr id="29" name="Text 27"/>
          <p:cNvSpPr/>
          <p:nvPr/>
        </p:nvSpPr>
        <p:spPr>
          <a:xfrm>
            <a:off x="466344" y="3986784"/>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why it matters, what to change</a:t>
            </a:r>
            <a:endParaRPr lang="en-US" sz="850" dirty="0"/>
          </a:p>
        </p:txBody>
      </p:sp>
      <p:sp>
        <p:nvSpPr>
          <p:cNvPr id="30" name="Text 28"/>
          <p:cNvSpPr/>
          <p:nvPr/>
        </p:nvSpPr>
        <p:spPr>
          <a:xfrm>
            <a:off x="3051810" y="385876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1" name="Shape 29"/>
          <p:cNvSpPr/>
          <p:nvPr/>
        </p:nvSpPr>
        <p:spPr>
          <a:xfrm>
            <a:off x="3326130" y="3611880"/>
            <a:ext cx="2640330" cy="749808"/>
          </a:xfrm>
          <a:prstGeom prst="roundRect">
            <a:avLst>
              <a:gd name="adj" fmla="val 8537"/>
            </a:avLst>
          </a:prstGeom>
          <a:solidFill>
            <a:srgbClr val="DBEAFE"/>
          </a:solidFill>
          <a:ln w="19050">
            <a:solidFill>
              <a:srgbClr val="2563EB"/>
            </a:solidFill>
            <a:prstDash val="solid"/>
          </a:ln>
        </p:spPr>
      </p:sp>
      <p:sp>
        <p:nvSpPr>
          <p:cNvPr id="32" name="Text 30"/>
          <p:cNvSpPr/>
          <p:nvPr/>
        </p:nvSpPr>
        <p:spPr>
          <a:xfrm>
            <a:off x="3380994" y="3679363"/>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Policy enforcement</a:t>
            </a:r>
            <a:endParaRPr lang="en-US" sz="1050" dirty="0"/>
          </a:p>
        </p:txBody>
      </p:sp>
      <p:sp>
        <p:nvSpPr>
          <p:cNvPr id="33" name="Text 31"/>
          <p:cNvSpPr/>
          <p:nvPr/>
        </p:nvSpPr>
        <p:spPr>
          <a:xfrm>
            <a:off x="3380994" y="3986784"/>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admission and guardrails</a:t>
            </a:r>
            <a:endParaRPr lang="en-US" sz="850" dirty="0"/>
          </a:p>
        </p:txBody>
      </p:sp>
      <p:sp>
        <p:nvSpPr>
          <p:cNvPr id="34" name="Text 32"/>
          <p:cNvSpPr/>
          <p:nvPr/>
        </p:nvSpPr>
        <p:spPr>
          <a:xfrm>
            <a:off x="5966460" y="385876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5" name="Shape 33"/>
          <p:cNvSpPr/>
          <p:nvPr/>
        </p:nvSpPr>
        <p:spPr>
          <a:xfrm>
            <a:off x="6240780" y="3611880"/>
            <a:ext cx="2640330" cy="749808"/>
          </a:xfrm>
          <a:prstGeom prst="roundRect">
            <a:avLst>
              <a:gd name="adj" fmla="val 8537"/>
            </a:avLst>
          </a:prstGeom>
          <a:solidFill>
            <a:srgbClr val="FEF3C7"/>
          </a:solidFill>
          <a:ln w="19050">
            <a:solidFill>
              <a:srgbClr val="D97706"/>
            </a:solidFill>
            <a:prstDash val="solid"/>
          </a:ln>
        </p:spPr>
      </p:sp>
      <p:sp>
        <p:nvSpPr>
          <p:cNvPr id="36" name="Text 34"/>
          <p:cNvSpPr/>
          <p:nvPr/>
        </p:nvSpPr>
        <p:spPr>
          <a:xfrm>
            <a:off x="6295644" y="3679363"/>
            <a:ext cx="2530602" cy="314919"/>
          </a:xfrm>
          <a:prstGeom prst="rect">
            <a:avLst/>
          </a:prstGeom>
          <a:noFill/>
          <a:ln/>
        </p:spPr>
        <p:txBody>
          <a:bodyPr wrap="square" rtlCol="0" anchor="ctr"/>
          <a:lstStyle/>
          <a:p>
            <a:pPr algn="ctr" indent="0" marL="0">
              <a:buNone/>
            </a:pPr>
            <a:r>
              <a:rPr lang="en-US" sz="1050" b="1" dirty="0">
                <a:solidFill>
                  <a:srgbClr val="92400E"/>
                </a:solidFill>
                <a:latin typeface="Inter" pitchFamily="34" charset="0"/>
                <a:ea typeface="Inter" pitchFamily="34" charset="-122"/>
                <a:cs typeface="Inter" pitchFamily="34" charset="-120"/>
              </a:rPr>
              <a:t>👤 Remediation approved</a:t>
            </a:r>
            <a:endParaRPr lang="en-US" sz="1050" dirty="0"/>
          </a:p>
        </p:txBody>
      </p:sp>
      <p:sp>
        <p:nvSpPr>
          <p:cNvPr id="37" name="Text 35"/>
          <p:cNvSpPr/>
          <p:nvPr/>
        </p:nvSpPr>
        <p:spPr>
          <a:xfrm>
            <a:off x="6295644" y="3986784"/>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the operator decides</a:t>
            </a:r>
            <a:endParaRPr lang="en-US" sz="850" dirty="0"/>
          </a:p>
        </p:txBody>
      </p:sp>
      <p:sp>
        <p:nvSpPr>
          <p:cNvPr id="38" name="Text 36"/>
          <p:cNvSpPr/>
          <p:nvPr/>
        </p:nvSpPr>
        <p:spPr>
          <a:xfrm>
            <a:off x="8881110" y="385876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9" name="Shape 37"/>
          <p:cNvSpPr/>
          <p:nvPr/>
        </p:nvSpPr>
        <p:spPr>
          <a:xfrm>
            <a:off x="9155430" y="3611880"/>
            <a:ext cx="2640330" cy="749808"/>
          </a:xfrm>
          <a:prstGeom prst="roundRect">
            <a:avLst>
              <a:gd name="adj" fmla="val 8537"/>
            </a:avLst>
          </a:prstGeom>
          <a:solidFill>
            <a:srgbClr val="D1FAE5"/>
          </a:solidFill>
          <a:ln w="19050">
            <a:solidFill>
              <a:srgbClr val="059669"/>
            </a:solidFill>
            <a:prstDash val="solid"/>
          </a:ln>
        </p:spPr>
      </p:sp>
      <p:sp>
        <p:nvSpPr>
          <p:cNvPr id="40" name="Text 38"/>
          <p:cNvSpPr/>
          <p:nvPr/>
        </p:nvSpPr>
        <p:spPr>
          <a:xfrm>
            <a:off x="9210294" y="3679363"/>
            <a:ext cx="2530602" cy="314919"/>
          </a:xfrm>
          <a:prstGeom prst="rect">
            <a:avLst/>
          </a:prstGeom>
          <a:noFill/>
          <a:ln/>
        </p:spPr>
        <p:txBody>
          <a:bodyPr wrap="square" rtlCol="0" anchor="ctr"/>
          <a:lstStyle/>
          <a:p>
            <a:pPr algn="ctr" indent="0" marL="0">
              <a:buNone/>
            </a:pPr>
            <a:r>
              <a:rPr lang="en-US" sz="1050" b="1" dirty="0">
                <a:solidFill>
                  <a:srgbClr val="065F46"/>
                </a:solidFill>
                <a:latin typeface="Inter" pitchFamily="34" charset="0"/>
                <a:ea typeface="Inter" pitchFamily="34" charset="-122"/>
                <a:cs typeface="Inter" pitchFamily="34" charset="-120"/>
              </a:rPr>
              <a:t>✅ Posture re-verified</a:t>
            </a:r>
            <a:endParaRPr lang="en-US" sz="1050" dirty="0"/>
          </a:p>
        </p:txBody>
      </p:sp>
      <p:sp>
        <p:nvSpPr>
          <p:cNvPr id="41" name="Text 39"/>
          <p:cNvSpPr/>
          <p:nvPr/>
        </p:nvSpPr>
        <p:spPr>
          <a:xfrm>
            <a:off x="9210294" y="3986784"/>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the number moves</a:t>
            </a:r>
            <a:endParaRPr lang="en-US" sz="850" dirty="0"/>
          </a:p>
        </p:txBody>
      </p:sp>
      <p:sp>
        <p:nvSpPr>
          <p:cNvPr id="42" name="Shape 40"/>
          <p:cNvSpPr/>
          <p:nvPr/>
        </p:nvSpPr>
        <p:spPr>
          <a:xfrm>
            <a:off x="411480" y="6089904"/>
            <a:ext cx="173736" cy="173736"/>
          </a:xfrm>
          <a:prstGeom prst="roundRect">
            <a:avLst>
              <a:gd name="adj" fmla="val 15789"/>
            </a:avLst>
          </a:prstGeom>
          <a:solidFill>
            <a:srgbClr val="EDE9FE"/>
          </a:solidFill>
          <a:ln w="12700">
            <a:solidFill>
              <a:srgbClr val="7C3AED"/>
            </a:solidFill>
            <a:prstDash val="solid"/>
          </a:ln>
        </p:spPr>
      </p:sp>
      <p:sp>
        <p:nvSpPr>
          <p:cNvPr id="43" name="Text 41"/>
          <p:cNvSpPr/>
          <p:nvPr/>
        </p:nvSpPr>
        <p:spPr>
          <a:xfrm>
            <a:off x="621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AI</a:t>
            </a:r>
            <a:endParaRPr lang="en-US" sz="850" dirty="0"/>
          </a:p>
        </p:txBody>
      </p:sp>
      <p:sp>
        <p:nvSpPr>
          <p:cNvPr id="44" name="Shape 42"/>
          <p:cNvSpPr/>
          <p:nvPr/>
        </p:nvSpPr>
        <p:spPr>
          <a:xfrm>
            <a:off x="1554480" y="6089904"/>
            <a:ext cx="173736" cy="173736"/>
          </a:xfrm>
          <a:prstGeom prst="roundRect">
            <a:avLst>
              <a:gd name="adj" fmla="val 15789"/>
            </a:avLst>
          </a:prstGeom>
          <a:solidFill>
            <a:srgbClr val="DBEAFE"/>
          </a:solidFill>
          <a:ln w="12700">
            <a:solidFill>
              <a:srgbClr val="2563EB"/>
            </a:solidFill>
            <a:prstDash val="solid"/>
          </a:ln>
        </p:spPr>
      </p:sp>
      <p:sp>
        <p:nvSpPr>
          <p:cNvPr id="45" name="Text 43"/>
          <p:cNvSpPr/>
          <p:nvPr/>
        </p:nvSpPr>
        <p:spPr>
          <a:xfrm>
            <a:off x="1764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Automatic</a:t>
            </a:r>
            <a:endParaRPr lang="en-US" sz="850" dirty="0"/>
          </a:p>
        </p:txBody>
      </p:sp>
      <p:sp>
        <p:nvSpPr>
          <p:cNvPr id="46" name="Shape 44"/>
          <p:cNvSpPr/>
          <p:nvPr/>
        </p:nvSpPr>
        <p:spPr>
          <a:xfrm>
            <a:off x="2697480" y="6089904"/>
            <a:ext cx="173736" cy="173736"/>
          </a:xfrm>
          <a:prstGeom prst="roundRect">
            <a:avLst>
              <a:gd name="adj" fmla="val 15789"/>
            </a:avLst>
          </a:prstGeom>
          <a:solidFill>
            <a:srgbClr val="FEF3C7"/>
          </a:solidFill>
          <a:ln w="12700">
            <a:solidFill>
              <a:srgbClr val="D97706"/>
            </a:solidFill>
            <a:prstDash val="solid"/>
          </a:ln>
        </p:spPr>
      </p:sp>
      <p:sp>
        <p:nvSpPr>
          <p:cNvPr id="47" name="Text 45"/>
          <p:cNvSpPr/>
          <p:nvPr/>
        </p:nvSpPr>
        <p:spPr>
          <a:xfrm>
            <a:off x="2907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Human</a:t>
            </a:r>
            <a:endParaRPr lang="en-US" sz="850" dirty="0"/>
          </a:p>
        </p:txBody>
      </p:sp>
      <p:sp>
        <p:nvSpPr>
          <p:cNvPr id="48" name="Shape 46"/>
          <p:cNvSpPr/>
          <p:nvPr/>
        </p:nvSpPr>
        <p:spPr>
          <a:xfrm>
            <a:off x="3840480" y="6089904"/>
            <a:ext cx="173736" cy="173736"/>
          </a:xfrm>
          <a:prstGeom prst="roundRect">
            <a:avLst>
              <a:gd name="adj" fmla="val 15789"/>
            </a:avLst>
          </a:prstGeom>
          <a:solidFill>
            <a:srgbClr val="D1FAE5"/>
          </a:solidFill>
          <a:ln w="12700">
            <a:solidFill>
              <a:srgbClr val="059669"/>
            </a:solidFill>
            <a:prstDash val="solid"/>
          </a:ln>
        </p:spPr>
      </p:sp>
      <p:sp>
        <p:nvSpPr>
          <p:cNvPr id="49" name="Text 47"/>
          <p:cNvSpPr/>
          <p:nvPr/>
        </p:nvSpPr>
        <p:spPr>
          <a:xfrm>
            <a:off x="4050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Verified</a:t>
            </a:r>
            <a:endParaRPr lang="en-US" sz="850" dirty="0"/>
          </a:p>
        </p:txBody>
      </p:sp>
      <p:sp>
        <p:nvSpPr>
          <p:cNvPr id="50" name="Text 48"/>
          <p:cNvSpPr/>
          <p:nvPr/>
        </p:nvSpPr>
        <p:spPr>
          <a:xfrm>
            <a:off x="5120640" y="6025896"/>
            <a:ext cx="6675120" cy="292608"/>
          </a:xfrm>
          <a:prstGeom prst="rect">
            <a:avLst/>
          </a:prstGeom>
          <a:noFill/>
          <a:ln/>
        </p:spPr>
        <p:txBody>
          <a:bodyPr wrap="square" rtlCol="0" anchor="ctr"/>
          <a:lstStyle/>
          <a:p>
            <a:pPr algn="r" indent="0" marL="0">
              <a:buNone/>
            </a:pPr>
            <a:r>
              <a:rPr lang="en-US" sz="1050" b="1" dirty="0">
                <a:solidFill>
                  <a:srgbClr val="DC2626"/>
                </a:solidFill>
                <a:latin typeface="Inter" pitchFamily="34" charset="0"/>
                <a:ea typeface="Inter" pitchFamily="34" charset="-122"/>
                <a:cs typeface="Inter" pitchFamily="34" charset="-120"/>
              </a:rPr>
              <a:t>Compliance as a live number</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1060704"/>
          </a:xfrm>
          <a:prstGeom prst="rect">
            <a:avLst/>
          </a:prstGeom>
          <a:solidFill>
            <a:srgbClr val="0F172A"/>
          </a:solidFill>
          <a:ln/>
        </p:spPr>
      </p:sp>
      <p:sp>
        <p:nvSpPr>
          <p:cNvPr id="3" name="Text 1"/>
          <p:cNvSpPr/>
          <p:nvPr/>
        </p:nvSpPr>
        <p:spPr>
          <a:xfrm>
            <a:off x="411480" y="118872"/>
            <a:ext cx="4572000" cy="219456"/>
          </a:xfrm>
          <a:prstGeom prst="rect">
            <a:avLst/>
          </a:prstGeom>
          <a:noFill/>
          <a:ln/>
        </p:spPr>
        <p:txBody>
          <a:bodyPr wrap="square" rtlCol="0" anchor="ctr"/>
          <a:lstStyle/>
          <a:p>
            <a:pPr indent="0" marL="0">
              <a:buNone/>
            </a:pPr>
            <a:r>
              <a:rPr lang="en-US" sz="1000" b="1" spc="220" kern="0" dirty="0">
                <a:solidFill>
                  <a:srgbClr val="0891B2"/>
                </a:solidFill>
                <a:latin typeface="Inter" pitchFamily="34" charset="0"/>
                <a:ea typeface="Inter" pitchFamily="34" charset="-122"/>
                <a:cs typeface="Inter" pitchFamily="34" charset="-120"/>
              </a:rPr>
              <a:t>TCS AGENTIC AI</a:t>
            </a:r>
            <a:endParaRPr lang="en-US" sz="1000" dirty="0"/>
          </a:p>
        </p:txBody>
      </p:sp>
      <p:sp>
        <p:nvSpPr>
          <p:cNvPr id="4" name="Text 2"/>
          <p:cNvSpPr/>
          <p:nvPr/>
        </p:nvSpPr>
        <p:spPr>
          <a:xfrm>
            <a:off x="411480" y="329184"/>
            <a:ext cx="9692640" cy="402336"/>
          </a:xfrm>
          <a:prstGeom prst="rect">
            <a:avLst/>
          </a:prstGeom>
          <a:noFill/>
          <a:ln/>
        </p:spPr>
        <p:txBody>
          <a:bodyPr wrap="square" rtlCol="0" anchor="ctr"/>
          <a:lstStyle/>
          <a:p>
            <a:pPr indent="0" marL="0">
              <a:buNone/>
            </a:pPr>
            <a:r>
              <a:rPr lang="en-US" sz="2300" b="1" dirty="0">
                <a:solidFill>
                  <a:srgbClr val="FFFFFF"/>
                </a:solidFill>
                <a:latin typeface="Inter" pitchFamily="34" charset="0"/>
                <a:ea typeface="Inter" pitchFamily="34" charset="-122"/>
                <a:cs typeface="Inter" pitchFamily="34" charset="-120"/>
              </a:rPr>
              <a:t>Container RCA Agent</a:t>
            </a:r>
            <a:endParaRPr lang="en-US" sz="2300" dirty="0"/>
          </a:p>
        </p:txBody>
      </p:sp>
      <p:sp>
        <p:nvSpPr>
          <p:cNvPr id="5" name="Text 3"/>
          <p:cNvSpPr/>
          <p:nvPr/>
        </p:nvSpPr>
        <p:spPr>
          <a:xfrm>
            <a:off x="411480" y="749808"/>
            <a:ext cx="9692640" cy="256032"/>
          </a:xfrm>
          <a:prstGeom prst="rect">
            <a:avLst/>
          </a:prstGeom>
          <a:noFill/>
          <a:ln/>
        </p:spPr>
        <p:txBody>
          <a:bodyPr wrap="square" rtlCol="0" anchor="ctr"/>
          <a:lstStyle/>
          <a:p>
            <a:pPr indent="0" marL="0">
              <a:buNone/>
            </a:pPr>
            <a:r>
              <a:rPr lang="en-US" sz="1050" i="1" dirty="0">
                <a:solidFill>
                  <a:srgbClr val="94A3B8"/>
                </a:solidFill>
                <a:latin typeface="Inter" pitchFamily="34" charset="0"/>
                <a:ea typeface="Inter" pitchFamily="34" charset="-122"/>
                <a:cs typeface="Inter" pitchFamily="34" charset="-120"/>
              </a:rPr>
              <a:t>Zero-Touch Incident Command — self-detecting · self-documenting · self-closing · self-reverting</a:t>
            </a:r>
            <a:endParaRPr lang="en-US" sz="1050" dirty="0"/>
          </a:p>
        </p:txBody>
      </p:sp>
      <p:sp>
        <p:nvSpPr>
          <p:cNvPr id="6" name="Text 4"/>
          <p:cNvSpPr/>
          <p:nvPr/>
        </p:nvSpPr>
        <p:spPr>
          <a:xfrm>
            <a:off x="10561320" y="310896"/>
            <a:ext cx="1234440" cy="365760"/>
          </a:xfrm>
          <a:prstGeom prst="rect">
            <a:avLst>
              <a:gd name="adj" fmla="val 12500"/>
            </a:avLst>
          </a:prstGeom>
          <a:solidFill>
            <a:srgbClr val="2563EB"/>
          </a:solid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UC-05</a:t>
            </a:r>
            <a:endParaRPr lang="en-US" sz="1500" dirty="0"/>
          </a:p>
        </p:txBody>
      </p:sp>
      <p:sp>
        <p:nvSpPr>
          <p:cNvPr id="7" name="Text 5"/>
          <p:cNvSpPr/>
          <p:nvPr/>
        </p:nvSpPr>
        <p:spPr>
          <a:xfrm>
            <a:off x="411480" y="1188720"/>
            <a:ext cx="3657600" cy="182880"/>
          </a:xfrm>
          <a:prstGeom prst="rect">
            <a:avLst/>
          </a:prstGeom>
          <a:noFill/>
          <a:ln/>
        </p:spPr>
        <p:txBody>
          <a:bodyPr wrap="square" rtlCol="0" anchor="ctr"/>
          <a:lstStyle/>
          <a:p>
            <a:pPr indent="0" marL="0">
              <a:buNone/>
            </a:pPr>
            <a:r>
              <a:rPr lang="en-US" sz="850" b="1" spc="140" kern="0" dirty="0">
                <a:solidFill>
                  <a:srgbClr val="64748B"/>
                </a:solidFill>
                <a:latin typeface="Inter" pitchFamily="34" charset="0"/>
                <a:ea typeface="Inter" pitchFamily="34" charset="-122"/>
                <a:cs typeface="Inter" pitchFamily="34" charset="-120"/>
              </a:rPr>
              <a:t>USE CASE DESCRIPTION</a:t>
            </a:r>
            <a:endParaRPr lang="en-US" sz="850" dirty="0"/>
          </a:p>
        </p:txBody>
      </p:sp>
      <p:sp>
        <p:nvSpPr>
          <p:cNvPr id="8" name="Text 6"/>
          <p:cNvSpPr/>
          <p:nvPr/>
        </p:nvSpPr>
        <p:spPr>
          <a:xfrm>
            <a:off x="411480" y="1389888"/>
            <a:ext cx="11384280" cy="914400"/>
          </a:xfrm>
          <a:prstGeom prst="rect">
            <a:avLst/>
          </a:prstGeom>
          <a:noFill/>
          <a:ln/>
        </p:spPr>
        <p:txBody>
          <a:bodyPr wrap="square" rtlCol="0" anchor="t"/>
          <a:lstStyle/>
          <a:p>
            <a:pPr indent="0" marL="0">
              <a:lnSpc>
                <a:spcPct val="120000"/>
              </a:lnSpc>
              <a:buNone/>
            </a:pPr>
            <a:r>
              <a:rPr lang="en-US" sz="1200" dirty="0">
                <a:solidFill>
                  <a:srgbClr val="1E293B"/>
                </a:solidFill>
                <a:latin typeface="Inter" pitchFamily="34" charset="0"/>
                <a:ea typeface="Inter" pitchFamily="34" charset="-122"/>
                <a:cs typeface="Inter" pitchFamily="34" charset="-120"/>
              </a:rPr>
              <a:t>The only agent-initiated use case: nothing triggers it, which is its entire point. It detects against industry-standard thresholds with dwell time, correlates N signals into one incident, determines root cause, raises the ticket, and — after one human decision — applies, verifies, documents and closes it. The same pipeline UC-01 exposes to a human question; here the agent’s own detection is the trigger, and it adds signal correlation, an RCA document and a revert ledger.</a:t>
            </a:r>
            <a:endParaRPr lang="en-US" sz="1200" dirty="0"/>
          </a:p>
        </p:txBody>
      </p:sp>
      <p:sp>
        <p:nvSpPr>
          <p:cNvPr id="9" name="Text 7"/>
          <p:cNvSpPr/>
          <p:nvPr/>
        </p:nvSpPr>
        <p:spPr>
          <a:xfrm>
            <a:off x="411480" y="2176272"/>
            <a:ext cx="3657600" cy="201168"/>
          </a:xfrm>
          <a:prstGeom prst="rect">
            <a:avLst/>
          </a:prstGeom>
          <a:noFill/>
          <a:ln/>
        </p:spPr>
        <p:txBody>
          <a:bodyPr wrap="square" rtlCol="0" anchor="ctr"/>
          <a:lstStyle/>
          <a:p>
            <a:pPr indent="0" marL="0">
              <a:buNone/>
            </a:pPr>
            <a:r>
              <a:rPr lang="en-US" sz="850" b="1" spc="140" kern="0" dirty="0">
                <a:solidFill>
                  <a:srgbClr val="2563EB"/>
                </a:solidFill>
                <a:latin typeface="Inter" pitchFamily="34" charset="0"/>
                <a:ea typeface="Inter" pitchFamily="34" charset="-122"/>
                <a:cs typeface="Inter" pitchFamily="34" charset="-120"/>
              </a:rPr>
              <a:t>END-TO-END WORKFLOW</a:t>
            </a:r>
            <a:endParaRPr lang="en-US" sz="850" dirty="0"/>
          </a:p>
        </p:txBody>
      </p:sp>
      <p:sp>
        <p:nvSpPr>
          <p:cNvPr id="10" name="Shape 8"/>
          <p:cNvSpPr/>
          <p:nvPr/>
        </p:nvSpPr>
        <p:spPr>
          <a:xfrm>
            <a:off x="411480" y="2395728"/>
            <a:ext cx="1668780" cy="749808"/>
          </a:xfrm>
          <a:prstGeom prst="roundRect">
            <a:avLst>
              <a:gd name="adj" fmla="val 8537"/>
            </a:avLst>
          </a:prstGeom>
          <a:solidFill>
            <a:srgbClr val="DBEAFE"/>
          </a:solidFill>
          <a:ln w="19050">
            <a:solidFill>
              <a:srgbClr val="2563EB"/>
            </a:solidFill>
            <a:prstDash val="solid"/>
          </a:ln>
        </p:spPr>
      </p:sp>
      <p:sp>
        <p:nvSpPr>
          <p:cNvPr id="11" name="Text 9"/>
          <p:cNvSpPr/>
          <p:nvPr/>
        </p:nvSpPr>
        <p:spPr>
          <a:xfrm>
            <a:off x="466344" y="2463211"/>
            <a:ext cx="15590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Detect</a:t>
            </a:r>
            <a:endParaRPr lang="en-US" sz="1050" dirty="0"/>
          </a:p>
        </p:txBody>
      </p:sp>
      <p:sp>
        <p:nvSpPr>
          <p:cNvPr id="12" name="Text 10"/>
          <p:cNvSpPr/>
          <p:nvPr/>
        </p:nvSpPr>
        <p:spPr>
          <a:xfrm>
            <a:off x="466344" y="2770632"/>
            <a:ext cx="15590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12 thresholds + dwell</a:t>
            </a:r>
            <a:endParaRPr lang="en-US" sz="850" dirty="0"/>
          </a:p>
        </p:txBody>
      </p:sp>
      <p:sp>
        <p:nvSpPr>
          <p:cNvPr id="13" name="Text 11"/>
          <p:cNvSpPr/>
          <p:nvPr/>
        </p:nvSpPr>
        <p:spPr>
          <a:xfrm>
            <a:off x="2080260" y="2642616"/>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4" name="Shape 12"/>
          <p:cNvSpPr/>
          <p:nvPr/>
        </p:nvSpPr>
        <p:spPr>
          <a:xfrm>
            <a:off x="2354580" y="2395728"/>
            <a:ext cx="1668780" cy="749808"/>
          </a:xfrm>
          <a:prstGeom prst="roundRect">
            <a:avLst>
              <a:gd name="adj" fmla="val 8537"/>
            </a:avLst>
          </a:prstGeom>
          <a:solidFill>
            <a:srgbClr val="DBEAFE"/>
          </a:solidFill>
          <a:ln w="19050">
            <a:solidFill>
              <a:srgbClr val="2563EB"/>
            </a:solidFill>
            <a:prstDash val="solid"/>
          </a:ln>
        </p:spPr>
      </p:sp>
      <p:sp>
        <p:nvSpPr>
          <p:cNvPr id="15" name="Text 13"/>
          <p:cNvSpPr/>
          <p:nvPr/>
        </p:nvSpPr>
        <p:spPr>
          <a:xfrm>
            <a:off x="2409444" y="2463211"/>
            <a:ext cx="15590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Correlate</a:t>
            </a:r>
            <a:endParaRPr lang="en-US" sz="1050" dirty="0"/>
          </a:p>
        </p:txBody>
      </p:sp>
      <p:sp>
        <p:nvSpPr>
          <p:cNvPr id="16" name="Text 14"/>
          <p:cNvSpPr/>
          <p:nvPr/>
        </p:nvSpPr>
        <p:spPr>
          <a:xfrm>
            <a:off x="2409444" y="2770632"/>
            <a:ext cx="15590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N signals → 1 incident</a:t>
            </a:r>
            <a:endParaRPr lang="en-US" sz="850" dirty="0"/>
          </a:p>
        </p:txBody>
      </p:sp>
      <p:sp>
        <p:nvSpPr>
          <p:cNvPr id="17" name="Text 15"/>
          <p:cNvSpPr/>
          <p:nvPr/>
        </p:nvSpPr>
        <p:spPr>
          <a:xfrm>
            <a:off x="4023360" y="2642616"/>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8" name="Shape 16"/>
          <p:cNvSpPr/>
          <p:nvPr/>
        </p:nvSpPr>
        <p:spPr>
          <a:xfrm>
            <a:off x="4297680" y="2395728"/>
            <a:ext cx="1668780" cy="749808"/>
          </a:xfrm>
          <a:prstGeom prst="roundRect">
            <a:avLst>
              <a:gd name="adj" fmla="val 8537"/>
            </a:avLst>
          </a:prstGeom>
          <a:solidFill>
            <a:srgbClr val="EDE9FE"/>
          </a:solidFill>
          <a:ln w="19050">
            <a:solidFill>
              <a:srgbClr val="7C3AED"/>
            </a:solidFill>
            <a:prstDash val="solid"/>
          </a:ln>
        </p:spPr>
      </p:sp>
      <p:sp>
        <p:nvSpPr>
          <p:cNvPr id="19" name="Text 17"/>
          <p:cNvSpPr/>
          <p:nvPr/>
        </p:nvSpPr>
        <p:spPr>
          <a:xfrm>
            <a:off x="4352544" y="2463211"/>
            <a:ext cx="1559052" cy="314919"/>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AI RCA</a:t>
            </a:r>
            <a:endParaRPr lang="en-US" sz="1050" dirty="0"/>
          </a:p>
        </p:txBody>
      </p:sp>
      <p:sp>
        <p:nvSpPr>
          <p:cNvPr id="20" name="Text 18"/>
          <p:cNvSpPr/>
          <p:nvPr/>
        </p:nvSpPr>
        <p:spPr>
          <a:xfrm>
            <a:off x="4352544" y="2770632"/>
            <a:ext cx="15590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evidence → narrative</a:t>
            </a:r>
            <a:endParaRPr lang="en-US" sz="850" dirty="0"/>
          </a:p>
        </p:txBody>
      </p:sp>
      <p:sp>
        <p:nvSpPr>
          <p:cNvPr id="21" name="Text 19"/>
          <p:cNvSpPr/>
          <p:nvPr/>
        </p:nvSpPr>
        <p:spPr>
          <a:xfrm>
            <a:off x="5966460" y="2642616"/>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2" name="Shape 20"/>
          <p:cNvSpPr/>
          <p:nvPr/>
        </p:nvSpPr>
        <p:spPr>
          <a:xfrm>
            <a:off x="6240780" y="2395728"/>
            <a:ext cx="1668780" cy="749808"/>
          </a:xfrm>
          <a:prstGeom prst="roundRect">
            <a:avLst>
              <a:gd name="adj" fmla="val 8537"/>
            </a:avLst>
          </a:prstGeom>
          <a:solidFill>
            <a:srgbClr val="DBEAFE"/>
          </a:solidFill>
          <a:ln w="19050">
            <a:solidFill>
              <a:srgbClr val="2563EB"/>
            </a:solidFill>
            <a:prstDash val="solid"/>
          </a:ln>
        </p:spPr>
      </p:sp>
      <p:sp>
        <p:nvSpPr>
          <p:cNvPr id="23" name="Text 21"/>
          <p:cNvSpPr/>
          <p:nvPr/>
        </p:nvSpPr>
        <p:spPr>
          <a:xfrm>
            <a:off x="6295644" y="2463211"/>
            <a:ext cx="15590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Raise INC</a:t>
            </a:r>
            <a:endParaRPr lang="en-US" sz="1050" dirty="0"/>
          </a:p>
        </p:txBody>
      </p:sp>
      <p:sp>
        <p:nvSpPr>
          <p:cNvPr id="24" name="Text 22"/>
          <p:cNvSpPr/>
          <p:nvPr/>
        </p:nvSpPr>
        <p:spPr>
          <a:xfrm>
            <a:off x="6295644" y="2770632"/>
            <a:ext cx="15590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reuse if already open</a:t>
            </a:r>
            <a:endParaRPr lang="en-US" sz="850" dirty="0"/>
          </a:p>
        </p:txBody>
      </p:sp>
      <p:sp>
        <p:nvSpPr>
          <p:cNvPr id="25" name="Text 23"/>
          <p:cNvSpPr/>
          <p:nvPr/>
        </p:nvSpPr>
        <p:spPr>
          <a:xfrm>
            <a:off x="7909560" y="2642616"/>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6" name="Shape 24"/>
          <p:cNvSpPr/>
          <p:nvPr/>
        </p:nvSpPr>
        <p:spPr>
          <a:xfrm>
            <a:off x="8183880" y="2395728"/>
            <a:ext cx="1668780" cy="749808"/>
          </a:xfrm>
          <a:prstGeom prst="roundRect">
            <a:avLst>
              <a:gd name="adj" fmla="val 8537"/>
            </a:avLst>
          </a:prstGeom>
          <a:solidFill>
            <a:srgbClr val="DBEAFE"/>
          </a:solidFill>
          <a:ln w="19050">
            <a:solidFill>
              <a:srgbClr val="2563EB"/>
            </a:solidFill>
            <a:prstDash val="solid"/>
          </a:ln>
        </p:spPr>
      </p:sp>
      <p:sp>
        <p:nvSpPr>
          <p:cNvPr id="27" name="Text 25"/>
          <p:cNvSpPr/>
          <p:nvPr/>
        </p:nvSpPr>
        <p:spPr>
          <a:xfrm>
            <a:off x="8238744" y="2463211"/>
            <a:ext cx="15590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Plan fix</a:t>
            </a:r>
            <a:endParaRPr lang="en-US" sz="1050" dirty="0"/>
          </a:p>
        </p:txBody>
      </p:sp>
      <p:sp>
        <p:nvSpPr>
          <p:cNvPr id="28" name="Text 26"/>
          <p:cNvSpPr/>
          <p:nvPr/>
        </p:nvSpPr>
        <p:spPr>
          <a:xfrm>
            <a:off x="8238744" y="2770632"/>
            <a:ext cx="15590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deterministic + guardrails</a:t>
            </a:r>
            <a:endParaRPr lang="en-US" sz="850" dirty="0"/>
          </a:p>
        </p:txBody>
      </p:sp>
      <p:sp>
        <p:nvSpPr>
          <p:cNvPr id="29" name="Text 27"/>
          <p:cNvSpPr/>
          <p:nvPr/>
        </p:nvSpPr>
        <p:spPr>
          <a:xfrm>
            <a:off x="9852660" y="2642616"/>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0" name="Shape 28"/>
          <p:cNvSpPr/>
          <p:nvPr/>
        </p:nvSpPr>
        <p:spPr>
          <a:xfrm>
            <a:off x="10126980" y="2395728"/>
            <a:ext cx="1668780" cy="749808"/>
          </a:xfrm>
          <a:prstGeom prst="roundRect">
            <a:avLst>
              <a:gd name="adj" fmla="val 8537"/>
            </a:avLst>
          </a:prstGeom>
          <a:solidFill>
            <a:srgbClr val="DBEAFE"/>
          </a:solidFill>
          <a:ln w="19050">
            <a:solidFill>
              <a:srgbClr val="2563EB"/>
            </a:solidFill>
            <a:prstDash val="solid"/>
          </a:ln>
        </p:spPr>
      </p:sp>
      <p:sp>
        <p:nvSpPr>
          <p:cNvPr id="31" name="Text 29"/>
          <p:cNvSpPr/>
          <p:nvPr/>
        </p:nvSpPr>
        <p:spPr>
          <a:xfrm>
            <a:off x="10181844" y="2463211"/>
            <a:ext cx="15590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Dry-run</a:t>
            </a:r>
            <a:endParaRPr lang="en-US" sz="1050" dirty="0"/>
          </a:p>
        </p:txBody>
      </p:sp>
      <p:sp>
        <p:nvSpPr>
          <p:cNvPr id="32" name="Text 30"/>
          <p:cNvSpPr/>
          <p:nvPr/>
        </p:nvSpPr>
        <p:spPr>
          <a:xfrm>
            <a:off x="10181844" y="2770632"/>
            <a:ext cx="15590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live API, ?dryRun=All</a:t>
            </a:r>
            <a:endParaRPr lang="en-US" sz="850" dirty="0"/>
          </a:p>
        </p:txBody>
      </p:sp>
      <p:sp>
        <p:nvSpPr>
          <p:cNvPr id="33" name="Shape 31"/>
          <p:cNvSpPr/>
          <p:nvPr/>
        </p:nvSpPr>
        <p:spPr>
          <a:xfrm>
            <a:off x="2606040" y="3264408"/>
            <a:ext cx="6995160" cy="548640"/>
          </a:xfrm>
          <a:prstGeom prst="roundRect">
            <a:avLst>
              <a:gd name="adj" fmla="val 11667"/>
            </a:avLst>
          </a:prstGeom>
          <a:solidFill>
            <a:srgbClr val="D97706"/>
          </a:solidFill>
          <a:ln w="25400">
            <a:solidFill>
              <a:srgbClr val="92400E"/>
            </a:solidFill>
            <a:prstDash val="solid"/>
          </a:ln>
        </p:spPr>
      </p:sp>
      <p:sp>
        <p:nvSpPr>
          <p:cNvPr id="34" name="Text 32"/>
          <p:cNvSpPr/>
          <p:nvPr/>
        </p:nvSpPr>
        <p:spPr>
          <a:xfrm>
            <a:off x="2606040" y="3264408"/>
            <a:ext cx="6995160" cy="548640"/>
          </a:xfrm>
          <a:prstGeom prst="rect">
            <a:avLst/>
          </a:prstGeom>
          <a:noFill/>
          <a:ln/>
        </p:spPr>
        <p:txBody>
          <a:bodyPr wrap="square"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  APPROVE OR REJECT — THE ONLY HUMAN GATE  👤</a:t>
            </a:r>
            <a:endParaRPr lang="en-US" sz="1200" dirty="0"/>
          </a:p>
        </p:txBody>
      </p:sp>
      <p:sp>
        <p:nvSpPr>
          <p:cNvPr id="35" name="Shape 33"/>
          <p:cNvSpPr/>
          <p:nvPr/>
        </p:nvSpPr>
        <p:spPr>
          <a:xfrm>
            <a:off x="411480" y="3931920"/>
            <a:ext cx="2640330" cy="749808"/>
          </a:xfrm>
          <a:prstGeom prst="roundRect">
            <a:avLst>
              <a:gd name="adj" fmla="val 8537"/>
            </a:avLst>
          </a:prstGeom>
          <a:solidFill>
            <a:srgbClr val="DBEAFE"/>
          </a:solidFill>
          <a:ln w="19050">
            <a:solidFill>
              <a:srgbClr val="2563EB"/>
            </a:solidFill>
            <a:prstDash val="solid"/>
          </a:ln>
        </p:spPr>
      </p:sp>
      <p:sp>
        <p:nvSpPr>
          <p:cNvPr id="36" name="Text 34"/>
          <p:cNvSpPr/>
          <p:nvPr/>
        </p:nvSpPr>
        <p:spPr>
          <a:xfrm>
            <a:off x="466344" y="3999403"/>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Apply</a:t>
            </a:r>
            <a:endParaRPr lang="en-US" sz="1050" dirty="0"/>
          </a:p>
        </p:txBody>
      </p:sp>
      <p:sp>
        <p:nvSpPr>
          <p:cNvPr id="37" name="Text 35"/>
          <p:cNvSpPr/>
          <p:nvPr/>
        </p:nvSpPr>
        <p:spPr>
          <a:xfrm>
            <a:off x="466344" y="4306824"/>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snapshot first</a:t>
            </a:r>
            <a:endParaRPr lang="en-US" sz="850" dirty="0"/>
          </a:p>
        </p:txBody>
      </p:sp>
      <p:sp>
        <p:nvSpPr>
          <p:cNvPr id="38" name="Text 36"/>
          <p:cNvSpPr/>
          <p:nvPr/>
        </p:nvSpPr>
        <p:spPr>
          <a:xfrm>
            <a:off x="3051810" y="417880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9" name="Shape 37"/>
          <p:cNvSpPr/>
          <p:nvPr/>
        </p:nvSpPr>
        <p:spPr>
          <a:xfrm>
            <a:off x="3326130" y="3931920"/>
            <a:ext cx="2640330" cy="749808"/>
          </a:xfrm>
          <a:prstGeom prst="roundRect">
            <a:avLst>
              <a:gd name="adj" fmla="val 8537"/>
            </a:avLst>
          </a:prstGeom>
          <a:solidFill>
            <a:srgbClr val="DBEAFE"/>
          </a:solidFill>
          <a:ln w="19050">
            <a:solidFill>
              <a:srgbClr val="2563EB"/>
            </a:solidFill>
            <a:prstDash val="solid"/>
          </a:ln>
        </p:spPr>
      </p:sp>
      <p:sp>
        <p:nvSpPr>
          <p:cNvPr id="40" name="Text 38"/>
          <p:cNvSpPr/>
          <p:nvPr/>
        </p:nvSpPr>
        <p:spPr>
          <a:xfrm>
            <a:off x="3380994" y="3999403"/>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Verify</a:t>
            </a:r>
            <a:endParaRPr lang="en-US" sz="1050" dirty="0"/>
          </a:p>
        </p:txBody>
      </p:sp>
      <p:sp>
        <p:nvSpPr>
          <p:cNvPr id="41" name="Text 39"/>
          <p:cNvSpPr/>
          <p:nvPr/>
        </p:nvSpPr>
        <p:spPr>
          <a:xfrm>
            <a:off x="3380994" y="4306824"/>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rollout completion, not readiness</a:t>
            </a:r>
            <a:endParaRPr lang="en-US" sz="850" dirty="0"/>
          </a:p>
        </p:txBody>
      </p:sp>
      <p:sp>
        <p:nvSpPr>
          <p:cNvPr id="42" name="Text 40"/>
          <p:cNvSpPr/>
          <p:nvPr/>
        </p:nvSpPr>
        <p:spPr>
          <a:xfrm>
            <a:off x="5966460" y="417880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3" name="Shape 41"/>
          <p:cNvSpPr/>
          <p:nvPr/>
        </p:nvSpPr>
        <p:spPr>
          <a:xfrm>
            <a:off x="6240780" y="3931920"/>
            <a:ext cx="2640330" cy="749808"/>
          </a:xfrm>
          <a:prstGeom prst="roundRect">
            <a:avLst>
              <a:gd name="adj" fmla="val 8537"/>
            </a:avLst>
          </a:prstGeom>
          <a:solidFill>
            <a:srgbClr val="DBEAFE"/>
          </a:solidFill>
          <a:ln w="19050">
            <a:solidFill>
              <a:srgbClr val="2563EB"/>
            </a:solidFill>
            <a:prstDash val="solid"/>
          </a:ln>
        </p:spPr>
      </p:sp>
      <p:sp>
        <p:nvSpPr>
          <p:cNvPr id="44" name="Text 42"/>
          <p:cNvSpPr/>
          <p:nvPr/>
        </p:nvSpPr>
        <p:spPr>
          <a:xfrm>
            <a:off x="6295644" y="3999403"/>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Attach RCA</a:t>
            </a:r>
            <a:endParaRPr lang="en-US" sz="1050" dirty="0"/>
          </a:p>
        </p:txBody>
      </p:sp>
      <p:sp>
        <p:nvSpPr>
          <p:cNvPr id="45" name="Text 43"/>
          <p:cNvSpPr/>
          <p:nvPr/>
        </p:nvSpPr>
        <p:spPr>
          <a:xfrm>
            <a:off x="6295644" y="4306824"/>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HTML + PDF</a:t>
            </a:r>
            <a:endParaRPr lang="en-US" sz="850" dirty="0"/>
          </a:p>
        </p:txBody>
      </p:sp>
      <p:sp>
        <p:nvSpPr>
          <p:cNvPr id="46" name="Text 44"/>
          <p:cNvSpPr/>
          <p:nvPr/>
        </p:nvSpPr>
        <p:spPr>
          <a:xfrm>
            <a:off x="8881110" y="417880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7" name="Shape 45"/>
          <p:cNvSpPr/>
          <p:nvPr/>
        </p:nvSpPr>
        <p:spPr>
          <a:xfrm>
            <a:off x="9155430" y="3931920"/>
            <a:ext cx="2640330" cy="749808"/>
          </a:xfrm>
          <a:prstGeom prst="roundRect">
            <a:avLst>
              <a:gd name="adj" fmla="val 8537"/>
            </a:avLst>
          </a:prstGeom>
          <a:solidFill>
            <a:srgbClr val="DBEAFE"/>
          </a:solidFill>
          <a:ln w="19050">
            <a:solidFill>
              <a:srgbClr val="2563EB"/>
            </a:solidFill>
            <a:prstDash val="solid"/>
          </a:ln>
        </p:spPr>
      </p:sp>
      <p:sp>
        <p:nvSpPr>
          <p:cNvPr id="48" name="Text 46"/>
          <p:cNvSpPr/>
          <p:nvPr/>
        </p:nvSpPr>
        <p:spPr>
          <a:xfrm>
            <a:off x="9210294" y="3999403"/>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Close + ledger</a:t>
            </a:r>
            <a:endParaRPr lang="en-US" sz="1050" dirty="0"/>
          </a:p>
        </p:txBody>
      </p:sp>
      <p:sp>
        <p:nvSpPr>
          <p:cNvPr id="49" name="Text 47"/>
          <p:cNvSpPr/>
          <p:nvPr/>
        </p:nvSpPr>
        <p:spPr>
          <a:xfrm>
            <a:off x="9210294" y="4306824"/>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inverse stored for revert</a:t>
            </a:r>
            <a:endParaRPr lang="en-US" sz="850" dirty="0"/>
          </a:p>
        </p:txBody>
      </p:sp>
      <p:sp>
        <p:nvSpPr>
          <p:cNvPr id="50" name="Shape 48"/>
          <p:cNvSpPr/>
          <p:nvPr/>
        </p:nvSpPr>
        <p:spPr>
          <a:xfrm>
            <a:off x="411480" y="4800600"/>
            <a:ext cx="3697224" cy="420624"/>
          </a:xfrm>
          <a:prstGeom prst="roundRect">
            <a:avLst>
              <a:gd name="adj" fmla="val 10870"/>
            </a:avLst>
          </a:prstGeom>
          <a:solidFill>
            <a:srgbClr val="D1FAE5"/>
          </a:solidFill>
          <a:ln w="12700">
            <a:solidFill>
              <a:srgbClr val="059669"/>
            </a:solidFill>
            <a:prstDash val="solid"/>
          </a:ln>
        </p:spPr>
      </p:sp>
      <p:sp>
        <p:nvSpPr>
          <p:cNvPr id="51" name="Text 49"/>
          <p:cNvSpPr/>
          <p:nvPr/>
        </p:nvSpPr>
        <p:spPr>
          <a:xfrm>
            <a:off x="466344" y="4800600"/>
            <a:ext cx="3587496"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Self-healed → auto-closed</a:t>
            </a:r>
            <a:endParaRPr lang="en-US" sz="950" dirty="0"/>
          </a:p>
        </p:txBody>
      </p:sp>
      <p:sp>
        <p:nvSpPr>
          <p:cNvPr id="52" name="Shape 50"/>
          <p:cNvSpPr/>
          <p:nvPr/>
        </p:nvSpPr>
        <p:spPr>
          <a:xfrm>
            <a:off x="4255008" y="4800600"/>
            <a:ext cx="3697224" cy="420624"/>
          </a:xfrm>
          <a:prstGeom prst="roundRect">
            <a:avLst>
              <a:gd name="adj" fmla="val 10870"/>
            </a:avLst>
          </a:prstGeom>
          <a:solidFill>
            <a:srgbClr val="FFEDD5"/>
          </a:solidFill>
          <a:ln w="12700">
            <a:solidFill>
              <a:srgbClr val="EA580C"/>
            </a:solidFill>
            <a:prstDash val="solid"/>
          </a:ln>
        </p:spPr>
      </p:sp>
      <p:sp>
        <p:nvSpPr>
          <p:cNvPr id="53" name="Text 51"/>
          <p:cNvSpPr/>
          <p:nvPr/>
        </p:nvSpPr>
        <p:spPr>
          <a:xfrm>
            <a:off x="4309872" y="4800600"/>
            <a:ext cx="3587496" cy="420624"/>
          </a:xfrm>
          <a:prstGeom prst="rect">
            <a:avLst/>
          </a:prstGeom>
          <a:noFill/>
          <a:ln/>
        </p:spPr>
        <p:txBody>
          <a:bodyPr wrap="square" rtlCol="0" anchor="ctr"/>
          <a:lstStyle/>
          <a:p>
            <a:pPr algn="ctr" indent="0" marL="0">
              <a:buNone/>
            </a:pPr>
            <a:r>
              <a:rPr lang="en-US" sz="950" b="1" dirty="0">
                <a:solidFill>
                  <a:srgbClr val="9A3412"/>
                </a:solidFill>
                <a:latin typeface="Inter" pitchFamily="34" charset="0"/>
                <a:ea typeface="Inter" pitchFamily="34" charset="-122"/>
                <a:cs typeface="Inter" pitchFamily="34" charset="-120"/>
              </a:rPr>
              <a:t>👤 No safe fix → escalated, RCA ready</a:t>
            </a:r>
            <a:endParaRPr lang="en-US" sz="950" dirty="0"/>
          </a:p>
        </p:txBody>
      </p:sp>
      <p:sp>
        <p:nvSpPr>
          <p:cNvPr id="54" name="Shape 52"/>
          <p:cNvSpPr/>
          <p:nvPr/>
        </p:nvSpPr>
        <p:spPr>
          <a:xfrm>
            <a:off x="8098536" y="4800600"/>
            <a:ext cx="3697224" cy="420624"/>
          </a:xfrm>
          <a:prstGeom prst="roundRect">
            <a:avLst>
              <a:gd name="adj" fmla="val 10870"/>
            </a:avLst>
          </a:prstGeom>
          <a:solidFill>
            <a:srgbClr val="FEE2E2"/>
          </a:solidFill>
          <a:ln w="12700">
            <a:solidFill>
              <a:srgbClr val="DC2626"/>
            </a:solidFill>
            <a:prstDash val="solid"/>
          </a:ln>
        </p:spPr>
      </p:sp>
      <p:sp>
        <p:nvSpPr>
          <p:cNvPr id="55" name="Text 53"/>
          <p:cNvSpPr/>
          <p:nvPr/>
        </p:nvSpPr>
        <p:spPr>
          <a:xfrm>
            <a:off x="8153400" y="4800600"/>
            <a:ext cx="3587496" cy="420624"/>
          </a:xfrm>
          <a:prstGeom prst="rect">
            <a:avLst/>
          </a:prstGeom>
          <a:noFill/>
          <a:ln/>
        </p:spPr>
        <p:txBody>
          <a:bodyPr wrap="square" rtlCol="0" anchor="ctr"/>
          <a:lstStyle/>
          <a:p>
            <a:pPr algn="ctr" indent="0" marL="0">
              <a:buNone/>
            </a:pPr>
            <a:r>
              <a:rPr lang="en-US" sz="950" b="1" dirty="0">
                <a:solidFill>
                  <a:srgbClr val="991B1B"/>
                </a:solidFill>
                <a:latin typeface="Inter" pitchFamily="34" charset="0"/>
                <a:ea typeface="Inter" pitchFamily="34" charset="-122"/>
                <a:cs typeface="Inter" pitchFamily="34" charset="-120"/>
              </a:rPr>
              <a:t>👤 Not verified → rolled back, ticket OPEN</a:t>
            </a:r>
            <a:endParaRPr lang="en-US" sz="950" dirty="0"/>
          </a:p>
        </p:txBody>
      </p:sp>
      <p:sp>
        <p:nvSpPr>
          <p:cNvPr id="56" name="Shape 54"/>
          <p:cNvSpPr/>
          <p:nvPr/>
        </p:nvSpPr>
        <p:spPr>
          <a:xfrm>
            <a:off x="411480" y="6089904"/>
            <a:ext cx="173736" cy="173736"/>
          </a:xfrm>
          <a:prstGeom prst="roundRect">
            <a:avLst>
              <a:gd name="adj" fmla="val 15789"/>
            </a:avLst>
          </a:prstGeom>
          <a:solidFill>
            <a:srgbClr val="EDE9FE"/>
          </a:solidFill>
          <a:ln w="12700">
            <a:solidFill>
              <a:srgbClr val="7C3AED"/>
            </a:solidFill>
            <a:prstDash val="solid"/>
          </a:ln>
        </p:spPr>
      </p:sp>
      <p:sp>
        <p:nvSpPr>
          <p:cNvPr id="57" name="Text 55"/>
          <p:cNvSpPr/>
          <p:nvPr/>
        </p:nvSpPr>
        <p:spPr>
          <a:xfrm>
            <a:off x="621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AI</a:t>
            </a:r>
            <a:endParaRPr lang="en-US" sz="850" dirty="0"/>
          </a:p>
        </p:txBody>
      </p:sp>
      <p:sp>
        <p:nvSpPr>
          <p:cNvPr id="58" name="Shape 56"/>
          <p:cNvSpPr/>
          <p:nvPr/>
        </p:nvSpPr>
        <p:spPr>
          <a:xfrm>
            <a:off x="1554480" y="6089904"/>
            <a:ext cx="173736" cy="173736"/>
          </a:xfrm>
          <a:prstGeom prst="roundRect">
            <a:avLst>
              <a:gd name="adj" fmla="val 15789"/>
            </a:avLst>
          </a:prstGeom>
          <a:solidFill>
            <a:srgbClr val="DBEAFE"/>
          </a:solidFill>
          <a:ln w="12700">
            <a:solidFill>
              <a:srgbClr val="2563EB"/>
            </a:solidFill>
            <a:prstDash val="solid"/>
          </a:ln>
        </p:spPr>
      </p:sp>
      <p:sp>
        <p:nvSpPr>
          <p:cNvPr id="59" name="Text 57"/>
          <p:cNvSpPr/>
          <p:nvPr/>
        </p:nvSpPr>
        <p:spPr>
          <a:xfrm>
            <a:off x="1764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Automatic</a:t>
            </a:r>
            <a:endParaRPr lang="en-US" sz="850" dirty="0"/>
          </a:p>
        </p:txBody>
      </p:sp>
      <p:sp>
        <p:nvSpPr>
          <p:cNvPr id="60" name="Shape 58"/>
          <p:cNvSpPr/>
          <p:nvPr/>
        </p:nvSpPr>
        <p:spPr>
          <a:xfrm>
            <a:off x="2697480" y="6089904"/>
            <a:ext cx="173736" cy="173736"/>
          </a:xfrm>
          <a:prstGeom prst="roundRect">
            <a:avLst>
              <a:gd name="adj" fmla="val 15789"/>
            </a:avLst>
          </a:prstGeom>
          <a:solidFill>
            <a:srgbClr val="FEF3C7"/>
          </a:solidFill>
          <a:ln w="12700">
            <a:solidFill>
              <a:srgbClr val="D97706"/>
            </a:solidFill>
            <a:prstDash val="solid"/>
          </a:ln>
        </p:spPr>
      </p:sp>
      <p:sp>
        <p:nvSpPr>
          <p:cNvPr id="61" name="Text 59"/>
          <p:cNvSpPr/>
          <p:nvPr/>
        </p:nvSpPr>
        <p:spPr>
          <a:xfrm>
            <a:off x="2907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Human</a:t>
            </a:r>
            <a:endParaRPr lang="en-US" sz="850" dirty="0"/>
          </a:p>
        </p:txBody>
      </p:sp>
      <p:sp>
        <p:nvSpPr>
          <p:cNvPr id="62" name="Shape 60"/>
          <p:cNvSpPr/>
          <p:nvPr/>
        </p:nvSpPr>
        <p:spPr>
          <a:xfrm>
            <a:off x="3840480" y="6089904"/>
            <a:ext cx="173736" cy="173736"/>
          </a:xfrm>
          <a:prstGeom prst="roundRect">
            <a:avLst>
              <a:gd name="adj" fmla="val 15789"/>
            </a:avLst>
          </a:prstGeom>
          <a:solidFill>
            <a:srgbClr val="D1FAE5"/>
          </a:solidFill>
          <a:ln w="12700">
            <a:solidFill>
              <a:srgbClr val="059669"/>
            </a:solidFill>
            <a:prstDash val="solid"/>
          </a:ln>
        </p:spPr>
      </p:sp>
      <p:sp>
        <p:nvSpPr>
          <p:cNvPr id="63" name="Text 61"/>
          <p:cNvSpPr/>
          <p:nvPr/>
        </p:nvSpPr>
        <p:spPr>
          <a:xfrm>
            <a:off x="4050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Verified</a:t>
            </a:r>
            <a:endParaRPr lang="en-US" sz="850" dirty="0"/>
          </a:p>
        </p:txBody>
      </p:sp>
      <p:sp>
        <p:nvSpPr>
          <p:cNvPr id="64" name="Text 62"/>
          <p:cNvSpPr/>
          <p:nvPr/>
        </p:nvSpPr>
        <p:spPr>
          <a:xfrm>
            <a:off x="5120640" y="6025896"/>
            <a:ext cx="6675120" cy="292608"/>
          </a:xfrm>
          <a:prstGeom prst="rect">
            <a:avLst/>
          </a:prstGeom>
          <a:noFill/>
          <a:ln/>
        </p:spPr>
        <p:txBody>
          <a:bodyPr wrap="square" rtlCol="0" anchor="ctr"/>
          <a:lstStyle/>
          <a:p>
            <a:pPr algn="r" indent="0" marL="0">
              <a:buNone/>
            </a:pPr>
            <a:r>
              <a:rPr lang="en-US" sz="1050" b="1" dirty="0">
                <a:solidFill>
                  <a:srgbClr val="7C3AED"/>
                </a:solidFill>
                <a:latin typeface="Inter" pitchFamily="34" charset="0"/>
                <a:ea typeface="Inter" pitchFamily="34" charset="-122"/>
                <a:cs typeface="Inter" pitchFamily="34" charset="-120"/>
              </a:rPr>
              <a:t>Agent-initiated · UC-01 is the same pipeline, human-asked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060704"/>
          </a:xfrm>
          <a:prstGeom prst="rect">
            <a:avLst/>
          </a:prstGeom>
          <a:solidFill>
            <a:srgbClr val="0F172A"/>
          </a:solidFill>
          <a:ln/>
        </p:spPr>
      </p:sp>
      <p:sp>
        <p:nvSpPr>
          <p:cNvPr id="3" name="Text 1"/>
          <p:cNvSpPr/>
          <p:nvPr/>
        </p:nvSpPr>
        <p:spPr>
          <a:xfrm>
            <a:off x="411480" y="118872"/>
            <a:ext cx="4572000" cy="219456"/>
          </a:xfrm>
          <a:prstGeom prst="rect">
            <a:avLst/>
          </a:prstGeom>
          <a:noFill/>
          <a:ln/>
        </p:spPr>
        <p:txBody>
          <a:bodyPr wrap="square" rtlCol="0" anchor="ctr"/>
          <a:lstStyle/>
          <a:p>
            <a:pPr indent="0" marL="0">
              <a:buNone/>
            </a:pPr>
            <a:r>
              <a:rPr lang="en-US" sz="1000" b="1" spc="220" kern="0" dirty="0">
                <a:solidFill>
                  <a:srgbClr val="0891B2"/>
                </a:solidFill>
                <a:latin typeface="Inter" pitchFamily="34" charset="0"/>
                <a:ea typeface="Inter" pitchFamily="34" charset="-122"/>
                <a:cs typeface="Inter" pitchFamily="34" charset="-120"/>
              </a:rPr>
              <a:t>TCS AGENTIC AI</a:t>
            </a:r>
            <a:endParaRPr lang="en-US" sz="1000" dirty="0"/>
          </a:p>
        </p:txBody>
      </p:sp>
      <p:sp>
        <p:nvSpPr>
          <p:cNvPr id="4" name="Text 2"/>
          <p:cNvSpPr/>
          <p:nvPr/>
        </p:nvSpPr>
        <p:spPr>
          <a:xfrm>
            <a:off x="411480" y="329184"/>
            <a:ext cx="9692640" cy="402336"/>
          </a:xfrm>
          <a:prstGeom prst="rect">
            <a:avLst/>
          </a:prstGeom>
          <a:noFill/>
          <a:ln/>
        </p:spPr>
        <p:txBody>
          <a:bodyPr wrap="square" rtlCol="0" anchor="ctr"/>
          <a:lstStyle/>
          <a:p>
            <a:pPr indent="0" marL="0">
              <a:buNone/>
            </a:pPr>
            <a:r>
              <a:rPr lang="en-US" sz="2300" b="1" dirty="0">
                <a:solidFill>
                  <a:srgbClr val="FFFFFF"/>
                </a:solidFill>
                <a:latin typeface="Inter" pitchFamily="34" charset="0"/>
                <a:ea typeface="Inter" pitchFamily="34" charset="-122"/>
                <a:cs typeface="Inter" pitchFamily="34" charset="-120"/>
              </a:rPr>
              <a:t>VM Lifecycle Agent</a:t>
            </a:r>
            <a:endParaRPr lang="en-US" sz="2300" dirty="0"/>
          </a:p>
        </p:txBody>
      </p:sp>
      <p:sp>
        <p:nvSpPr>
          <p:cNvPr id="5" name="Text 3"/>
          <p:cNvSpPr/>
          <p:nvPr/>
        </p:nvSpPr>
        <p:spPr>
          <a:xfrm>
            <a:off x="411480" y="749808"/>
            <a:ext cx="9692640" cy="256032"/>
          </a:xfrm>
          <a:prstGeom prst="rect">
            <a:avLst/>
          </a:prstGeom>
          <a:noFill/>
          <a:ln/>
        </p:spPr>
        <p:txBody>
          <a:bodyPr wrap="square" rtlCol="0" anchor="ctr"/>
          <a:lstStyle/>
          <a:p>
            <a:pPr indent="0" marL="0">
              <a:buNone/>
            </a:pPr>
            <a:r>
              <a:rPr lang="en-US" sz="1050" i="1" dirty="0">
                <a:solidFill>
                  <a:srgbClr val="94A3B8"/>
                </a:solidFill>
                <a:latin typeface="Inter" pitchFamily="34" charset="0"/>
                <a:ea typeface="Inter" pitchFamily="34" charset="-122"/>
                <a:cs typeface="Inter" pitchFamily="34" charset="-120"/>
              </a:rPr>
              <a:t>Governed VM provisioning &amp; lifecycle — one sentence in, a governed, owned, accountable machine out</a:t>
            </a:r>
            <a:endParaRPr lang="en-US" sz="1050" dirty="0"/>
          </a:p>
        </p:txBody>
      </p:sp>
      <p:sp>
        <p:nvSpPr>
          <p:cNvPr id="6" name="Text 4"/>
          <p:cNvSpPr/>
          <p:nvPr/>
        </p:nvSpPr>
        <p:spPr>
          <a:xfrm>
            <a:off x="10561320" y="310896"/>
            <a:ext cx="1234440" cy="365760"/>
          </a:xfrm>
          <a:prstGeom prst="rect">
            <a:avLst>
              <a:gd name="adj" fmla="val 12500"/>
            </a:avLst>
          </a:prstGeom>
          <a:solidFill>
            <a:srgbClr val="2563EB"/>
          </a:solid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UC-06</a:t>
            </a:r>
            <a:endParaRPr lang="en-US" sz="1500" dirty="0"/>
          </a:p>
        </p:txBody>
      </p:sp>
      <p:sp>
        <p:nvSpPr>
          <p:cNvPr id="7" name="Text 5"/>
          <p:cNvSpPr/>
          <p:nvPr/>
        </p:nvSpPr>
        <p:spPr>
          <a:xfrm>
            <a:off x="411480" y="1188720"/>
            <a:ext cx="3657600" cy="182880"/>
          </a:xfrm>
          <a:prstGeom prst="rect">
            <a:avLst/>
          </a:prstGeom>
          <a:noFill/>
          <a:ln/>
        </p:spPr>
        <p:txBody>
          <a:bodyPr wrap="square" rtlCol="0" anchor="ctr"/>
          <a:lstStyle/>
          <a:p>
            <a:pPr indent="0" marL="0">
              <a:buNone/>
            </a:pPr>
            <a:r>
              <a:rPr lang="en-US" sz="850" b="1" spc="140" kern="0" dirty="0">
                <a:solidFill>
                  <a:srgbClr val="64748B"/>
                </a:solidFill>
                <a:latin typeface="Inter" pitchFamily="34" charset="0"/>
                <a:ea typeface="Inter" pitchFamily="34" charset="-122"/>
                <a:cs typeface="Inter" pitchFamily="34" charset="-120"/>
              </a:rPr>
              <a:t>USE CASE DESCRIPTION</a:t>
            </a:r>
            <a:endParaRPr lang="en-US" sz="850" dirty="0"/>
          </a:p>
        </p:txBody>
      </p:sp>
      <p:sp>
        <p:nvSpPr>
          <p:cNvPr id="8" name="Shape 6"/>
          <p:cNvSpPr/>
          <p:nvPr/>
        </p:nvSpPr>
        <p:spPr>
          <a:xfrm>
            <a:off x="411480" y="1060704"/>
            <a:ext cx="11384280" cy="274320"/>
          </a:xfrm>
          <a:prstGeom prst="roundRect">
            <a:avLst>
              <a:gd name="adj" fmla="val 13333"/>
            </a:avLst>
          </a:prstGeom>
          <a:solidFill>
            <a:srgbClr val="EEF2FF"/>
          </a:solidFill>
          <a:ln w="9525">
            <a:solidFill>
              <a:srgbClr val="C7D2FE"/>
            </a:solidFill>
            <a:prstDash val="solid"/>
          </a:ln>
        </p:spPr>
      </p:sp>
      <p:sp>
        <p:nvSpPr>
          <p:cNvPr id="9" name="Text 7"/>
          <p:cNvSpPr/>
          <p:nvPr/>
        </p:nvSpPr>
        <p:spPr>
          <a:xfrm>
            <a:off x="521208" y="1060704"/>
            <a:ext cx="11164824" cy="274320"/>
          </a:xfrm>
          <a:prstGeom prst="rect">
            <a:avLst/>
          </a:prstGeom>
          <a:noFill/>
          <a:ln/>
        </p:spPr>
        <p:txBody>
          <a:bodyPr wrap="square" rtlCol="0" anchor="ctr"/>
          <a:lstStyle/>
          <a:p>
            <a:pPr indent="0" marL="0">
              <a:buNone/>
            </a:pPr>
            <a:r>
              <a:rPr lang="en-US" sz="950" b="1" dirty="0">
                <a:solidFill>
                  <a:srgbClr val="3730A3"/>
                </a:solidFill>
                <a:latin typeface="Inter" pitchFamily="34" charset="0"/>
                <a:ea typeface="Inter" pitchFamily="34" charset="-122"/>
                <a:cs typeface="Inter" pitchFamily="34" charset="-120"/>
              </a:rPr>
              <a:t>SCOPE  ·  VMs that are BORN on OpenShift Virtualization — requested, provisioned, right-sized, reclaimed.   For machines arriving FROM VMware, see UC-10.</a:t>
            </a:r>
            <a:endParaRPr lang="en-US" sz="950" dirty="0"/>
          </a:p>
        </p:txBody>
      </p:sp>
      <p:sp>
        <p:nvSpPr>
          <p:cNvPr id="10" name="Text 8"/>
          <p:cNvSpPr/>
          <p:nvPr/>
        </p:nvSpPr>
        <p:spPr>
          <a:xfrm>
            <a:off x="411480" y="1426464"/>
            <a:ext cx="11384280" cy="914400"/>
          </a:xfrm>
          <a:prstGeom prst="rect">
            <a:avLst/>
          </a:prstGeom>
          <a:noFill/>
          <a:ln/>
        </p:spPr>
        <p:txBody>
          <a:bodyPr wrap="square" rtlCol="0" anchor="t"/>
          <a:lstStyle/>
          <a:p>
            <a:pPr indent="0" marL="0">
              <a:lnSpc>
                <a:spcPct val="120000"/>
              </a:lnSpc>
              <a:buNone/>
            </a:pPr>
            <a:r>
              <a:rPr lang="en-US" sz="1200" dirty="0">
                <a:solidFill>
                  <a:srgbClr val="1E293B"/>
                </a:solidFill>
                <a:latin typeface="Inter" pitchFamily="34" charset="0"/>
                <a:ea typeface="Inter" pitchFamily="34" charset="-122"/>
                <a:cs typeface="Inter" pitchFamily="34" charset="-120"/>
              </a:rPr>
              <a:t>A VM request stated in plain language, reconciled against the golden templates this cluster actually offers and checked against live quota — before anyone is asked to approve it. On approval the VM is provisioned with full provenance written onto the object, and weeks later the agent reads that provenance back to right-size or reclaim it.</a:t>
            </a:r>
            <a:endParaRPr lang="en-US" sz="1200" dirty="0"/>
          </a:p>
        </p:txBody>
      </p:sp>
      <p:sp>
        <p:nvSpPr>
          <p:cNvPr id="11" name="Text 9"/>
          <p:cNvSpPr/>
          <p:nvPr/>
        </p:nvSpPr>
        <p:spPr>
          <a:xfrm>
            <a:off x="411480" y="2176272"/>
            <a:ext cx="3657600" cy="201168"/>
          </a:xfrm>
          <a:prstGeom prst="rect">
            <a:avLst/>
          </a:prstGeom>
          <a:noFill/>
          <a:ln/>
        </p:spPr>
        <p:txBody>
          <a:bodyPr wrap="square" rtlCol="0" anchor="ctr"/>
          <a:lstStyle/>
          <a:p>
            <a:pPr indent="0" marL="0">
              <a:buNone/>
            </a:pPr>
            <a:r>
              <a:rPr lang="en-US" sz="850" b="1" spc="140" kern="0" dirty="0">
                <a:solidFill>
                  <a:srgbClr val="2563EB"/>
                </a:solidFill>
                <a:latin typeface="Inter" pitchFamily="34" charset="0"/>
                <a:ea typeface="Inter" pitchFamily="34" charset="-122"/>
                <a:cs typeface="Inter" pitchFamily="34" charset="-120"/>
              </a:rPr>
              <a:t>END-TO-END WORKFLOW</a:t>
            </a:r>
            <a:endParaRPr lang="en-US" sz="850" dirty="0"/>
          </a:p>
        </p:txBody>
      </p:sp>
      <p:sp>
        <p:nvSpPr>
          <p:cNvPr id="12" name="Text 10"/>
          <p:cNvSpPr/>
          <p:nvPr/>
        </p:nvSpPr>
        <p:spPr>
          <a:xfrm>
            <a:off x="411480" y="2395728"/>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CAPTURE  ·  RECONCILE  ·  PRE-FLIGHT</a:t>
            </a:r>
            <a:endParaRPr lang="en-US" sz="900" dirty="0"/>
          </a:p>
        </p:txBody>
      </p:sp>
      <p:sp>
        <p:nvSpPr>
          <p:cNvPr id="13" name="Shape 11"/>
          <p:cNvSpPr/>
          <p:nvPr/>
        </p:nvSpPr>
        <p:spPr>
          <a:xfrm>
            <a:off x="411480" y="2569464"/>
            <a:ext cx="2057400" cy="749808"/>
          </a:xfrm>
          <a:prstGeom prst="roundRect">
            <a:avLst>
              <a:gd name="adj" fmla="val 8537"/>
            </a:avLst>
          </a:prstGeom>
          <a:solidFill>
            <a:srgbClr val="FEF3C7"/>
          </a:solidFill>
          <a:ln w="19050">
            <a:solidFill>
              <a:srgbClr val="D97706"/>
            </a:solidFill>
            <a:prstDash val="solid"/>
          </a:ln>
        </p:spPr>
      </p:sp>
      <p:sp>
        <p:nvSpPr>
          <p:cNvPr id="14" name="Text 12"/>
          <p:cNvSpPr/>
          <p:nvPr/>
        </p:nvSpPr>
        <p:spPr>
          <a:xfrm>
            <a:off x="466344" y="2636947"/>
            <a:ext cx="1947672" cy="314919"/>
          </a:xfrm>
          <a:prstGeom prst="rect">
            <a:avLst/>
          </a:prstGeom>
          <a:noFill/>
          <a:ln/>
        </p:spPr>
        <p:txBody>
          <a:bodyPr wrap="square" rtlCol="0" anchor="ctr"/>
          <a:lstStyle/>
          <a:p>
            <a:pPr algn="ctr" indent="0" marL="0">
              <a:buNone/>
            </a:pPr>
            <a:r>
              <a:rPr lang="en-US" sz="1050" b="1" dirty="0">
                <a:solidFill>
                  <a:srgbClr val="92400E"/>
                </a:solidFill>
                <a:latin typeface="Inter" pitchFamily="34" charset="0"/>
                <a:ea typeface="Inter" pitchFamily="34" charset="-122"/>
                <a:cs typeface="Inter" pitchFamily="34" charset="-120"/>
              </a:rPr>
              <a:t>👤 One sentence</a:t>
            </a:r>
            <a:endParaRPr lang="en-US" sz="1050" dirty="0"/>
          </a:p>
        </p:txBody>
      </p:sp>
      <p:sp>
        <p:nvSpPr>
          <p:cNvPr id="15" name="Text 13"/>
          <p:cNvSpPr/>
          <p:nvPr/>
        </p:nvSpPr>
        <p:spPr>
          <a:xfrm>
            <a:off x="46634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in chat</a:t>
            </a:r>
            <a:endParaRPr lang="en-US" sz="850" dirty="0"/>
          </a:p>
        </p:txBody>
      </p:sp>
      <p:sp>
        <p:nvSpPr>
          <p:cNvPr id="16" name="Text 14"/>
          <p:cNvSpPr/>
          <p:nvPr/>
        </p:nvSpPr>
        <p:spPr>
          <a:xfrm>
            <a:off x="246888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7" name="Shape 15"/>
          <p:cNvSpPr/>
          <p:nvPr/>
        </p:nvSpPr>
        <p:spPr>
          <a:xfrm>
            <a:off x="2743200" y="2569464"/>
            <a:ext cx="2057400" cy="749808"/>
          </a:xfrm>
          <a:prstGeom prst="roundRect">
            <a:avLst>
              <a:gd name="adj" fmla="val 8537"/>
            </a:avLst>
          </a:prstGeom>
          <a:solidFill>
            <a:srgbClr val="EDE9FE"/>
          </a:solidFill>
          <a:ln w="19050">
            <a:solidFill>
              <a:srgbClr val="7C3AED"/>
            </a:solidFill>
            <a:prstDash val="solid"/>
          </a:ln>
        </p:spPr>
      </p:sp>
      <p:sp>
        <p:nvSpPr>
          <p:cNvPr id="18" name="Text 16"/>
          <p:cNvSpPr/>
          <p:nvPr/>
        </p:nvSpPr>
        <p:spPr>
          <a:xfrm>
            <a:off x="2798064" y="2636947"/>
            <a:ext cx="1947672" cy="314919"/>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Extract intent</a:t>
            </a:r>
            <a:endParaRPr lang="en-US" sz="1050" dirty="0"/>
          </a:p>
        </p:txBody>
      </p:sp>
      <p:sp>
        <p:nvSpPr>
          <p:cNvPr id="19" name="Text 17"/>
          <p:cNvSpPr/>
          <p:nvPr/>
        </p:nvSpPr>
        <p:spPr>
          <a:xfrm>
            <a:off x="279806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typed VMRequest — never the SSH key</a:t>
            </a:r>
            <a:endParaRPr lang="en-US" sz="850" dirty="0"/>
          </a:p>
        </p:txBody>
      </p:sp>
      <p:sp>
        <p:nvSpPr>
          <p:cNvPr id="20" name="Text 18"/>
          <p:cNvSpPr/>
          <p:nvPr/>
        </p:nvSpPr>
        <p:spPr>
          <a:xfrm>
            <a:off x="480060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1" name="Shape 19"/>
          <p:cNvSpPr/>
          <p:nvPr/>
        </p:nvSpPr>
        <p:spPr>
          <a:xfrm>
            <a:off x="5074920" y="2569464"/>
            <a:ext cx="2057400" cy="749808"/>
          </a:xfrm>
          <a:prstGeom prst="roundRect">
            <a:avLst>
              <a:gd name="adj" fmla="val 8537"/>
            </a:avLst>
          </a:prstGeom>
          <a:solidFill>
            <a:srgbClr val="DBEAFE"/>
          </a:solidFill>
          <a:ln w="19050">
            <a:solidFill>
              <a:srgbClr val="2563EB"/>
            </a:solidFill>
            <a:prstDash val="solid"/>
          </a:ln>
        </p:spPr>
      </p:sp>
      <p:sp>
        <p:nvSpPr>
          <p:cNvPr id="22" name="Text 20"/>
          <p:cNvSpPr/>
          <p:nvPr/>
        </p:nvSpPr>
        <p:spPr>
          <a:xfrm>
            <a:off x="5129784" y="2636947"/>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Reconcile size</a:t>
            </a:r>
            <a:endParaRPr lang="en-US" sz="1050" dirty="0"/>
          </a:p>
        </p:txBody>
      </p:sp>
      <p:sp>
        <p:nvSpPr>
          <p:cNvPr id="23" name="Text 21"/>
          <p:cNvSpPr/>
          <p:nvPr/>
        </p:nvSpPr>
        <p:spPr>
          <a:xfrm>
            <a:off x="512978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the delta, stated</a:t>
            </a:r>
            <a:endParaRPr lang="en-US" sz="850" dirty="0"/>
          </a:p>
        </p:txBody>
      </p:sp>
      <p:sp>
        <p:nvSpPr>
          <p:cNvPr id="24" name="Text 22"/>
          <p:cNvSpPr/>
          <p:nvPr/>
        </p:nvSpPr>
        <p:spPr>
          <a:xfrm>
            <a:off x="713232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5" name="Shape 23"/>
          <p:cNvSpPr/>
          <p:nvPr/>
        </p:nvSpPr>
        <p:spPr>
          <a:xfrm>
            <a:off x="7406640" y="2569464"/>
            <a:ext cx="2057400" cy="749808"/>
          </a:xfrm>
          <a:prstGeom prst="roundRect">
            <a:avLst>
              <a:gd name="adj" fmla="val 8537"/>
            </a:avLst>
          </a:prstGeom>
          <a:solidFill>
            <a:srgbClr val="DBEAFE"/>
          </a:solidFill>
          <a:ln w="19050">
            <a:solidFill>
              <a:srgbClr val="2563EB"/>
            </a:solidFill>
            <a:prstDash val="solid"/>
          </a:ln>
        </p:spPr>
      </p:sp>
      <p:sp>
        <p:nvSpPr>
          <p:cNvPr id="26" name="Text 24"/>
          <p:cNvSpPr/>
          <p:nvPr/>
        </p:nvSpPr>
        <p:spPr>
          <a:xfrm>
            <a:off x="7461504" y="2636947"/>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Pre-flight, live</a:t>
            </a:r>
            <a:endParaRPr lang="en-US" sz="1050" dirty="0"/>
          </a:p>
        </p:txBody>
      </p:sp>
      <p:sp>
        <p:nvSpPr>
          <p:cNvPr id="27" name="Text 25"/>
          <p:cNvSpPr/>
          <p:nvPr/>
        </p:nvSpPr>
        <p:spPr>
          <a:xfrm>
            <a:off x="746150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quota · name · image · NAD · key</a:t>
            </a:r>
            <a:endParaRPr lang="en-US" sz="850" dirty="0"/>
          </a:p>
        </p:txBody>
      </p:sp>
      <p:sp>
        <p:nvSpPr>
          <p:cNvPr id="28" name="Text 26"/>
          <p:cNvSpPr/>
          <p:nvPr/>
        </p:nvSpPr>
        <p:spPr>
          <a:xfrm>
            <a:off x="946404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9" name="Shape 27"/>
          <p:cNvSpPr/>
          <p:nvPr/>
        </p:nvSpPr>
        <p:spPr>
          <a:xfrm>
            <a:off x="9738360" y="2569464"/>
            <a:ext cx="2057400" cy="749808"/>
          </a:xfrm>
          <a:prstGeom prst="roundRect">
            <a:avLst>
              <a:gd name="adj" fmla="val 8537"/>
            </a:avLst>
          </a:prstGeom>
          <a:solidFill>
            <a:srgbClr val="DBEAFE"/>
          </a:solidFill>
          <a:ln w="19050">
            <a:solidFill>
              <a:srgbClr val="2563EB"/>
            </a:solidFill>
            <a:prstDash val="solid"/>
          </a:ln>
        </p:spPr>
      </p:sp>
      <p:sp>
        <p:nvSpPr>
          <p:cNvPr id="30" name="Text 28"/>
          <p:cNvSpPr/>
          <p:nvPr/>
        </p:nvSpPr>
        <p:spPr>
          <a:xfrm>
            <a:off x="9793224" y="2636947"/>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Dry-run</a:t>
            </a:r>
            <a:endParaRPr lang="en-US" sz="1050" dirty="0"/>
          </a:p>
        </p:txBody>
      </p:sp>
      <p:sp>
        <p:nvSpPr>
          <p:cNvPr id="31" name="Text 29"/>
          <p:cNvSpPr/>
          <p:nvPr/>
        </p:nvSpPr>
        <p:spPr>
          <a:xfrm>
            <a:off x="979322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nothing created</a:t>
            </a:r>
            <a:endParaRPr lang="en-US" sz="850" dirty="0"/>
          </a:p>
        </p:txBody>
      </p:sp>
      <p:sp>
        <p:nvSpPr>
          <p:cNvPr id="32" name="Shape 30"/>
          <p:cNvSpPr/>
          <p:nvPr/>
        </p:nvSpPr>
        <p:spPr>
          <a:xfrm>
            <a:off x="2606040" y="3438144"/>
            <a:ext cx="6995160" cy="548640"/>
          </a:xfrm>
          <a:prstGeom prst="roundRect">
            <a:avLst>
              <a:gd name="adj" fmla="val 11667"/>
            </a:avLst>
          </a:prstGeom>
          <a:solidFill>
            <a:srgbClr val="D97706"/>
          </a:solidFill>
          <a:ln w="25400">
            <a:solidFill>
              <a:srgbClr val="92400E"/>
            </a:solidFill>
            <a:prstDash val="solid"/>
          </a:ln>
        </p:spPr>
      </p:sp>
      <p:sp>
        <p:nvSpPr>
          <p:cNvPr id="33" name="Text 31"/>
          <p:cNvSpPr/>
          <p:nvPr/>
        </p:nvSpPr>
        <p:spPr>
          <a:xfrm>
            <a:off x="2606040" y="3438144"/>
            <a:ext cx="6995160" cy="548640"/>
          </a:xfrm>
          <a:prstGeom prst="rect">
            <a:avLst/>
          </a:prstGeom>
          <a:noFill/>
          <a:ln/>
        </p:spPr>
        <p:txBody>
          <a:bodyPr wrap="square"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  APPROVE — CONSOLE, OR A SERVICENOW CHANGE BOARD  👤</a:t>
            </a:r>
            <a:endParaRPr lang="en-US" sz="1200" dirty="0"/>
          </a:p>
        </p:txBody>
      </p:sp>
      <p:sp>
        <p:nvSpPr>
          <p:cNvPr id="34" name="Text 32"/>
          <p:cNvSpPr/>
          <p:nvPr/>
        </p:nvSpPr>
        <p:spPr>
          <a:xfrm>
            <a:off x="411480" y="4105656"/>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PROVISION</a:t>
            </a:r>
            <a:endParaRPr lang="en-US" sz="900" dirty="0"/>
          </a:p>
        </p:txBody>
      </p:sp>
      <p:sp>
        <p:nvSpPr>
          <p:cNvPr id="35" name="Shape 33"/>
          <p:cNvSpPr/>
          <p:nvPr/>
        </p:nvSpPr>
        <p:spPr>
          <a:xfrm>
            <a:off x="411480" y="4279392"/>
            <a:ext cx="2640330" cy="749808"/>
          </a:xfrm>
          <a:prstGeom prst="roundRect">
            <a:avLst>
              <a:gd name="adj" fmla="val 8537"/>
            </a:avLst>
          </a:prstGeom>
          <a:solidFill>
            <a:srgbClr val="DBEAFE"/>
          </a:solidFill>
          <a:ln w="19050">
            <a:solidFill>
              <a:srgbClr val="2563EB"/>
            </a:solidFill>
            <a:prstDash val="solid"/>
          </a:ln>
        </p:spPr>
      </p:sp>
      <p:sp>
        <p:nvSpPr>
          <p:cNvPr id="36" name="Text 34"/>
          <p:cNvSpPr/>
          <p:nvPr/>
        </p:nvSpPr>
        <p:spPr>
          <a:xfrm>
            <a:off x="466344" y="4346875"/>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Re-check pre-flight</a:t>
            </a:r>
            <a:endParaRPr lang="en-US" sz="1050" dirty="0"/>
          </a:p>
        </p:txBody>
      </p:sp>
      <p:sp>
        <p:nvSpPr>
          <p:cNvPr id="37" name="Text 35"/>
          <p:cNvSpPr/>
          <p:nvPr/>
        </p:nvSpPr>
        <p:spPr>
          <a:xfrm>
            <a:off x="466344" y="4654296"/>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the cluster moved on</a:t>
            </a:r>
            <a:endParaRPr lang="en-US" sz="850" dirty="0"/>
          </a:p>
        </p:txBody>
      </p:sp>
      <p:sp>
        <p:nvSpPr>
          <p:cNvPr id="38" name="Text 36"/>
          <p:cNvSpPr/>
          <p:nvPr/>
        </p:nvSpPr>
        <p:spPr>
          <a:xfrm>
            <a:off x="3051810" y="452628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9" name="Shape 37"/>
          <p:cNvSpPr/>
          <p:nvPr/>
        </p:nvSpPr>
        <p:spPr>
          <a:xfrm>
            <a:off x="3326130" y="4279392"/>
            <a:ext cx="2640330" cy="749808"/>
          </a:xfrm>
          <a:prstGeom prst="roundRect">
            <a:avLst>
              <a:gd name="adj" fmla="val 8537"/>
            </a:avLst>
          </a:prstGeom>
          <a:solidFill>
            <a:srgbClr val="DBEAFE"/>
          </a:solidFill>
          <a:ln w="19050">
            <a:solidFill>
              <a:srgbClr val="2563EB"/>
            </a:solidFill>
            <a:prstDash val="solid"/>
          </a:ln>
        </p:spPr>
      </p:sp>
      <p:sp>
        <p:nvSpPr>
          <p:cNvPr id="40" name="Text 38"/>
          <p:cNvSpPr/>
          <p:nvPr/>
        </p:nvSpPr>
        <p:spPr>
          <a:xfrm>
            <a:off x="3380994" y="4346875"/>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Apply manifest</a:t>
            </a:r>
            <a:endParaRPr lang="en-US" sz="1050" dirty="0"/>
          </a:p>
        </p:txBody>
      </p:sp>
      <p:sp>
        <p:nvSpPr>
          <p:cNvPr id="41" name="Text 39"/>
          <p:cNvSpPr/>
          <p:nvPr/>
        </p:nvSpPr>
        <p:spPr>
          <a:xfrm>
            <a:off x="3380994" y="4654296"/>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DataVolume + cloud-init</a:t>
            </a:r>
            <a:endParaRPr lang="en-US" sz="850" dirty="0"/>
          </a:p>
        </p:txBody>
      </p:sp>
      <p:sp>
        <p:nvSpPr>
          <p:cNvPr id="42" name="Text 40"/>
          <p:cNvSpPr/>
          <p:nvPr/>
        </p:nvSpPr>
        <p:spPr>
          <a:xfrm>
            <a:off x="5966460" y="452628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3" name="Shape 41"/>
          <p:cNvSpPr/>
          <p:nvPr/>
        </p:nvSpPr>
        <p:spPr>
          <a:xfrm>
            <a:off x="6240780" y="4279392"/>
            <a:ext cx="2640330" cy="749808"/>
          </a:xfrm>
          <a:prstGeom prst="roundRect">
            <a:avLst>
              <a:gd name="adj" fmla="val 8537"/>
            </a:avLst>
          </a:prstGeom>
          <a:solidFill>
            <a:srgbClr val="DBEAFE"/>
          </a:solidFill>
          <a:ln w="19050">
            <a:solidFill>
              <a:srgbClr val="2563EB"/>
            </a:solidFill>
            <a:prstDash val="solid"/>
          </a:ln>
        </p:spPr>
      </p:sp>
      <p:sp>
        <p:nvSpPr>
          <p:cNvPr id="44" name="Text 42"/>
          <p:cNvSpPr/>
          <p:nvPr/>
        </p:nvSpPr>
        <p:spPr>
          <a:xfrm>
            <a:off x="6295644" y="4346875"/>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Ledger the change</a:t>
            </a:r>
            <a:endParaRPr lang="en-US" sz="1050" dirty="0"/>
          </a:p>
        </p:txBody>
      </p:sp>
      <p:sp>
        <p:nvSpPr>
          <p:cNvPr id="45" name="Text 43"/>
          <p:cNvSpPr/>
          <p:nvPr/>
        </p:nvSpPr>
        <p:spPr>
          <a:xfrm>
            <a:off x="6295644" y="4654296"/>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inverse = decommission</a:t>
            </a:r>
            <a:endParaRPr lang="en-US" sz="850" dirty="0"/>
          </a:p>
        </p:txBody>
      </p:sp>
      <p:sp>
        <p:nvSpPr>
          <p:cNvPr id="46" name="Text 44"/>
          <p:cNvSpPr/>
          <p:nvPr/>
        </p:nvSpPr>
        <p:spPr>
          <a:xfrm>
            <a:off x="8881110" y="452628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7" name="Shape 45"/>
          <p:cNvSpPr/>
          <p:nvPr/>
        </p:nvSpPr>
        <p:spPr>
          <a:xfrm>
            <a:off x="9155430" y="4279392"/>
            <a:ext cx="2640330" cy="749808"/>
          </a:xfrm>
          <a:prstGeom prst="roundRect">
            <a:avLst>
              <a:gd name="adj" fmla="val 8537"/>
            </a:avLst>
          </a:prstGeom>
          <a:solidFill>
            <a:srgbClr val="DBEAFE"/>
          </a:solidFill>
          <a:ln w="19050">
            <a:solidFill>
              <a:srgbClr val="2563EB"/>
            </a:solidFill>
            <a:prstDash val="solid"/>
          </a:ln>
        </p:spPr>
      </p:sp>
      <p:sp>
        <p:nvSpPr>
          <p:cNvPr id="48" name="Text 46"/>
          <p:cNvSpPr/>
          <p:nvPr/>
        </p:nvSpPr>
        <p:spPr>
          <a:xfrm>
            <a:off x="9210294" y="4346875"/>
            <a:ext cx="253060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Return access</a:t>
            </a:r>
            <a:endParaRPr lang="en-US" sz="1050" dirty="0"/>
          </a:p>
        </p:txBody>
      </p:sp>
      <p:sp>
        <p:nvSpPr>
          <p:cNvPr id="49" name="Text 47"/>
          <p:cNvSpPr/>
          <p:nvPr/>
        </p:nvSpPr>
        <p:spPr>
          <a:xfrm>
            <a:off x="9210294" y="4654296"/>
            <a:ext cx="253060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virtctl ssh · console · IP</a:t>
            </a:r>
            <a:endParaRPr lang="en-US" sz="850" dirty="0"/>
          </a:p>
        </p:txBody>
      </p:sp>
      <p:sp>
        <p:nvSpPr>
          <p:cNvPr id="50" name="Text 48"/>
          <p:cNvSpPr/>
          <p:nvPr/>
        </p:nvSpPr>
        <p:spPr>
          <a:xfrm>
            <a:off x="411480" y="5148072"/>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OWNERSHIP — the part nobody else does</a:t>
            </a:r>
            <a:endParaRPr lang="en-US" sz="900" dirty="0"/>
          </a:p>
        </p:txBody>
      </p:sp>
      <p:sp>
        <p:nvSpPr>
          <p:cNvPr id="51" name="Shape 49"/>
          <p:cNvSpPr/>
          <p:nvPr/>
        </p:nvSpPr>
        <p:spPr>
          <a:xfrm>
            <a:off x="411480" y="5321808"/>
            <a:ext cx="2736342" cy="420624"/>
          </a:xfrm>
          <a:prstGeom prst="roundRect">
            <a:avLst>
              <a:gd name="adj" fmla="val 10870"/>
            </a:avLst>
          </a:prstGeom>
          <a:solidFill>
            <a:srgbClr val="D1FAE5"/>
          </a:solidFill>
          <a:ln w="12700">
            <a:solidFill>
              <a:srgbClr val="059669"/>
            </a:solidFill>
            <a:prstDash val="solid"/>
          </a:ln>
        </p:spPr>
      </p:sp>
      <p:sp>
        <p:nvSpPr>
          <p:cNvPr id="52" name="Text 50"/>
          <p:cNvSpPr/>
          <p:nvPr/>
        </p:nvSpPr>
        <p:spPr>
          <a:xfrm>
            <a:off x="466344"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Provenance on the VM</a:t>
            </a:r>
            <a:endParaRPr lang="en-US" sz="950" dirty="0"/>
          </a:p>
        </p:txBody>
      </p:sp>
      <p:sp>
        <p:nvSpPr>
          <p:cNvPr id="53" name="Shape 51"/>
          <p:cNvSpPr/>
          <p:nvPr/>
        </p:nvSpPr>
        <p:spPr>
          <a:xfrm>
            <a:off x="3294126" y="5321808"/>
            <a:ext cx="2736342" cy="420624"/>
          </a:xfrm>
          <a:prstGeom prst="roundRect">
            <a:avLst>
              <a:gd name="adj" fmla="val 10870"/>
            </a:avLst>
          </a:prstGeom>
          <a:solidFill>
            <a:srgbClr val="D1FAE5"/>
          </a:solidFill>
          <a:ln w="12700">
            <a:solidFill>
              <a:srgbClr val="059669"/>
            </a:solidFill>
            <a:prstDash val="solid"/>
          </a:ln>
        </p:spPr>
      </p:sp>
      <p:sp>
        <p:nvSpPr>
          <p:cNvPr id="54" name="Text 52"/>
          <p:cNvSpPr/>
          <p:nvPr/>
        </p:nvSpPr>
        <p:spPr>
          <a:xfrm>
            <a:off x="3348990"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Right-size later, citing the request</a:t>
            </a:r>
            <a:endParaRPr lang="en-US" sz="950" dirty="0"/>
          </a:p>
        </p:txBody>
      </p:sp>
      <p:sp>
        <p:nvSpPr>
          <p:cNvPr id="55" name="Shape 53"/>
          <p:cNvSpPr/>
          <p:nvPr/>
        </p:nvSpPr>
        <p:spPr>
          <a:xfrm>
            <a:off x="6176772" y="5321808"/>
            <a:ext cx="2736342" cy="420624"/>
          </a:xfrm>
          <a:prstGeom prst="roundRect">
            <a:avLst>
              <a:gd name="adj" fmla="val 10870"/>
            </a:avLst>
          </a:prstGeom>
          <a:solidFill>
            <a:srgbClr val="D1FAE5"/>
          </a:solidFill>
          <a:ln w="12700">
            <a:solidFill>
              <a:srgbClr val="059669"/>
            </a:solidFill>
            <a:prstDash val="solid"/>
          </a:ln>
        </p:spPr>
      </p:sp>
      <p:sp>
        <p:nvSpPr>
          <p:cNvPr id="56" name="Text 54"/>
          <p:cNvSpPr/>
          <p:nvPr/>
        </p:nvSpPr>
        <p:spPr>
          <a:xfrm>
            <a:off x="6231636"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Enforce the expiry</a:t>
            </a:r>
            <a:endParaRPr lang="en-US" sz="950" dirty="0"/>
          </a:p>
        </p:txBody>
      </p:sp>
      <p:sp>
        <p:nvSpPr>
          <p:cNvPr id="57" name="Shape 55"/>
          <p:cNvSpPr/>
          <p:nvPr/>
        </p:nvSpPr>
        <p:spPr>
          <a:xfrm>
            <a:off x="9059418" y="5321808"/>
            <a:ext cx="2736342" cy="420624"/>
          </a:xfrm>
          <a:prstGeom prst="roundRect">
            <a:avLst>
              <a:gd name="adj" fmla="val 10870"/>
            </a:avLst>
          </a:prstGeom>
          <a:solidFill>
            <a:srgbClr val="D1FAE5"/>
          </a:solidFill>
          <a:ln w="12700">
            <a:solidFill>
              <a:srgbClr val="059669"/>
            </a:solidFill>
            <a:prstDash val="solid"/>
          </a:ln>
        </p:spPr>
      </p:sp>
      <p:sp>
        <p:nvSpPr>
          <p:cNvPr id="58" name="Text 56"/>
          <p:cNvSpPr/>
          <p:nvPr/>
        </p:nvSpPr>
        <p:spPr>
          <a:xfrm>
            <a:off x="9114282"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Health → UC-05's pipeline</a:t>
            </a:r>
            <a:endParaRPr lang="en-US" sz="950" dirty="0"/>
          </a:p>
        </p:txBody>
      </p:sp>
      <p:sp>
        <p:nvSpPr>
          <p:cNvPr id="59" name="Shape 57"/>
          <p:cNvSpPr/>
          <p:nvPr/>
        </p:nvSpPr>
        <p:spPr>
          <a:xfrm>
            <a:off x="411480" y="6089904"/>
            <a:ext cx="173736" cy="173736"/>
          </a:xfrm>
          <a:prstGeom prst="roundRect">
            <a:avLst>
              <a:gd name="adj" fmla="val 15789"/>
            </a:avLst>
          </a:prstGeom>
          <a:solidFill>
            <a:srgbClr val="EDE9FE"/>
          </a:solidFill>
          <a:ln w="12700">
            <a:solidFill>
              <a:srgbClr val="7C3AED"/>
            </a:solidFill>
            <a:prstDash val="solid"/>
          </a:ln>
        </p:spPr>
      </p:sp>
      <p:sp>
        <p:nvSpPr>
          <p:cNvPr id="60" name="Text 58"/>
          <p:cNvSpPr/>
          <p:nvPr/>
        </p:nvSpPr>
        <p:spPr>
          <a:xfrm>
            <a:off x="621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AI</a:t>
            </a:r>
            <a:endParaRPr lang="en-US" sz="850" dirty="0"/>
          </a:p>
        </p:txBody>
      </p:sp>
      <p:sp>
        <p:nvSpPr>
          <p:cNvPr id="61" name="Shape 59"/>
          <p:cNvSpPr/>
          <p:nvPr/>
        </p:nvSpPr>
        <p:spPr>
          <a:xfrm>
            <a:off x="1554480" y="6089904"/>
            <a:ext cx="173736" cy="173736"/>
          </a:xfrm>
          <a:prstGeom prst="roundRect">
            <a:avLst>
              <a:gd name="adj" fmla="val 15789"/>
            </a:avLst>
          </a:prstGeom>
          <a:solidFill>
            <a:srgbClr val="DBEAFE"/>
          </a:solidFill>
          <a:ln w="12700">
            <a:solidFill>
              <a:srgbClr val="2563EB"/>
            </a:solidFill>
            <a:prstDash val="solid"/>
          </a:ln>
        </p:spPr>
      </p:sp>
      <p:sp>
        <p:nvSpPr>
          <p:cNvPr id="62" name="Text 60"/>
          <p:cNvSpPr/>
          <p:nvPr/>
        </p:nvSpPr>
        <p:spPr>
          <a:xfrm>
            <a:off x="1764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Automatic</a:t>
            </a:r>
            <a:endParaRPr lang="en-US" sz="850" dirty="0"/>
          </a:p>
        </p:txBody>
      </p:sp>
      <p:sp>
        <p:nvSpPr>
          <p:cNvPr id="63" name="Shape 61"/>
          <p:cNvSpPr/>
          <p:nvPr/>
        </p:nvSpPr>
        <p:spPr>
          <a:xfrm>
            <a:off x="2697480" y="6089904"/>
            <a:ext cx="173736" cy="173736"/>
          </a:xfrm>
          <a:prstGeom prst="roundRect">
            <a:avLst>
              <a:gd name="adj" fmla="val 15789"/>
            </a:avLst>
          </a:prstGeom>
          <a:solidFill>
            <a:srgbClr val="FEF3C7"/>
          </a:solidFill>
          <a:ln w="12700">
            <a:solidFill>
              <a:srgbClr val="D97706"/>
            </a:solidFill>
            <a:prstDash val="solid"/>
          </a:ln>
        </p:spPr>
      </p:sp>
      <p:sp>
        <p:nvSpPr>
          <p:cNvPr id="64" name="Text 62"/>
          <p:cNvSpPr/>
          <p:nvPr/>
        </p:nvSpPr>
        <p:spPr>
          <a:xfrm>
            <a:off x="2907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Human</a:t>
            </a:r>
            <a:endParaRPr lang="en-US" sz="850" dirty="0"/>
          </a:p>
        </p:txBody>
      </p:sp>
      <p:sp>
        <p:nvSpPr>
          <p:cNvPr id="65" name="Shape 63"/>
          <p:cNvSpPr/>
          <p:nvPr/>
        </p:nvSpPr>
        <p:spPr>
          <a:xfrm>
            <a:off x="3840480" y="6089904"/>
            <a:ext cx="173736" cy="173736"/>
          </a:xfrm>
          <a:prstGeom prst="roundRect">
            <a:avLst>
              <a:gd name="adj" fmla="val 15789"/>
            </a:avLst>
          </a:prstGeom>
          <a:solidFill>
            <a:srgbClr val="D1FAE5"/>
          </a:solidFill>
          <a:ln w="12700">
            <a:solidFill>
              <a:srgbClr val="059669"/>
            </a:solidFill>
            <a:prstDash val="solid"/>
          </a:ln>
        </p:spPr>
      </p:sp>
      <p:sp>
        <p:nvSpPr>
          <p:cNvPr id="66" name="Text 64"/>
          <p:cNvSpPr/>
          <p:nvPr/>
        </p:nvSpPr>
        <p:spPr>
          <a:xfrm>
            <a:off x="4050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Verified</a:t>
            </a:r>
            <a:endParaRPr lang="en-US" sz="850" dirty="0"/>
          </a:p>
        </p:txBody>
      </p:sp>
      <p:sp>
        <p:nvSpPr>
          <p:cNvPr id="67" name="Text 65"/>
          <p:cNvSpPr/>
          <p:nvPr/>
        </p:nvSpPr>
        <p:spPr>
          <a:xfrm>
            <a:off x="5120640" y="6025896"/>
            <a:ext cx="6675120" cy="292608"/>
          </a:xfrm>
          <a:prstGeom prst="rect">
            <a:avLst/>
          </a:prstGeom>
          <a:noFill/>
          <a:ln/>
        </p:spPr>
        <p:txBody>
          <a:bodyPr wrap="square" rtlCol="0" anchor="ctr"/>
          <a:lstStyle/>
          <a:p>
            <a:pPr algn="r" indent="0" marL="0">
              <a:buNone/>
            </a:pPr>
            <a:r>
              <a:rPr lang="en-US" sz="1050" b="1" dirty="0">
                <a:solidFill>
                  <a:srgbClr val="D97706"/>
                </a:solidFill>
                <a:latin typeface="Inter" pitchFamily="34" charset="0"/>
                <a:ea typeface="Inter" pitchFamily="34" charset="-122"/>
                <a:cs typeface="Inter" pitchFamily="34" charset="-120"/>
              </a:rPr>
              <a:t>Never autonomous — by construction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1060704"/>
          </a:xfrm>
          <a:prstGeom prst="rect">
            <a:avLst/>
          </a:prstGeom>
          <a:solidFill>
            <a:srgbClr val="0F172A"/>
          </a:solidFill>
          <a:ln/>
        </p:spPr>
      </p:sp>
      <p:sp>
        <p:nvSpPr>
          <p:cNvPr id="3" name="Text 1"/>
          <p:cNvSpPr/>
          <p:nvPr/>
        </p:nvSpPr>
        <p:spPr>
          <a:xfrm>
            <a:off x="411480" y="118872"/>
            <a:ext cx="4572000" cy="219456"/>
          </a:xfrm>
          <a:prstGeom prst="rect">
            <a:avLst/>
          </a:prstGeom>
          <a:noFill/>
          <a:ln/>
        </p:spPr>
        <p:txBody>
          <a:bodyPr wrap="square" rtlCol="0" anchor="ctr"/>
          <a:lstStyle/>
          <a:p>
            <a:pPr indent="0" marL="0">
              <a:buNone/>
            </a:pPr>
            <a:r>
              <a:rPr lang="en-US" sz="1000" b="1" spc="220" kern="0" dirty="0">
                <a:solidFill>
                  <a:srgbClr val="0891B2"/>
                </a:solidFill>
                <a:latin typeface="Inter" pitchFamily="34" charset="0"/>
                <a:ea typeface="Inter" pitchFamily="34" charset="-122"/>
                <a:cs typeface="Inter" pitchFamily="34" charset="-120"/>
              </a:rPr>
              <a:t>TCS AGENTIC AI</a:t>
            </a:r>
            <a:endParaRPr lang="en-US" sz="1000" dirty="0"/>
          </a:p>
        </p:txBody>
      </p:sp>
      <p:sp>
        <p:nvSpPr>
          <p:cNvPr id="4" name="Text 2"/>
          <p:cNvSpPr/>
          <p:nvPr/>
        </p:nvSpPr>
        <p:spPr>
          <a:xfrm>
            <a:off x="411480" y="329184"/>
            <a:ext cx="9692640" cy="402336"/>
          </a:xfrm>
          <a:prstGeom prst="rect">
            <a:avLst/>
          </a:prstGeom>
          <a:noFill/>
          <a:ln/>
        </p:spPr>
        <p:txBody>
          <a:bodyPr wrap="square" rtlCol="0" anchor="ctr"/>
          <a:lstStyle/>
          <a:p>
            <a:pPr indent="0" marL="0">
              <a:buNone/>
            </a:pPr>
            <a:r>
              <a:rPr lang="en-US" sz="2300" b="1" dirty="0">
                <a:solidFill>
                  <a:srgbClr val="FFFFFF"/>
                </a:solidFill>
                <a:latin typeface="Inter" pitchFamily="34" charset="0"/>
                <a:ea typeface="Inter" pitchFamily="34" charset="-122"/>
                <a:cs typeface="Inter" pitchFamily="34" charset="-120"/>
              </a:rPr>
              <a:t>App Deployment Agent</a:t>
            </a:r>
            <a:endParaRPr lang="en-US" sz="2300" dirty="0"/>
          </a:p>
        </p:txBody>
      </p:sp>
      <p:sp>
        <p:nvSpPr>
          <p:cNvPr id="5" name="Text 3"/>
          <p:cNvSpPr/>
          <p:nvPr/>
        </p:nvSpPr>
        <p:spPr>
          <a:xfrm>
            <a:off x="411480" y="749808"/>
            <a:ext cx="9692640" cy="256032"/>
          </a:xfrm>
          <a:prstGeom prst="rect">
            <a:avLst/>
          </a:prstGeom>
          <a:noFill/>
          <a:ln/>
        </p:spPr>
        <p:txBody>
          <a:bodyPr wrap="square" rtlCol="0" anchor="ctr"/>
          <a:lstStyle/>
          <a:p>
            <a:pPr indent="0" marL="0">
              <a:buNone/>
            </a:pPr>
            <a:r>
              <a:rPr lang="en-US" sz="1050" i="1" dirty="0">
                <a:solidFill>
                  <a:srgbClr val="94A3B8"/>
                </a:solidFill>
                <a:latin typeface="Inter" pitchFamily="34" charset="0"/>
                <a:ea typeface="Inter" pitchFamily="34" charset="-122"/>
                <a:cs typeface="Inter" pitchFamily="34" charset="-120"/>
              </a:rPr>
              <a:t>Document-driven application deployment — the requirement document IS the deployment</a:t>
            </a:r>
            <a:endParaRPr lang="en-US" sz="1050" dirty="0"/>
          </a:p>
        </p:txBody>
      </p:sp>
      <p:sp>
        <p:nvSpPr>
          <p:cNvPr id="6" name="Text 4"/>
          <p:cNvSpPr/>
          <p:nvPr/>
        </p:nvSpPr>
        <p:spPr>
          <a:xfrm>
            <a:off x="10561320" y="310896"/>
            <a:ext cx="1234440" cy="365760"/>
          </a:xfrm>
          <a:prstGeom prst="rect">
            <a:avLst>
              <a:gd name="adj" fmla="val 12500"/>
            </a:avLst>
          </a:prstGeom>
          <a:solidFill>
            <a:srgbClr val="2563EB"/>
          </a:solid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UC-07</a:t>
            </a:r>
            <a:endParaRPr lang="en-US" sz="1500" dirty="0"/>
          </a:p>
        </p:txBody>
      </p:sp>
      <p:sp>
        <p:nvSpPr>
          <p:cNvPr id="7" name="Text 5"/>
          <p:cNvSpPr/>
          <p:nvPr/>
        </p:nvSpPr>
        <p:spPr>
          <a:xfrm>
            <a:off x="411480" y="1188720"/>
            <a:ext cx="3657600" cy="182880"/>
          </a:xfrm>
          <a:prstGeom prst="rect">
            <a:avLst/>
          </a:prstGeom>
          <a:noFill/>
          <a:ln/>
        </p:spPr>
        <p:txBody>
          <a:bodyPr wrap="square" rtlCol="0" anchor="ctr"/>
          <a:lstStyle/>
          <a:p>
            <a:pPr indent="0" marL="0">
              <a:buNone/>
            </a:pPr>
            <a:r>
              <a:rPr lang="en-US" sz="850" b="1" spc="140" kern="0" dirty="0">
                <a:solidFill>
                  <a:srgbClr val="64748B"/>
                </a:solidFill>
                <a:latin typeface="Inter" pitchFamily="34" charset="0"/>
                <a:ea typeface="Inter" pitchFamily="34" charset="-122"/>
                <a:cs typeface="Inter" pitchFamily="34" charset="-120"/>
              </a:rPr>
              <a:t>USE CASE DESCRIPTION</a:t>
            </a:r>
            <a:endParaRPr lang="en-US" sz="850" dirty="0"/>
          </a:p>
        </p:txBody>
      </p:sp>
      <p:sp>
        <p:nvSpPr>
          <p:cNvPr id="8" name="Text 6"/>
          <p:cNvSpPr/>
          <p:nvPr/>
        </p:nvSpPr>
        <p:spPr>
          <a:xfrm>
            <a:off x="411480" y="1389888"/>
            <a:ext cx="11384280" cy="914400"/>
          </a:xfrm>
          <a:prstGeom prst="rect">
            <a:avLst/>
          </a:prstGeom>
          <a:noFill/>
          <a:ln/>
        </p:spPr>
        <p:txBody>
          <a:bodyPr wrap="square" rtlCol="0" anchor="t"/>
          <a:lstStyle/>
          <a:p>
            <a:pPr indent="0" marL="0">
              <a:lnSpc>
                <a:spcPct val="120000"/>
              </a:lnSpc>
              <a:buNone/>
            </a:pPr>
            <a:r>
              <a:rPr lang="en-US" sz="1200" dirty="0">
                <a:solidFill>
                  <a:srgbClr val="1E293B"/>
                </a:solidFill>
                <a:latin typeface="Inter" pitchFamily="34" charset="0"/>
                <a:ea typeface="Inter" pitchFamily="34" charset="-122"/>
                <a:cs typeface="Inter" pitchFamily="34" charset="-120"/>
              </a:rPr>
              <a:t>A requirement document — Word or Markdown, uploaded or pulled straight from Git — becomes a complete, security-hardened, zero-trust application. Structured documents generate deterministically: the same commit produces the same manifests every time. The flow does not stop at “pods are green”.</a:t>
            </a:r>
            <a:endParaRPr lang="en-US" sz="1200" dirty="0"/>
          </a:p>
        </p:txBody>
      </p:sp>
      <p:sp>
        <p:nvSpPr>
          <p:cNvPr id="9" name="Text 7"/>
          <p:cNvSpPr/>
          <p:nvPr/>
        </p:nvSpPr>
        <p:spPr>
          <a:xfrm>
            <a:off x="411480" y="2176272"/>
            <a:ext cx="3657600" cy="201168"/>
          </a:xfrm>
          <a:prstGeom prst="rect">
            <a:avLst/>
          </a:prstGeom>
          <a:noFill/>
          <a:ln/>
        </p:spPr>
        <p:txBody>
          <a:bodyPr wrap="square" rtlCol="0" anchor="ctr"/>
          <a:lstStyle/>
          <a:p>
            <a:pPr indent="0" marL="0">
              <a:buNone/>
            </a:pPr>
            <a:r>
              <a:rPr lang="en-US" sz="850" b="1" spc="140" kern="0" dirty="0">
                <a:solidFill>
                  <a:srgbClr val="2563EB"/>
                </a:solidFill>
                <a:latin typeface="Inter" pitchFamily="34" charset="0"/>
                <a:ea typeface="Inter" pitchFamily="34" charset="-122"/>
                <a:cs typeface="Inter" pitchFamily="34" charset="-120"/>
              </a:rPr>
              <a:t>END-TO-END WORKFLOW</a:t>
            </a:r>
            <a:endParaRPr lang="en-US" sz="850" dirty="0"/>
          </a:p>
        </p:txBody>
      </p:sp>
      <p:sp>
        <p:nvSpPr>
          <p:cNvPr id="10" name="Text 8"/>
          <p:cNvSpPr/>
          <p:nvPr/>
        </p:nvSpPr>
        <p:spPr>
          <a:xfrm>
            <a:off x="411480" y="2395728"/>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DOCUMENT  →  REVIEWED CODE</a:t>
            </a:r>
            <a:endParaRPr lang="en-US" sz="900" dirty="0"/>
          </a:p>
        </p:txBody>
      </p:sp>
      <p:sp>
        <p:nvSpPr>
          <p:cNvPr id="11" name="Shape 9"/>
          <p:cNvSpPr/>
          <p:nvPr/>
        </p:nvSpPr>
        <p:spPr>
          <a:xfrm>
            <a:off x="411480" y="2569464"/>
            <a:ext cx="2057400" cy="749808"/>
          </a:xfrm>
          <a:prstGeom prst="roundRect">
            <a:avLst>
              <a:gd name="adj" fmla="val 8537"/>
            </a:avLst>
          </a:prstGeom>
          <a:solidFill>
            <a:srgbClr val="FEF3C7"/>
          </a:solidFill>
          <a:ln w="19050">
            <a:solidFill>
              <a:srgbClr val="D97706"/>
            </a:solidFill>
            <a:prstDash val="solid"/>
          </a:ln>
        </p:spPr>
      </p:sp>
      <p:sp>
        <p:nvSpPr>
          <p:cNvPr id="12" name="Text 10"/>
          <p:cNvSpPr/>
          <p:nvPr/>
        </p:nvSpPr>
        <p:spPr>
          <a:xfrm>
            <a:off x="466344" y="2636947"/>
            <a:ext cx="1947672" cy="314919"/>
          </a:xfrm>
          <a:prstGeom prst="rect">
            <a:avLst/>
          </a:prstGeom>
          <a:noFill/>
          <a:ln/>
        </p:spPr>
        <p:txBody>
          <a:bodyPr wrap="square" rtlCol="0" anchor="ctr"/>
          <a:lstStyle/>
          <a:p>
            <a:pPr algn="ctr" indent="0" marL="0">
              <a:buNone/>
            </a:pPr>
            <a:r>
              <a:rPr lang="en-US" sz="1050" b="1" dirty="0">
                <a:solidFill>
                  <a:srgbClr val="92400E"/>
                </a:solidFill>
                <a:latin typeface="Inter" pitchFamily="34" charset="0"/>
                <a:ea typeface="Inter" pitchFamily="34" charset="-122"/>
                <a:cs typeface="Inter" pitchFamily="34" charset="-120"/>
              </a:rPr>
              <a:t>👤 Requirement doc</a:t>
            </a:r>
            <a:endParaRPr lang="en-US" sz="1050" dirty="0"/>
          </a:p>
        </p:txBody>
      </p:sp>
      <p:sp>
        <p:nvSpPr>
          <p:cNvPr id="13" name="Text 11"/>
          <p:cNvSpPr/>
          <p:nvPr/>
        </p:nvSpPr>
        <p:spPr>
          <a:xfrm>
            <a:off x="46634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template · Git · .docx</a:t>
            </a:r>
            <a:endParaRPr lang="en-US" sz="850" dirty="0"/>
          </a:p>
        </p:txBody>
      </p:sp>
      <p:sp>
        <p:nvSpPr>
          <p:cNvPr id="14" name="Text 12"/>
          <p:cNvSpPr/>
          <p:nvPr/>
        </p:nvSpPr>
        <p:spPr>
          <a:xfrm>
            <a:off x="246888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5" name="Shape 13"/>
          <p:cNvSpPr/>
          <p:nvPr/>
        </p:nvSpPr>
        <p:spPr>
          <a:xfrm>
            <a:off x="2743200" y="2569464"/>
            <a:ext cx="2057400" cy="749808"/>
          </a:xfrm>
          <a:prstGeom prst="roundRect">
            <a:avLst>
              <a:gd name="adj" fmla="val 8537"/>
            </a:avLst>
          </a:prstGeom>
          <a:solidFill>
            <a:srgbClr val="DBEAFE"/>
          </a:solidFill>
          <a:ln w="19050">
            <a:solidFill>
              <a:srgbClr val="2563EB"/>
            </a:solidFill>
            <a:prstDash val="solid"/>
          </a:ln>
        </p:spPr>
      </p:sp>
      <p:sp>
        <p:nvSpPr>
          <p:cNvPr id="16" name="Text 14"/>
          <p:cNvSpPr/>
          <p:nvPr/>
        </p:nvSpPr>
        <p:spPr>
          <a:xfrm>
            <a:off x="2798064" y="2636947"/>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Deterministic extract</a:t>
            </a:r>
            <a:endParaRPr lang="en-US" sz="1050" dirty="0"/>
          </a:p>
        </p:txBody>
      </p:sp>
      <p:sp>
        <p:nvSpPr>
          <p:cNvPr id="17" name="Text 15"/>
          <p:cNvSpPr/>
          <p:nvPr/>
        </p:nvSpPr>
        <p:spPr>
          <a:xfrm>
            <a:off x="279806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tables → typed intent</a:t>
            </a:r>
            <a:endParaRPr lang="en-US" sz="850" dirty="0"/>
          </a:p>
        </p:txBody>
      </p:sp>
      <p:sp>
        <p:nvSpPr>
          <p:cNvPr id="18" name="Text 16"/>
          <p:cNvSpPr/>
          <p:nvPr/>
        </p:nvSpPr>
        <p:spPr>
          <a:xfrm>
            <a:off x="480060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9" name="Shape 17"/>
          <p:cNvSpPr/>
          <p:nvPr/>
        </p:nvSpPr>
        <p:spPr>
          <a:xfrm>
            <a:off x="5074920" y="2569464"/>
            <a:ext cx="2057400" cy="749808"/>
          </a:xfrm>
          <a:prstGeom prst="roundRect">
            <a:avLst>
              <a:gd name="adj" fmla="val 8537"/>
            </a:avLst>
          </a:prstGeom>
          <a:solidFill>
            <a:srgbClr val="EDE9FE"/>
          </a:solidFill>
          <a:ln w="19050">
            <a:solidFill>
              <a:srgbClr val="7C3AED"/>
            </a:solidFill>
            <a:prstDash val="solid"/>
          </a:ln>
        </p:spPr>
      </p:sp>
      <p:sp>
        <p:nvSpPr>
          <p:cNvPr id="20" name="Text 18"/>
          <p:cNvSpPr/>
          <p:nvPr/>
        </p:nvSpPr>
        <p:spPr>
          <a:xfrm>
            <a:off x="5129784" y="2636947"/>
            <a:ext cx="1947672" cy="314919"/>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LLM lane (prose)</a:t>
            </a:r>
            <a:endParaRPr lang="en-US" sz="1050" dirty="0"/>
          </a:p>
        </p:txBody>
      </p:sp>
      <p:sp>
        <p:nvSpPr>
          <p:cNvPr id="21" name="Text 19"/>
          <p:cNvSpPr/>
          <p:nvPr/>
        </p:nvSpPr>
        <p:spPr>
          <a:xfrm>
            <a:off x="512978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when there are no tables</a:t>
            </a:r>
            <a:endParaRPr lang="en-US" sz="850" dirty="0"/>
          </a:p>
        </p:txBody>
      </p:sp>
      <p:sp>
        <p:nvSpPr>
          <p:cNvPr id="22" name="Text 20"/>
          <p:cNvSpPr/>
          <p:nvPr/>
        </p:nvSpPr>
        <p:spPr>
          <a:xfrm>
            <a:off x="713232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3" name="Shape 21"/>
          <p:cNvSpPr/>
          <p:nvPr/>
        </p:nvSpPr>
        <p:spPr>
          <a:xfrm>
            <a:off x="7406640" y="2569464"/>
            <a:ext cx="2057400" cy="749808"/>
          </a:xfrm>
          <a:prstGeom prst="roundRect">
            <a:avLst>
              <a:gd name="adj" fmla="val 8537"/>
            </a:avLst>
          </a:prstGeom>
          <a:solidFill>
            <a:srgbClr val="DBEAFE"/>
          </a:solidFill>
          <a:ln w="19050">
            <a:solidFill>
              <a:srgbClr val="2563EB"/>
            </a:solidFill>
            <a:prstDash val="solid"/>
          </a:ln>
        </p:spPr>
      </p:sp>
      <p:sp>
        <p:nvSpPr>
          <p:cNvPr id="24" name="Text 22"/>
          <p:cNvSpPr/>
          <p:nvPr/>
        </p:nvSpPr>
        <p:spPr>
          <a:xfrm>
            <a:off x="7461504" y="2636947"/>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Generate manifests</a:t>
            </a:r>
            <a:endParaRPr lang="en-US" sz="1050" dirty="0"/>
          </a:p>
        </p:txBody>
      </p:sp>
      <p:sp>
        <p:nvSpPr>
          <p:cNvPr id="25" name="Text 23"/>
          <p:cNvSpPr/>
          <p:nvPr/>
        </p:nvSpPr>
        <p:spPr>
          <a:xfrm>
            <a:off x="746150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zero-trust · secrets · probes</a:t>
            </a:r>
            <a:endParaRPr lang="en-US" sz="850" dirty="0"/>
          </a:p>
        </p:txBody>
      </p:sp>
      <p:sp>
        <p:nvSpPr>
          <p:cNvPr id="26" name="Text 24"/>
          <p:cNvSpPr/>
          <p:nvPr/>
        </p:nvSpPr>
        <p:spPr>
          <a:xfrm>
            <a:off x="946404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7" name="Shape 25"/>
          <p:cNvSpPr/>
          <p:nvPr/>
        </p:nvSpPr>
        <p:spPr>
          <a:xfrm>
            <a:off x="9738360" y="2569464"/>
            <a:ext cx="2057400" cy="749808"/>
          </a:xfrm>
          <a:prstGeom prst="roundRect">
            <a:avLst>
              <a:gd name="adj" fmla="val 8537"/>
            </a:avLst>
          </a:prstGeom>
          <a:solidFill>
            <a:srgbClr val="FEF3C7"/>
          </a:solidFill>
          <a:ln w="19050">
            <a:solidFill>
              <a:srgbClr val="D97706"/>
            </a:solidFill>
            <a:prstDash val="solid"/>
          </a:ln>
        </p:spPr>
      </p:sp>
      <p:sp>
        <p:nvSpPr>
          <p:cNvPr id="28" name="Text 26"/>
          <p:cNvSpPr/>
          <p:nvPr/>
        </p:nvSpPr>
        <p:spPr>
          <a:xfrm>
            <a:off x="9793224" y="2636947"/>
            <a:ext cx="1947672" cy="314919"/>
          </a:xfrm>
          <a:prstGeom prst="rect">
            <a:avLst/>
          </a:prstGeom>
          <a:noFill/>
          <a:ln/>
        </p:spPr>
        <p:txBody>
          <a:bodyPr wrap="square" rtlCol="0" anchor="ctr"/>
          <a:lstStyle/>
          <a:p>
            <a:pPr algn="ctr" indent="0" marL="0">
              <a:buNone/>
            </a:pPr>
            <a:r>
              <a:rPr lang="en-US" sz="1050" b="1" dirty="0">
                <a:solidFill>
                  <a:srgbClr val="92400E"/>
                </a:solidFill>
                <a:latin typeface="Inter" pitchFamily="34" charset="0"/>
                <a:ea typeface="Inter" pitchFamily="34" charset="-122"/>
                <a:cs typeface="Inter" pitchFamily="34" charset="-120"/>
              </a:rPr>
              <a:t>👤 Review + scans</a:t>
            </a:r>
            <a:endParaRPr lang="en-US" sz="1050" dirty="0"/>
          </a:p>
        </p:txBody>
      </p:sp>
      <p:sp>
        <p:nvSpPr>
          <p:cNvPr id="29" name="Text 27"/>
          <p:cNvSpPr/>
          <p:nvPr/>
        </p:nvSpPr>
        <p:spPr>
          <a:xfrm>
            <a:off x="979322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editable YAML · CIS · CVE</a:t>
            </a:r>
            <a:endParaRPr lang="en-US" sz="850" dirty="0"/>
          </a:p>
        </p:txBody>
      </p:sp>
      <p:sp>
        <p:nvSpPr>
          <p:cNvPr id="30" name="Shape 28"/>
          <p:cNvSpPr/>
          <p:nvPr/>
        </p:nvSpPr>
        <p:spPr>
          <a:xfrm>
            <a:off x="2606040" y="3438144"/>
            <a:ext cx="6995160" cy="548640"/>
          </a:xfrm>
          <a:prstGeom prst="roundRect">
            <a:avLst>
              <a:gd name="adj" fmla="val 11667"/>
            </a:avLst>
          </a:prstGeom>
          <a:solidFill>
            <a:srgbClr val="D97706"/>
          </a:solidFill>
          <a:ln w="25400">
            <a:solidFill>
              <a:srgbClr val="92400E"/>
            </a:solidFill>
            <a:prstDash val="solid"/>
          </a:ln>
        </p:spPr>
      </p:sp>
      <p:sp>
        <p:nvSpPr>
          <p:cNvPr id="31" name="Text 29"/>
          <p:cNvSpPr/>
          <p:nvPr/>
        </p:nvSpPr>
        <p:spPr>
          <a:xfrm>
            <a:off x="2606040" y="3438144"/>
            <a:ext cx="6995160" cy="548640"/>
          </a:xfrm>
          <a:prstGeom prst="rect">
            <a:avLst/>
          </a:prstGeom>
          <a:noFill/>
          <a:ln/>
        </p:spPr>
        <p:txBody>
          <a:bodyPr wrap="square"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  DEPLOY — THE GATE  ·  server-side dry-run passes first  👤</a:t>
            </a:r>
            <a:endParaRPr lang="en-US" sz="1200" dirty="0"/>
          </a:p>
        </p:txBody>
      </p:sp>
      <p:sp>
        <p:nvSpPr>
          <p:cNvPr id="32" name="Text 30"/>
          <p:cNvSpPr/>
          <p:nvPr/>
        </p:nvSpPr>
        <p:spPr>
          <a:xfrm>
            <a:off x="411480" y="4105656"/>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APPLY &amp; GOVERN</a:t>
            </a:r>
            <a:endParaRPr lang="en-US" sz="900" dirty="0"/>
          </a:p>
        </p:txBody>
      </p:sp>
      <p:sp>
        <p:nvSpPr>
          <p:cNvPr id="33" name="Shape 31"/>
          <p:cNvSpPr/>
          <p:nvPr/>
        </p:nvSpPr>
        <p:spPr>
          <a:xfrm>
            <a:off x="411480" y="4279392"/>
            <a:ext cx="3611880" cy="749808"/>
          </a:xfrm>
          <a:prstGeom prst="roundRect">
            <a:avLst>
              <a:gd name="adj" fmla="val 8537"/>
            </a:avLst>
          </a:prstGeom>
          <a:solidFill>
            <a:srgbClr val="DBEAFE"/>
          </a:solidFill>
          <a:ln w="19050">
            <a:solidFill>
              <a:srgbClr val="2563EB"/>
            </a:solidFill>
            <a:prstDash val="solid"/>
          </a:ln>
        </p:spPr>
      </p:sp>
      <p:sp>
        <p:nvSpPr>
          <p:cNvPr id="34" name="Text 32"/>
          <p:cNvSpPr/>
          <p:nvPr/>
        </p:nvSpPr>
        <p:spPr>
          <a:xfrm>
            <a:off x="466344" y="4346875"/>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Server-side apply</a:t>
            </a:r>
            <a:endParaRPr lang="en-US" sz="1050" dirty="0"/>
          </a:p>
        </p:txBody>
      </p:sp>
      <p:sp>
        <p:nvSpPr>
          <p:cNvPr id="35" name="Text 33"/>
          <p:cNvSpPr/>
          <p:nvPr/>
        </p:nvSpPr>
        <p:spPr>
          <a:xfrm>
            <a:off x="466344" y="4654296"/>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created / configured / unchanged</a:t>
            </a:r>
            <a:endParaRPr lang="en-US" sz="850" dirty="0"/>
          </a:p>
        </p:txBody>
      </p:sp>
      <p:sp>
        <p:nvSpPr>
          <p:cNvPr id="36" name="Text 34"/>
          <p:cNvSpPr/>
          <p:nvPr/>
        </p:nvSpPr>
        <p:spPr>
          <a:xfrm>
            <a:off x="4023360" y="452628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7" name="Shape 35"/>
          <p:cNvSpPr/>
          <p:nvPr/>
        </p:nvSpPr>
        <p:spPr>
          <a:xfrm>
            <a:off x="4297680" y="4279392"/>
            <a:ext cx="3611880" cy="749808"/>
          </a:xfrm>
          <a:prstGeom prst="roundRect">
            <a:avLst>
              <a:gd name="adj" fmla="val 8537"/>
            </a:avLst>
          </a:prstGeom>
          <a:solidFill>
            <a:srgbClr val="DBEAFE"/>
          </a:solidFill>
          <a:ln w="19050">
            <a:solidFill>
              <a:srgbClr val="2563EB"/>
            </a:solidFill>
            <a:prstDash val="solid"/>
          </a:ln>
        </p:spPr>
      </p:sp>
      <p:sp>
        <p:nvSpPr>
          <p:cNvPr id="38" name="Text 36"/>
          <p:cNvSpPr/>
          <p:nvPr/>
        </p:nvSpPr>
        <p:spPr>
          <a:xfrm>
            <a:off x="4352544" y="4346875"/>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Record + change request</a:t>
            </a:r>
            <a:endParaRPr lang="en-US" sz="1050" dirty="0"/>
          </a:p>
        </p:txBody>
      </p:sp>
      <p:sp>
        <p:nvSpPr>
          <p:cNvPr id="39" name="Text 37"/>
          <p:cNvSpPr/>
          <p:nvPr/>
        </p:nvSpPr>
        <p:spPr>
          <a:xfrm>
            <a:off x="4352544" y="4654296"/>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cites the source document</a:t>
            </a:r>
            <a:endParaRPr lang="en-US" sz="850" dirty="0"/>
          </a:p>
        </p:txBody>
      </p:sp>
      <p:sp>
        <p:nvSpPr>
          <p:cNvPr id="40" name="Text 38"/>
          <p:cNvSpPr/>
          <p:nvPr/>
        </p:nvSpPr>
        <p:spPr>
          <a:xfrm>
            <a:off x="7909560" y="452628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1" name="Shape 39"/>
          <p:cNvSpPr/>
          <p:nvPr/>
        </p:nvSpPr>
        <p:spPr>
          <a:xfrm>
            <a:off x="8183880" y="4279392"/>
            <a:ext cx="3611880" cy="749808"/>
          </a:xfrm>
          <a:prstGeom prst="roundRect">
            <a:avLst>
              <a:gd name="adj" fmla="val 8537"/>
            </a:avLst>
          </a:prstGeom>
          <a:solidFill>
            <a:srgbClr val="DBEAFE"/>
          </a:solidFill>
          <a:ln w="19050">
            <a:solidFill>
              <a:srgbClr val="2563EB"/>
            </a:solidFill>
            <a:prstDash val="solid"/>
          </a:ln>
        </p:spPr>
      </p:sp>
      <p:sp>
        <p:nvSpPr>
          <p:cNvPr id="42" name="Text 40"/>
          <p:cNvSpPr/>
          <p:nvPr/>
        </p:nvSpPr>
        <p:spPr>
          <a:xfrm>
            <a:off x="8238744" y="4346875"/>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Live pod watch</a:t>
            </a:r>
            <a:endParaRPr lang="en-US" sz="1050" dirty="0"/>
          </a:p>
        </p:txBody>
      </p:sp>
      <p:sp>
        <p:nvSpPr>
          <p:cNvPr id="43" name="Text 41"/>
          <p:cNvSpPr/>
          <p:nvPr/>
        </p:nvSpPr>
        <p:spPr>
          <a:xfrm>
            <a:off x="8238744" y="4654296"/>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until everything is Ready</a:t>
            </a:r>
            <a:endParaRPr lang="en-US" sz="850" dirty="0"/>
          </a:p>
        </p:txBody>
      </p:sp>
      <p:sp>
        <p:nvSpPr>
          <p:cNvPr id="44" name="Text 42"/>
          <p:cNvSpPr/>
          <p:nvPr/>
        </p:nvSpPr>
        <p:spPr>
          <a:xfrm>
            <a:off x="411480" y="5148072"/>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VERIFICATION PYRAMID — ends at a URL</a:t>
            </a:r>
            <a:endParaRPr lang="en-US" sz="900" dirty="0"/>
          </a:p>
        </p:txBody>
      </p:sp>
      <p:sp>
        <p:nvSpPr>
          <p:cNvPr id="45" name="Shape 43"/>
          <p:cNvSpPr/>
          <p:nvPr/>
        </p:nvSpPr>
        <p:spPr>
          <a:xfrm>
            <a:off x="411480" y="5321808"/>
            <a:ext cx="2736342" cy="420624"/>
          </a:xfrm>
          <a:prstGeom prst="roundRect">
            <a:avLst>
              <a:gd name="adj" fmla="val 10870"/>
            </a:avLst>
          </a:prstGeom>
          <a:solidFill>
            <a:srgbClr val="D1FAE5"/>
          </a:solidFill>
          <a:ln w="12700">
            <a:solidFill>
              <a:srgbClr val="059669"/>
            </a:solidFill>
            <a:prstDash val="solid"/>
          </a:ln>
        </p:spPr>
      </p:sp>
      <p:sp>
        <p:nvSpPr>
          <p:cNvPr id="46" name="Text 44"/>
          <p:cNvSpPr/>
          <p:nvPr/>
        </p:nvSpPr>
        <p:spPr>
          <a:xfrm>
            <a:off x="466344"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1 Rollout complete</a:t>
            </a:r>
            <a:endParaRPr lang="en-US" sz="950" dirty="0"/>
          </a:p>
        </p:txBody>
      </p:sp>
      <p:sp>
        <p:nvSpPr>
          <p:cNvPr id="47" name="Shape 45"/>
          <p:cNvSpPr/>
          <p:nvPr/>
        </p:nvSpPr>
        <p:spPr>
          <a:xfrm>
            <a:off x="3294126" y="5321808"/>
            <a:ext cx="2736342" cy="420624"/>
          </a:xfrm>
          <a:prstGeom prst="roundRect">
            <a:avLst>
              <a:gd name="adj" fmla="val 10870"/>
            </a:avLst>
          </a:prstGeom>
          <a:solidFill>
            <a:srgbClr val="D1FAE5"/>
          </a:solidFill>
          <a:ln w="12700">
            <a:solidFill>
              <a:srgbClr val="059669"/>
            </a:solidFill>
            <a:prstDash val="solid"/>
          </a:ln>
        </p:spPr>
      </p:sp>
      <p:sp>
        <p:nvSpPr>
          <p:cNvPr id="48" name="Text 46"/>
          <p:cNvSpPr/>
          <p:nvPr/>
        </p:nvSpPr>
        <p:spPr>
          <a:xfrm>
            <a:off x="3348990"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2 Workloads stable</a:t>
            </a:r>
            <a:endParaRPr lang="en-US" sz="950" dirty="0"/>
          </a:p>
        </p:txBody>
      </p:sp>
      <p:sp>
        <p:nvSpPr>
          <p:cNvPr id="49" name="Shape 47"/>
          <p:cNvSpPr/>
          <p:nvPr/>
        </p:nvSpPr>
        <p:spPr>
          <a:xfrm>
            <a:off x="6176772" y="5321808"/>
            <a:ext cx="2736342" cy="420624"/>
          </a:xfrm>
          <a:prstGeom prst="roundRect">
            <a:avLst>
              <a:gd name="adj" fmla="val 10870"/>
            </a:avLst>
          </a:prstGeom>
          <a:solidFill>
            <a:srgbClr val="D1FAE5"/>
          </a:solidFill>
          <a:ln w="12700">
            <a:solidFill>
              <a:srgbClr val="059669"/>
            </a:solidFill>
            <a:prstDash val="solid"/>
          </a:ln>
        </p:spPr>
      </p:sp>
      <p:sp>
        <p:nvSpPr>
          <p:cNvPr id="50" name="Text 48"/>
          <p:cNvSpPr/>
          <p:nvPr/>
        </p:nvSpPr>
        <p:spPr>
          <a:xfrm>
            <a:off x="6231636"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3 Services wired</a:t>
            </a:r>
            <a:endParaRPr lang="en-US" sz="950" dirty="0"/>
          </a:p>
        </p:txBody>
      </p:sp>
      <p:sp>
        <p:nvSpPr>
          <p:cNvPr id="51" name="Shape 49"/>
          <p:cNvSpPr/>
          <p:nvPr/>
        </p:nvSpPr>
        <p:spPr>
          <a:xfrm>
            <a:off x="9059418" y="5321808"/>
            <a:ext cx="2736342" cy="420624"/>
          </a:xfrm>
          <a:prstGeom prst="roundRect">
            <a:avLst>
              <a:gd name="adj" fmla="val 10870"/>
            </a:avLst>
          </a:prstGeom>
          <a:solidFill>
            <a:srgbClr val="D1FAE5"/>
          </a:solidFill>
          <a:ln w="12700">
            <a:solidFill>
              <a:srgbClr val="059669"/>
            </a:solidFill>
            <a:prstDash val="solid"/>
          </a:ln>
        </p:spPr>
      </p:sp>
      <p:sp>
        <p:nvSpPr>
          <p:cNvPr id="52" name="Text 50"/>
          <p:cNvSpPr/>
          <p:nvPr/>
        </p:nvSpPr>
        <p:spPr>
          <a:xfrm>
            <a:off x="9114282"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4 User can access — Open application</a:t>
            </a:r>
            <a:endParaRPr lang="en-US" sz="950" dirty="0"/>
          </a:p>
        </p:txBody>
      </p:sp>
      <p:sp>
        <p:nvSpPr>
          <p:cNvPr id="53" name="Shape 51"/>
          <p:cNvSpPr/>
          <p:nvPr/>
        </p:nvSpPr>
        <p:spPr>
          <a:xfrm>
            <a:off x="411480" y="6089904"/>
            <a:ext cx="173736" cy="173736"/>
          </a:xfrm>
          <a:prstGeom prst="roundRect">
            <a:avLst>
              <a:gd name="adj" fmla="val 15789"/>
            </a:avLst>
          </a:prstGeom>
          <a:solidFill>
            <a:srgbClr val="EDE9FE"/>
          </a:solidFill>
          <a:ln w="12700">
            <a:solidFill>
              <a:srgbClr val="7C3AED"/>
            </a:solidFill>
            <a:prstDash val="solid"/>
          </a:ln>
        </p:spPr>
      </p:sp>
      <p:sp>
        <p:nvSpPr>
          <p:cNvPr id="54" name="Text 52"/>
          <p:cNvSpPr/>
          <p:nvPr/>
        </p:nvSpPr>
        <p:spPr>
          <a:xfrm>
            <a:off x="621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AI</a:t>
            </a:r>
            <a:endParaRPr lang="en-US" sz="850" dirty="0"/>
          </a:p>
        </p:txBody>
      </p:sp>
      <p:sp>
        <p:nvSpPr>
          <p:cNvPr id="55" name="Shape 53"/>
          <p:cNvSpPr/>
          <p:nvPr/>
        </p:nvSpPr>
        <p:spPr>
          <a:xfrm>
            <a:off x="1554480" y="6089904"/>
            <a:ext cx="173736" cy="173736"/>
          </a:xfrm>
          <a:prstGeom prst="roundRect">
            <a:avLst>
              <a:gd name="adj" fmla="val 15789"/>
            </a:avLst>
          </a:prstGeom>
          <a:solidFill>
            <a:srgbClr val="DBEAFE"/>
          </a:solidFill>
          <a:ln w="12700">
            <a:solidFill>
              <a:srgbClr val="2563EB"/>
            </a:solidFill>
            <a:prstDash val="solid"/>
          </a:ln>
        </p:spPr>
      </p:sp>
      <p:sp>
        <p:nvSpPr>
          <p:cNvPr id="56" name="Text 54"/>
          <p:cNvSpPr/>
          <p:nvPr/>
        </p:nvSpPr>
        <p:spPr>
          <a:xfrm>
            <a:off x="1764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Automatic</a:t>
            </a:r>
            <a:endParaRPr lang="en-US" sz="850" dirty="0"/>
          </a:p>
        </p:txBody>
      </p:sp>
      <p:sp>
        <p:nvSpPr>
          <p:cNvPr id="57" name="Shape 55"/>
          <p:cNvSpPr/>
          <p:nvPr/>
        </p:nvSpPr>
        <p:spPr>
          <a:xfrm>
            <a:off x="2697480" y="6089904"/>
            <a:ext cx="173736" cy="173736"/>
          </a:xfrm>
          <a:prstGeom prst="roundRect">
            <a:avLst>
              <a:gd name="adj" fmla="val 15789"/>
            </a:avLst>
          </a:prstGeom>
          <a:solidFill>
            <a:srgbClr val="FEF3C7"/>
          </a:solidFill>
          <a:ln w="12700">
            <a:solidFill>
              <a:srgbClr val="D97706"/>
            </a:solidFill>
            <a:prstDash val="solid"/>
          </a:ln>
        </p:spPr>
      </p:sp>
      <p:sp>
        <p:nvSpPr>
          <p:cNvPr id="58" name="Text 56"/>
          <p:cNvSpPr/>
          <p:nvPr/>
        </p:nvSpPr>
        <p:spPr>
          <a:xfrm>
            <a:off x="2907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Human</a:t>
            </a:r>
            <a:endParaRPr lang="en-US" sz="850" dirty="0"/>
          </a:p>
        </p:txBody>
      </p:sp>
      <p:sp>
        <p:nvSpPr>
          <p:cNvPr id="59" name="Shape 57"/>
          <p:cNvSpPr/>
          <p:nvPr/>
        </p:nvSpPr>
        <p:spPr>
          <a:xfrm>
            <a:off x="3840480" y="6089904"/>
            <a:ext cx="173736" cy="173736"/>
          </a:xfrm>
          <a:prstGeom prst="roundRect">
            <a:avLst>
              <a:gd name="adj" fmla="val 15789"/>
            </a:avLst>
          </a:prstGeom>
          <a:solidFill>
            <a:srgbClr val="D1FAE5"/>
          </a:solidFill>
          <a:ln w="12700">
            <a:solidFill>
              <a:srgbClr val="059669"/>
            </a:solidFill>
            <a:prstDash val="solid"/>
          </a:ln>
        </p:spPr>
      </p:sp>
      <p:sp>
        <p:nvSpPr>
          <p:cNvPr id="60" name="Text 58"/>
          <p:cNvSpPr/>
          <p:nvPr/>
        </p:nvSpPr>
        <p:spPr>
          <a:xfrm>
            <a:off x="4050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Verified</a:t>
            </a:r>
            <a:endParaRPr lang="en-US" sz="850" dirty="0"/>
          </a:p>
        </p:txBody>
      </p:sp>
      <p:sp>
        <p:nvSpPr>
          <p:cNvPr id="61" name="Text 59"/>
          <p:cNvSpPr/>
          <p:nvPr/>
        </p:nvSpPr>
        <p:spPr>
          <a:xfrm>
            <a:off x="5120640" y="6025896"/>
            <a:ext cx="6675120" cy="292608"/>
          </a:xfrm>
          <a:prstGeom prst="rect">
            <a:avLst/>
          </a:prstGeom>
          <a:noFill/>
          <a:ln/>
        </p:spPr>
        <p:txBody>
          <a:bodyPr wrap="square" rtlCol="0" anchor="ctr"/>
          <a:lstStyle/>
          <a:p>
            <a:pPr algn="r" indent="0" marL="0">
              <a:buNone/>
            </a:pPr>
            <a:r>
              <a:rPr lang="en-US" sz="1050" b="1" dirty="0">
                <a:solidFill>
                  <a:srgbClr val="059669"/>
                </a:solidFill>
                <a:latin typeface="Inter" pitchFamily="34" charset="0"/>
                <a:ea typeface="Inter" pitchFamily="34" charset="-122"/>
                <a:cs typeface="Inter" pitchFamily="34" charset="-120"/>
              </a:rPr>
              <a:t>Generation may be creative — verification never is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1060704"/>
          </a:xfrm>
          <a:prstGeom prst="rect">
            <a:avLst/>
          </a:prstGeom>
          <a:solidFill>
            <a:srgbClr val="0F172A"/>
          </a:solidFill>
          <a:ln/>
        </p:spPr>
      </p:sp>
      <p:sp>
        <p:nvSpPr>
          <p:cNvPr id="3" name="Text 1"/>
          <p:cNvSpPr/>
          <p:nvPr/>
        </p:nvSpPr>
        <p:spPr>
          <a:xfrm>
            <a:off x="411480" y="118872"/>
            <a:ext cx="4572000" cy="219456"/>
          </a:xfrm>
          <a:prstGeom prst="rect">
            <a:avLst/>
          </a:prstGeom>
          <a:noFill/>
          <a:ln/>
        </p:spPr>
        <p:txBody>
          <a:bodyPr wrap="square" rtlCol="0" anchor="ctr"/>
          <a:lstStyle/>
          <a:p>
            <a:pPr indent="0" marL="0">
              <a:buNone/>
            </a:pPr>
            <a:r>
              <a:rPr lang="en-US" sz="1000" b="1" spc="220" kern="0" dirty="0">
                <a:solidFill>
                  <a:srgbClr val="0891B2"/>
                </a:solidFill>
                <a:latin typeface="Inter" pitchFamily="34" charset="0"/>
                <a:ea typeface="Inter" pitchFamily="34" charset="-122"/>
                <a:cs typeface="Inter" pitchFamily="34" charset="-120"/>
              </a:rPr>
              <a:t>TCS AGENTIC AI</a:t>
            </a:r>
            <a:endParaRPr lang="en-US" sz="1000" dirty="0"/>
          </a:p>
        </p:txBody>
      </p:sp>
      <p:sp>
        <p:nvSpPr>
          <p:cNvPr id="4" name="Text 2"/>
          <p:cNvSpPr/>
          <p:nvPr/>
        </p:nvSpPr>
        <p:spPr>
          <a:xfrm>
            <a:off x="411480" y="329184"/>
            <a:ext cx="9692640" cy="402336"/>
          </a:xfrm>
          <a:prstGeom prst="rect">
            <a:avLst/>
          </a:prstGeom>
          <a:noFill/>
          <a:ln/>
        </p:spPr>
        <p:txBody>
          <a:bodyPr wrap="square" rtlCol="0" anchor="ctr"/>
          <a:lstStyle/>
          <a:p>
            <a:pPr indent="0" marL="0">
              <a:buNone/>
            </a:pPr>
            <a:r>
              <a:rPr lang="en-US" sz="2300" b="1" dirty="0">
                <a:solidFill>
                  <a:srgbClr val="FFFFFF"/>
                </a:solidFill>
                <a:latin typeface="Inter" pitchFamily="34" charset="0"/>
                <a:ea typeface="Inter" pitchFamily="34" charset="-122"/>
                <a:cs typeface="Inter" pitchFamily="34" charset="-120"/>
              </a:rPr>
              <a:t>Configuration Drift Agent</a:t>
            </a:r>
            <a:endParaRPr lang="en-US" sz="2300" dirty="0"/>
          </a:p>
        </p:txBody>
      </p:sp>
      <p:sp>
        <p:nvSpPr>
          <p:cNvPr id="5" name="Text 3"/>
          <p:cNvSpPr/>
          <p:nvPr/>
        </p:nvSpPr>
        <p:spPr>
          <a:xfrm>
            <a:off x="411480" y="749808"/>
            <a:ext cx="9692640" cy="256032"/>
          </a:xfrm>
          <a:prstGeom prst="rect">
            <a:avLst/>
          </a:prstGeom>
          <a:noFill/>
          <a:ln/>
        </p:spPr>
        <p:txBody>
          <a:bodyPr wrap="square" rtlCol="0" anchor="ctr"/>
          <a:lstStyle/>
          <a:p>
            <a:pPr indent="0" marL="0">
              <a:buNone/>
            </a:pPr>
            <a:r>
              <a:rPr lang="en-US" sz="1050" i="1" dirty="0">
                <a:solidFill>
                  <a:srgbClr val="94A3B8"/>
                </a:solidFill>
                <a:latin typeface="Inter" pitchFamily="34" charset="0"/>
                <a:ea typeface="Inter" pitchFamily="34" charset="-122"/>
                <a:cs typeface="Inter" pitchFamily="34" charset="-120"/>
              </a:rPr>
              <a:t>Configuration drift detection &amp; one-click rollback — know what changed, in words, and put it back</a:t>
            </a:r>
            <a:endParaRPr lang="en-US" sz="1050" dirty="0"/>
          </a:p>
        </p:txBody>
      </p:sp>
      <p:sp>
        <p:nvSpPr>
          <p:cNvPr id="6" name="Text 4"/>
          <p:cNvSpPr/>
          <p:nvPr/>
        </p:nvSpPr>
        <p:spPr>
          <a:xfrm>
            <a:off x="10561320" y="310896"/>
            <a:ext cx="1234440" cy="365760"/>
          </a:xfrm>
          <a:prstGeom prst="rect">
            <a:avLst>
              <a:gd name="adj" fmla="val 12500"/>
            </a:avLst>
          </a:prstGeom>
          <a:solidFill>
            <a:srgbClr val="2563EB"/>
          </a:solid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UC-08</a:t>
            </a:r>
            <a:endParaRPr lang="en-US" sz="1500" dirty="0"/>
          </a:p>
        </p:txBody>
      </p:sp>
      <p:sp>
        <p:nvSpPr>
          <p:cNvPr id="7" name="Text 5"/>
          <p:cNvSpPr/>
          <p:nvPr/>
        </p:nvSpPr>
        <p:spPr>
          <a:xfrm>
            <a:off x="411480" y="1188720"/>
            <a:ext cx="3657600" cy="182880"/>
          </a:xfrm>
          <a:prstGeom prst="rect">
            <a:avLst/>
          </a:prstGeom>
          <a:noFill/>
          <a:ln/>
        </p:spPr>
        <p:txBody>
          <a:bodyPr wrap="square" rtlCol="0" anchor="ctr"/>
          <a:lstStyle/>
          <a:p>
            <a:pPr indent="0" marL="0">
              <a:buNone/>
            </a:pPr>
            <a:r>
              <a:rPr lang="en-US" sz="850" b="1" spc="140" kern="0" dirty="0">
                <a:solidFill>
                  <a:srgbClr val="64748B"/>
                </a:solidFill>
                <a:latin typeface="Inter" pitchFamily="34" charset="0"/>
                <a:ea typeface="Inter" pitchFamily="34" charset="-122"/>
                <a:cs typeface="Inter" pitchFamily="34" charset="-120"/>
              </a:rPr>
              <a:t>USE CASE DESCRIPTION</a:t>
            </a:r>
            <a:endParaRPr lang="en-US" sz="850" dirty="0"/>
          </a:p>
        </p:txBody>
      </p:sp>
      <p:sp>
        <p:nvSpPr>
          <p:cNvPr id="8" name="Text 6"/>
          <p:cNvSpPr/>
          <p:nvPr/>
        </p:nvSpPr>
        <p:spPr>
          <a:xfrm>
            <a:off x="411480" y="1389888"/>
            <a:ext cx="11384280" cy="914400"/>
          </a:xfrm>
          <a:prstGeom prst="rect">
            <a:avLst/>
          </a:prstGeom>
          <a:noFill/>
          <a:ln/>
        </p:spPr>
        <p:txBody>
          <a:bodyPr wrap="square" rtlCol="0" anchor="t"/>
          <a:lstStyle/>
          <a:p>
            <a:pPr indent="0" marL="0">
              <a:lnSpc>
                <a:spcPct val="120000"/>
              </a:lnSpc>
              <a:buNone/>
            </a:pPr>
            <a:r>
              <a:rPr lang="en-US" sz="1200" dirty="0">
                <a:solidFill>
                  <a:srgbClr val="1E293B"/>
                </a:solidFill>
                <a:latin typeface="Inter" pitchFamily="34" charset="0"/>
                <a:ea typeface="Inter" pitchFamily="34" charset="-122"/>
                <a:cs typeface="Inter" pitchFamily="34" charset="-120"/>
              </a:rPr>
              <a:t>Continuous watch over cluster configuration. When live state diverges from the recorded baseline, the agent explains the difference in plain language rather than as a raw diff, surfaces the decision, and offers a one-click rollback — then verifies the rollback landed and records the episode for audit.</a:t>
            </a:r>
            <a:endParaRPr lang="en-US" sz="1200" dirty="0"/>
          </a:p>
        </p:txBody>
      </p:sp>
      <p:sp>
        <p:nvSpPr>
          <p:cNvPr id="9" name="Text 7"/>
          <p:cNvSpPr/>
          <p:nvPr/>
        </p:nvSpPr>
        <p:spPr>
          <a:xfrm>
            <a:off x="411480" y="2176272"/>
            <a:ext cx="3657600" cy="201168"/>
          </a:xfrm>
          <a:prstGeom prst="rect">
            <a:avLst/>
          </a:prstGeom>
          <a:noFill/>
          <a:ln/>
        </p:spPr>
        <p:txBody>
          <a:bodyPr wrap="square" rtlCol="0" anchor="ctr"/>
          <a:lstStyle/>
          <a:p>
            <a:pPr indent="0" marL="0">
              <a:buNone/>
            </a:pPr>
            <a:r>
              <a:rPr lang="en-US" sz="850" b="1" spc="140" kern="0" dirty="0">
                <a:solidFill>
                  <a:srgbClr val="2563EB"/>
                </a:solidFill>
                <a:latin typeface="Inter" pitchFamily="34" charset="0"/>
                <a:ea typeface="Inter" pitchFamily="34" charset="-122"/>
                <a:cs typeface="Inter" pitchFamily="34" charset="-120"/>
              </a:rPr>
              <a:t>END-TO-END WORKFLOW</a:t>
            </a:r>
            <a:endParaRPr lang="en-US" sz="850" dirty="0"/>
          </a:p>
        </p:txBody>
      </p:sp>
      <p:sp>
        <p:nvSpPr>
          <p:cNvPr id="10" name="Text 8"/>
          <p:cNvSpPr/>
          <p:nvPr/>
        </p:nvSpPr>
        <p:spPr>
          <a:xfrm>
            <a:off x="411480" y="2395728"/>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WATCH &amp; DETECT</a:t>
            </a:r>
            <a:endParaRPr lang="en-US" sz="900" dirty="0"/>
          </a:p>
        </p:txBody>
      </p:sp>
      <p:sp>
        <p:nvSpPr>
          <p:cNvPr id="11" name="Shape 9"/>
          <p:cNvSpPr/>
          <p:nvPr/>
        </p:nvSpPr>
        <p:spPr>
          <a:xfrm>
            <a:off x="411480" y="2569464"/>
            <a:ext cx="3611880" cy="749808"/>
          </a:xfrm>
          <a:prstGeom prst="roundRect">
            <a:avLst>
              <a:gd name="adj" fmla="val 8537"/>
            </a:avLst>
          </a:prstGeom>
          <a:solidFill>
            <a:srgbClr val="DBEAFE"/>
          </a:solidFill>
          <a:ln w="19050">
            <a:solidFill>
              <a:srgbClr val="2563EB"/>
            </a:solidFill>
            <a:prstDash val="solid"/>
          </a:ln>
        </p:spPr>
      </p:sp>
      <p:sp>
        <p:nvSpPr>
          <p:cNvPr id="12" name="Text 10"/>
          <p:cNvSpPr/>
          <p:nvPr/>
        </p:nvSpPr>
        <p:spPr>
          <a:xfrm>
            <a:off x="466344" y="2636947"/>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Continuous watch</a:t>
            </a:r>
            <a:endParaRPr lang="en-US" sz="1050" dirty="0"/>
          </a:p>
        </p:txBody>
      </p:sp>
      <p:sp>
        <p:nvSpPr>
          <p:cNvPr id="13" name="Text 11"/>
          <p:cNvSpPr/>
          <p:nvPr/>
        </p:nvSpPr>
        <p:spPr>
          <a:xfrm>
            <a:off x="466344" y="2944368"/>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live state vs baseline</a:t>
            </a:r>
            <a:endParaRPr lang="en-US" sz="850" dirty="0"/>
          </a:p>
        </p:txBody>
      </p:sp>
      <p:sp>
        <p:nvSpPr>
          <p:cNvPr id="14" name="Text 12"/>
          <p:cNvSpPr/>
          <p:nvPr/>
        </p:nvSpPr>
        <p:spPr>
          <a:xfrm>
            <a:off x="402336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5" name="Shape 13"/>
          <p:cNvSpPr/>
          <p:nvPr/>
        </p:nvSpPr>
        <p:spPr>
          <a:xfrm>
            <a:off x="4297680" y="2569464"/>
            <a:ext cx="3611880" cy="749808"/>
          </a:xfrm>
          <a:prstGeom prst="roundRect">
            <a:avLst>
              <a:gd name="adj" fmla="val 8537"/>
            </a:avLst>
          </a:prstGeom>
          <a:solidFill>
            <a:srgbClr val="DBEAFE"/>
          </a:solidFill>
          <a:ln w="19050">
            <a:solidFill>
              <a:srgbClr val="2563EB"/>
            </a:solidFill>
            <a:prstDash val="solid"/>
          </a:ln>
        </p:spPr>
      </p:sp>
      <p:sp>
        <p:nvSpPr>
          <p:cNvPr id="16" name="Text 14"/>
          <p:cNvSpPr/>
          <p:nvPr/>
        </p:nvSpPr>
        <p:spPr>
          <a:xfrm>
            <a:off x="4352544" y="2636947"/>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Drift detected</a:t>
            </a:r>
            <a:endParaRPr lang="en-US" sz="1050" dirty="0"/>
          </a:p>
        </p:txBody>
      </p:sp>
      <p:sp>
        <p:nvSpPr>
          <p:cNvPr id="17" name="Text 15"/>
          <p:cNvSpPr/>
          <p:nvPr/>
        </p:nvSpPr>
        <p:spPr>
          <a:xfrm>
            <a:off x="4352544" y="2944368"/>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what moved, and when</a:t>
            </a:r>
            <a:endParaRPr lang="en-US" sz="850" dirty="0"/>
          </a:p>
        </p:txBody>
      </p:sp>
      <p:sp>
        <p:nvSpPr>
          <p:cNvPr id="18" name="Text 16"/>
          <p:cNvSpPr/>
          <p:nvPr/>
        </p:nvSpPr>
        <p:spPr>
          <a:xfrm>
            <a:off x="790956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9" name="Shape 17"/>
          <p:cNvSpPr/>
          <p:nvPr/>
        </p:nvSpPr>
        <p:spPr>
          <a:xfrm>
            <a:off x="8183880" y="2569464"/>
            <a:ext cx="3611880" cy="749808"/>
          </a:xfrm>
          <a:prstGeom prst="roundRect">
            <a:avLst>
              <a:gd name="adj" fmla="val 8537"/>
            </a:avLst>
          </a:prstGeom>
          <a:solidFill>
            <a:srgbClr val="EDE9FE"/>
          </a:solidFill>
          <a:ln w="19050">
            <a:solidFill>
              <a:srgbClr val="7C3AED"/>
            </a:solidFill>
            <a:prstDash val="solid"/>
          </a:ln>
        </p:spPr>
      </p:sp>
      <p:sp>
        <p:nvSpPr>
          <p:cNvPr id="20" name="Text 18"/>
          <p:cNvSpPr/>
          <p:nvPr/>
        </p:nvSpPr>
        <p:spPr>
          <a:xfrm>
            <a:off x="8238744" y="2636947"/>
            <a:ext cx="3502152" cy="314919"/>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Natural-language diff</a:t>
            </a:r>
            <a:endParaRPr lang="en-US" sz="1050" dirty="0"/>
          </a:p>
        </p:txBody>
      </p:sp>
      <p:sp>
        <p:nvSpPr>
          <p:cNvPr id="21" name="Text 19"/>
          <p:cNvSpPr/>
          <p:nvPr/>
        </p:nvSpPr>
        <p:spPr>
          <a:xfrm>
            <a:off x="8238744" y="2944368"/>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explained, not dumped</a:t>
            </a:r>
            <a:endParaRPr lang="en-US" sz="850" dirty="0"/>
          </a:p>
        </p:txBody>
      </p:sp>
      <p:sp>
        <p:nvSpPr>
          <p:cNvPr id="22" name="Shape 20"/>
          <p:cNvSpPr/>
          <p:nvPr/>
        </p:nvSpPr>
        <p:spPr>
          <a:xfrm>
            <a:off x="2606040" y="3438144"/>
            <a:ext cx="6995160" cy="548640"/>
          </a:xfrm>
          <a:prstGeom prst="roundRect">
            <a:avLst>
              <a:gd name="adj" fmla="val 11667"/>
            </a:avLst>
          </a:prstGeom>
          <a:solidFill>
            <a:srgbClr val="D97706"/>
          </a:solidFill>
          <a:ln w="25400">
            <a:solidFill>
              <a:srgbClr val="92400E"/>
            </a:solidFill>
            <a:prstDash val="solid"/>
          </a:ln>
        </p:spPr>
      </p:sp>
      <p:sp>
        <p:nvSpPr>
          <p:cNvPr id="23" name="Text 21"/>
          <p:cNvSpPr/>
          <p:nvPr/>
        </p:nvSpPr>
        <p:spPr>
          <a:xfrm>
            <a:off x="2606040" y="3438144"/>
            <a:ext cx="6995160" cy="548640"/>
          </a:xfrm>
          <a:prstGeom prst="rect">
            <a:avLst/>
          </a:prstGeom>
          <a:noFill/>
          <a:ln/>
        </p:spPr>
        <p:txBody>
          <a:bodyPr wrap="square"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  DECISION SURFACE — KEEP IT, OR ROLL IT BACK  👤</a:t>
            </a:r>
            <a:endParaRPr lang="en-US" sz="1200" dirty="0"/>
          </a:p>
        </p:txBody>
      </p:sp>
      <p:sp>
        <p:nvSpPr>
          <p:cNvPr id="24" name="Text 22"/>
          <p:cNvSpPr/>
          <p:nvPr/>
        </p:nvSpPr>
        <p:spPr>
          <a:xfrm>
            <a:off x="411480" y="4105656"/>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ROLL BACK &amp; PROVE</a:t>
            </a:r>
            <a:endParaRPr lang="en-US" sz="900" dirty="0"/>
          </a:p>
        </p:txBody>
      </p:sp>
      <p:sp>
        <p:nvSpPr>
          <p:cNvPr id="25" name="Shape 23"/>
          <p:cNvSpPr/>
          <p:nvPr/>
        </p:nvSpPr>
        <p:spPr>
          <a:xfrm>
            <a:off x="411480" y="4279392"/>
            <a:ext cx="3611880" cy="749808"/>
          </a:xfrm>
          <a:prstGeom prst="roundRect">
            <a:avLst>
              <a:gd name="adj" fmla="val 8537"/>
            </a:avLst>
          </a:prstGeom>
          <a:solidFill>
            <a:srgbClr val="DBEAFE"/>
          </a:solidFill>
          <a:ln w="19050">
            <a:solidFill>
              <a:srgbClr val="2563EB"/>
            </a:solidFill>
            <a:prstDash val="solid"/>
          </a:ln>
        </p:spPr>
      </p:sp>
      <p:sp>
        <p:nvSpPr>
          <p:cNvPr id="26" name="Text 24"/>
          <p:cNvSpPr/>
          <p:nvPr/>
        </p:nvSpPr>
        <p:spPr>
          <a:xfrm>
            <a:off x="466344" y="4346875"/>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One-click rollback</a:t>
            </a:r>
            <a:endParaRPr lang="en-US" sz="1050" dirty="0"/>
          </a:p>
        </p:txBody>
      </p:sp>
      <p:sp>
        <p:nvSpPr>
          <p:cNvPr id="27" name="Text 25"/>
          <p:cNvSpPr/>
          <p:nvPr/>
        </p:nvSpPr>
        <p:spPr>
          <a:xfrm>
            <a:off x="466344" y="4654296"/>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baseline restored</a:t>
            </a:r>
            <a:endParaRPr lang="en-US" sz="850" dirty="0"/>
          </a:p>
        </p:txBody>
      </p:sp>
      <p:sp>
        <p:nvSpPr>
          <p:cNvPr id="28" name="Text 26"/>
          <p:cNvSpPr/>
          <p:nvPr/>
        </p:nvSpPr>
        <p:spPr>
          <a:xfrm>
            <a:off x="4023360" y="452628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9" name="Shape 27"/>
          <p:cNvSpPr/>
          <p:nvPr/>
        </p:nvSpPr>
        <p:spPr>
          <a:xfrm>
            <a:off x="4297680" y="4279392"/>
            <a:ext cx="3611880" cy="749808"/>
          </a:xfrm>
          <a:prstGeom prst="roundRect">
            <a:avLst>
              <a:gd name="adj" fmla="val 8537"/>
            </a:avLst>
          </a:prstGeom>
          <a:solidFill>
            <a:srgbClr val="D1FAE5"/>
          </a:solidFill>
          <a:ln w="19050">
            <a:solidFill>
              <a:srgbClr val="059669"/>
            </a:solidFill>
            <a:prstDash val="solid"/>
          </a:ln>
        </p:spPr>
      </p:sp>
      <p:sp>
        <p:nvSpPr>
          <p:cNvPr id="30" name="Text 28"/>
          <p:cNvSpPr/>
          <p:nvPr/>
        </p:nvSpPr>
        <p:spPr>
          <a:xfrm>
            <a:off x="4352544" y="4346875"/>
            <a:ext cx="3502152" cy="314919"/>
          </a:xfrm>
          <a:prstGeom prst="rect">
            <a:avLst/>
          </a:prstGeom>
          <a:noFill/>
          <a:ln/>
        </p:spPr>
        <p:txBody>
          <a:bodyPr wrap="square" rtlCol="0" anchor="ctr"/>
          <a:lstStyle/>
          <a:p>
            <a:pPr algn="ctr" indent="0" marL="0">
              <a:buNone/>
            </a:pPr>
            <a:r>
              <a:rPr lang="en-US" sz="1050" b="1" dirty="0">
                <a:solidFill>
                  <a:srgbClr val="065F46"/>
                </a:solidFill>
                <a:latin typeface="Inter" pitchFamily="34" charset="0"/>
                <a:ea typeface="Inter" pitchFamily="34" charset="-122"/>
                <a:cs typeface="Inter" pitchFamily="34" charset="-120"/>
              </a:rPr>
              <a:t>✅ Live verification</a:t>
            </a:r>
            <a:endParaRPr lang="en-US" sz="1050" dirty="0"/>
          </a:p>
        </p:txBody>
      </p:sp>
      <p:sp>
        <p:nvSpPr>
          <p:cNvPr id="31" name="Text 29"/>
          <p:cNvSpPr/>
          <p:nvPr/>
        </p:nvSpPr>
        <p:spPr>
          <a:xfrm>
            <a:off x="4352544" y="4654296"/>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the rollback actually landed</a:t>
            </a:r>
            <a:endParaRPr lang="en-US" sz="850" dirty="0"/>
          </a:p>
        </p:txBody>
      </p:sp>
      <p:sp>
        <p:nvSpPr>
          <p:cNvPr id="32" name="Text 30"/>
          <p:cNvSpPr/>
          <p:nvPr/>
        </p:nvSpPr>
        <p:spPr>
          <a:xfrm>
            <a:off x="7909560" y="4526280"/>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3" name="Shape 31"/>
          <p:cNvSpPr/>
          <p:nvPr/>
        </p:nvSpPr>
        <p:spPr>
          <a:xfrm>
            <a:off x="8183880" y="4279392"/>
            <a:ext cx="3611880" cy="749808"/>
          </a:xfrm>
          <a:prstGeom prst="roundRect">
            <a:avLst>
              <a:gd name="adj" fmla="val 8537"/>
            </a:avLst>
          </a:prstGeom>
          <a:solidFill>
            <a:srgbClr val="DBEAFE"/>
          </a:solidFill>
          <a:ln w="19050">
            <a:solidFill>
              <a:srgbClr val="2563EB"/>
            </a:solidFill>
            <a:prstDash val="solid"/>
          </a:ln>
        </p:spPr>
      </p:sp>
      <p:sp>
        <p:nvSpPr>
          <p:cNvPr id="34" name="Text 32"/>
          <p:cNvSpPr/>
          <p:nvPr/>
        </p:nvSpPr>
        <p:spPr>
          <a:xfrm>
            <a:off x="8238744" y="4346875"/>
            <a:ext cx="350215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Audit recording</a:t>
            </a:r>
            <a:endParaRPr lang="en-US" sz="1050" dirty="0"/>
          </a:p>
        </p:txBody>
      </p:sp>
      <p:sp>
        <p:nvSpPr>
          <p:cNvPr id="35" name="Text 33"/>
          <p:cNvSpPr/>
          <p:nvPr/>
        </p:nvSpPr>
        <p:spPr>
          <a:xfrm>
            <a:off x="8238744" y="4654296"/>
            <a:ext cx="350215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the whole episode, kept</a:t>
            </a:r>
            <a:endParaRPr lang="en-US" sz="850" dirty="0"/>
          </a:p>
        </p:txBody>
      </p:sp>
      <p:sp>
        <p:nvSpPr>
          <p:cNvPr id="36" name="Shape 34"/>
          <p:cNvSpPr/>
          <p:nvPr/>
        </p:nvSpPr>
        <p:spPr>
          <a:xfrm>
            <a:off x="411480" y="6089904"/>
            <a:ext cx="173736" cy="173736"/>
          </a:xfrm>
          <a:prstGeom prst="roundRect">
            <a:avLst>
              <a:gd name="adj" fmla="val 15789"/>
            </a:avLst>
          </a:prstGeom>
          <a:solidFill>
            <a:srgbClr val="EDE9FE"/>
          </a:solidFill>
          <a:ln w="12700">
            <a:solidFill>
              <a:srgbClr val="7C3AED"/>
            </a:solidFill>
            <a:prstDash val="solid"/>
          </a:ln>
        </p:spPr>
      </p:sp>
      <p:sp>
        <p:nvSpPr>
          <p:cNvPr id="37" name="Text 35"/>
          <p:cNvSpPr/>
          <p:nvPr/>
        </p:nvSpPr>
        <p:spPr>
          <a:xfrm>
            <a:off x="621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AI</a:t>
            </a:r>
            <a:endParaRPr lang="en-US" sz="850" dirty="0"/>
          </a:p>
        </p:txBody>
      </p:sp>
      <p:sp>
        <p:nvSpPr>
          <p:cNvPr id="38" name="Shape 36"/>
          <p:cNvSpPr/>
          <p:nvPr/>
        </p:nvSpPr>
        <p:spPr>
          <a:xfrm>
            <a:off x="1554480" y="6089904"/>
            <a:ext cx="173736" cy="173736"/>
          </a:xfrm>
          <a:prstGeom prst="roundRect">
            <a:avLst>
              <a:gd name="adj" fmla="val 15789"/>
            </a:avLst>
          </a:prstGeom>
          <a:solidFill>
            <a:srgbClr val="DBEAFE"/>
          </a:solidFill>
          <a:ln w="12700">
            <a:solidFill>
              <a:srgbClr val="2563EB"/>
            </a:solidFill>
            <a:prstDash val="solid"/>
          </a:ln>
        </p:spPr>
      </p:sp>
      <p:sp>
        <p:nvSpPr>
          <p:cNvPr id="39" name="Text 37"/>
          <p:cNvSpPr/>
          <p:nvPr/>
        </p:nvSpPr>
        <p:spPr>
          <a:xfrm>
            <a:off x="1764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Automatic</a:t>
            </a:r>
            <a:endParaRPr lang="en-US" sz="850" dirty="0"/>
          </a:p>
        </p:txBody>
      </p:sp>
      <p:sp>
        <p:nvSpPr>
          <p:cNvPr id="40" name="Shape 38"/>
          <p:cNvSpPr/>
          <p:nvPr/>
        </p:nvSpPr>
        <p:spPr>
          <a:xfrm>
            <a:off x="2697480" y="6089904"/>
            <a:ext cx="173736" cy="173736"/>
          </a:xfrm>
          <a:prstGeom prst="roundRect">
            <a:avLst>
              <a:gd name="adj" fmla="val 15789"/>
            </a:avLst>
          </a:prstGeom>
          <a:solidFill>
            <a:srgbClr val="FEF3C7"/>
          </a:solidFill>
          <a:ln w="12700">
            <a:solidFill>
              <a:srgbClr val="D97706"/>
            </a:solidFill>
            <a:prstDash val="solid"/>
          </a:ln>
        </p:spPr>
      </p:sp>
      <p:sp>
        <p:nvSpPr>
          <p:cNvPr id="41" name="Text 39"/>
          <p:cNvSpPr/>
          <p:nvPr/>
        </p:nvSpPr>
        <p:spPr>
          <a:xfrm>
            <a:off x="2907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Human</a:t>
            </a:r>
            <a:endParaRPr lang="en-US" sz="850" dirty="0"/>
          </a:p>
        </p:txBody>
      </p:sp>
      <p:sp>
        <p:nvSpPr>
          <p:cNvPr id="42" name="Shape 40"/>
          <p:cNvSpPr/>
          <p:nvPr/>
        </p:nvSpPr>
        <p:spPr>
          <a:xfrm>
            <a:off x="3840480" y="6089904"/>
            <a:ext cx="173736" cy="173736"/>
          </a:xfrm>
          <a:prstGeom prst="roundRect">
            <a:avLst>
              <a:gd name="adj" fmla="val 15789"/>
            </a:avLst>
          </a:prstGeom>
          <a:solidFill>
            <a:srgbClr val="D1FAE5"/>
          </a:solidFill>
          <a:ln w="12700">
            <a:solidFill>
              <a:srgbClr val="059669"/>
            </a:solidFill>
            <a:prstDash val="solid"/>
          </a:ln>
        </p:spPr>
      </p:sp>
      <p:sp>
        <p:nvSpPr>
          <p:cNvPr id="43" name="Text 41"/>
          <p:cNvSpPr/>
          <p:nvPr/>
        </p:nvSpPr>
        <p:spPr>
          <a:xfrm>
            <a:off x="4050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Verified</a:t>
            </a:r>
            <a:endParaRPr lang="en-US" sz="850" dirty="0"/>
          </a:p>
        </p:txBody>
      </p:sp>
      <p:sp>
        <p:nvSpPr>
          <p:cNvPr id="44" name="Text 42"/>
          <p:cNvSpPr/>
          <p:nvPr/>
        </p:nvSpPr>
        <p:spPr>
          <a:xfrm>
            <a:off x="5120640" y="6025896"/>
            <a:ext cx="6675120" cy="292608"/>
          </a:xfrm>
          <a:prstGeom prst="rect">
            <a:avLst/>
          </a:prstGeom>
          <a:noFill/>
          <a:ln/>
        </p:spPr>
        <p:txBody>
          <a:bodyPr wrap="square" rtlCol="0" anchor="ctr"/>
          <a:lstStyle/>
          <a:p>
            <a:pPr algn="r" indent="0" marL="0">
              <a:buNone/>
            </a:pPr>
            <a:r>
              <a:rPr lang="en-US" sz="1050" b="1" dirty="0">
                <a:solidFill>
                  <a:srgbClr val="0891B2"/>
                </a:solidFill>
                <a:latin typeface="Inter" pitchFamily="34" charset="0"/>
                <a:ea typeface="Inter" pitchFamily="34" charset="-122"/>
                <a:cs typeface="Inter" pitchFamily="34" charset="-120"/>
              </a:rPr>
              <a:t>Every episode leaves an audit trail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1060704"/>
          </a:xfrm>
          <a:prstGeom prst="rect">
            <a:avLst/>
          </a:prstGeom>
          <a:solidFill>
            <a:srgbClr val="0F172A"/>
          </a:solidFill>
          <a:ln/>
        </p:spPr>
      </p:sp>
      <p:sp>
        <p:nvSpPr>
          <p:cNvPr id="3" name="Text 1"/>
          <p:cNvSpPr/>
          <p:nvPr/>
        </p:nvSpPr>
        <p:spPr>
          <a:xfrm>
            <a:off x="411480" y="118872"/>
            <a:ext cx="4572000" cy="219456"/>
          </a:xfrm>
          <a:prstGeom prst="rect">
            <a:avLst/>
          </a:prstGeom>
          <a:noFill/>
          <a:ln/>
        </p:spPr>
        <p:txBody>
          <a:bodyPr wrap="square" rtlCol="0" anchor="ctr"/>
          <a:lstStyle/>
          <a:p>
            <a:pPr indent="0" marL="0">
              <a:buNone/>
            </a:pPr>
            <a:r>
              <a:rPr lang="en-US" sz="1000" b="1" spc="220" kern="0" dirty="0">
                <a:solidFill>
                  <a:srgbClr val="0891B2"/>
                </a:solidFill>
                <a:latin typeface="Inter" pitchFamily="34" charset="0"/>
                <a:ea typeface="Inter" pitchFamily="34" charset="-122"/>
                <a:cs typeface="Inter" pitchFamily="34" charset="-120"/>
              </a:rPr>
              <a:t>TCS AGENTIC AI</a:t>
            </a:r>
            <a:endParaRPr lang="en-US" sz="1000" dirty="0"/>
          </a:p>
        </p:txBody>
      </p:sp>
      <p:sp>
        <p:nvSpPr>
          <p:cNvPr id="4" name="Text 2"/>
          <p:cNvSpPr/>
          <p:nvPr/>
        </p:nvSpPr>
        <p:spPr>
          <a:xfrm>
            <a:off x="411480" y="329184"/>
            <a:ext cx="9692640" cy="402336"/>
          </a:xfrm>
          <a:prstGeom prst="rect">
            <a:avLst/>
          </a:prstGeom>
          <a:noFill/>
          <a:ln/>
        </p:spPr>
        <p:txBody>
          <a:bodyPr wrap="square" rtlCol="0" anchor="ctr"/>
          <a:lstStyle/>
          <a:p>
            <a:pPr indent="0" marL="0">
              <a:buNone/>
            </a:pPr>
            <a:r>
              <a:rPr lang="en-US" sz="2300" b="1" dirty="0">
                <a:solidFill>
                  <a:srgbClr val="FFFFFF"/>
                </a:solidFill>
                <a:latin typeface="Inter" pitchFamily="34" charset="0"/>
                <a:ea typeface="Inter" pitchFamily="34" charset="-122"/>
                <a:cs typeface="Inter" pitchFamily="34" charset="-120"/>
              </a:rPr>
              <a:t>VM Migration Agent</a:t>
            </a:r>
            <a:endParaRPr lang="en-US" sz="2300" dirty="0"/>
          </a:p>
        </p:txBody>
      </p:sp>
      <p:sp>
        <p:nvSpPr>
          <p:cNvPr id="5" name="Text 3"/>
          <p:cNvSpPr/>
          <p:nvPr/>
        </p:nvSpPr>
        <p:spPr>
          <a:xfrm>
            <a:off x="411480" y="749808"/>
            <a:ext cx="9692640" cy="256032"/>
          </a:xfrm>
          <a:prstGeom prst="rect">
            <a:avLst/>
          </a:prstGeom>
          <a:noFill/>
          <a:ln/>
        </p:spPr>
        <p:txBody>
          <a:bodyPr wrap="square" rtlCol="0" anchor="ctr"/>
          <a:lstStyle/>
          <a:p>
            <a:pPr indent="0" marL="0">
              <a:buNone/>
            </a:pPr>
            <a:r>
              <a:rPr lang="en-US" sz="1050" i="1" dirty="0">
                <a:solidFill>
                  <a:srgbClr val="94A3B8"/>
                </a:solidFill>
                <a:latin typeface="Inter" pitchFamily="34" charset="0"/>
                <a:ea typeface="Inter" pitchFamily="34" charset="-122"/>
                <a:cs typeface="Inter" pitchFamily="34" charset="-120"/>
              </a:rPr>
              <a:t>Assess against the target, govern the change, prove the result — migration is one of nine stages</a:t>
            </a:r>
            <a:endParaRPr lang="en-US" sz="1050" dirty="0"/>
          </a:p>
        </p:txBody>
      </p:sp>
      <p:sp>
        <p:nvSpPr>
          <p:cNvPr id="6" name="Text 4"/>
          <p:cNvSpPr/>
          <p:nvPr/>
        </p:nvSpPr>
        <p:spPr>
          <a:xfrm>
            <a:off x="10561320" y="310896"/>
            <a:ext cx="1234440" cy="365760"/>
          </a:xfrm>
          <a:prstGeom prst="rect">
            <a:avLst>
              <a:gd name="adj" fmla="val 12500"/>
            </a:avLst>
          </a:prstGeom>
          <a:solidFill>
            <a:srgbClr val="2563EB"/>
          </a:solidFill>
          <a:ln/>
        </p:spPr>
        <p:txBody>
          <a:bodyPr wrap="square" rtlCol="0" anchor="ctr"/>
          <a:lstStyle/>
          <a:p>
            <a:pPr algn="ctr" indent="0" marL="0">
              <a:buNone/>
            </a:pPr>
            <a:r>
              <a:rPr lang="en-US" sz="1500" b="1" dirty="0">
                <a:solidFill>
                  <a:srgbClr val="FFFFFF"/>
                </a:solidFill>
                <a:latin typeface="Inter" pitchFamily="34" charset="0"/>
                <a:ea typeface="Inter" pitchFamily="34" charset="-122"/>
                <a:cs typeface="Inter" pitchFamily="34" charset="-120"/>
              </a:rPr>
              <a:t>UC-10</a:t>
            </a:r>
            <a:endParaRPr lang="en-US" sz="1500" dirty="0"/>
          </a:p>
        </p:txBody>
      </p:sp>
      <p:sp>
        <p:nvSpPr>
          <p:cNvPr id="7" name="Text 5"/>
          <p:cNvSpPr/>
          <p:nvPr/>
        </p:nvSpPr>
        <p:spPr>
          <a:xfrm>
            <a:off x="411480" y="1188720"/>
            <a:ext cx="3657600" cy="182880"/>
          </a:xfrm>
          <a:prstGeom prst="rect">
            <a:avLst/>
          </a:prstGeom>
          <a:noFill/>
          <a:ln/>
        </p:spPr>
        <p:txBody>
          <a:bodyPr wrap="square" rtlCol="0" anchor="ctr"/>
          <a:lstStyle/>
          <a:p>
            <a:pPr indent="0" marL="0">
              <a:buNone/>
            </a:pPr>
            <a:r>
              <a:rPr lang="en-US" sz="850" b="1" spc="140" kern="0" dirty="0">
                <a:solidFill>
                  <a:srgbClr val="64748B"/>
                </a:solidFill>
                <a:latin typeface="Inter" pitchFamily="34" charset="0"/>
                <a:ea typeface="Inter" pitchFamily="34" charset="-122"/>
                <a:cs typeface="Inter" pitchFamily="34" charset="-120"/>
              </a:rPr>
              <a:t>USE CASE DESCRIPTION</a:t>
            </a:r>
            <a:endParaRPr lang="en-US" sz="850" dirty="0"/>
          </a:p>
        </p:txBody>
      </p:sp>
      <p:sp>
        <p:nvSpPr>
          <p:cNvPr id="8" name="Shape 6"/>
          <p:cNvSpPr/>
          <p:nvPr/>
        </p:nvSpPr>
        <p:spPr>
          <a:xfrm>
            <a:off x="411480" y="1060704"/>
            <a:ext cx="11384280" cy="274320"/>
          </a:xfrm>
          <a:prstGeom prst="roundRect">
            <a:avLst>
              <a:gd name="adj" fmla="val 13333"/>
            </a:avLst>
          </a:prstGeom>
          <a:solidFill>
            <a:srgbClr val="EEF2FF"/>
          </a:solidFill>
          <a:ln w="9525">
            <a:solidFill>
              <a:srgbClr val="C7D2FE"/>
            </a:solidFill>
            <a:prstDash val="solid"/>
          </a:ln>
        </p:spPr>
      </p:sp>
      <p:sp>
        <p:nvSpPr>
          <p:cNvPr id="9" name="Text 7"/>
          <p:cNvSpPr/>
          <p:nvPr/>
        </p:nvSpPr>
        <p:spPr>
          <a:xfrm>
            <a:off x="521208" y="1060704"/>
            <a:ext cx="11164824" cy="274320"/>
          </a:xfrm>
          <a:prstGeom prst="rect">
            <a:avLst/>
          </a:prstGeom>
          <a:noFill/>
          <a:ln/>
        </p:spPr>
        <p:txBody>
          <a:bodyPr wrap="square" rtlCol="0" anchor="ctr"/>
          <a:lstStyle/>
          <a:p>
            <a:pPr indent="0" marL="0">
              <a:buNone/>
            </a:pPr>
            <a:r>
              <a:rPr lang="en-US" sz="950" b="1" dirty="0">
                <a:solidFill>
                  <a:srgbClr val="3730A3"/>
                </a:solidFill>
                <a:latin typeface="Inter" pitchFamily="34" charset="0"/>
                <a:ea typeface="Inter" pitchFamily="34" charset="-122"/>
                <a:cs typeface="Inter" pitchFamily="34" charset="-120"/>
              </a:rPr>
              <a:t>SCOPE  ·  VMs that ALREADY EXIST on VMware and are moving to OpenShift Virtualization.   Once landed, they are governed by UC-06.</a:t>
            </a:r>
            <a:endParaRPr lang="en-US" sz="950" dirty="0"/>
          </a:p>
        </p:txBody>
      </p:sp>
      <p:sp>
        <p:nvSpPr>
          <p:cNvPr id="10" name="Text 8"/>
          <p:cNvSpPr/>
          <p:nvPr/>
        </p:nvSpPr>
        <p:spPr>
          <a:xfrm>
            <a:off x="411480" y="1426464"/>
            <a:ext cx="11384280" cy="914400"/>
          </a:xfrm>
          <a:prstGeom prst="rect">
            <a:avLst/>
          </a:prstGeom>
          <a:noFill/>
          <a:ln/>
        </p:spPr>
        <p:txBody>
          <a:bodyPr wrap="square" rtlCol="0" anchor="t"/>
          <a:lstStyle/>
          <a:p>
            <a:pPr indent="0" marL="0">
              <a:lnSpc>
                <a:spcPct val="120000"/>
              </a:lnSpc>
              <a:buNone/>
            </a:pPr>
            <a:r>
              <a:rPr lang="en-US" sz="1200" dirty="0">
                <a:solidFill>
                  <a:srgbClr val="1E293B"/>
                </a:solidFill>
                <a:latin typeface="Inter" pitchFamily="34" charset="0"/>
                <a:ea typeface="Inter" pitchFamily="34" charset="-122"/>
                <a:cs typeface="Inter" pitchFamily="34" charset="-120"/>
              </a:rPr>
              <a:t>Every assessment tool on the market reads the source. This agent runs inside the destination, so it can answer what none of them can: will this VM actually RUN when it lands? A KubeVirt VM is a pod — it must fit on ONE node — and a 64 GiB guest on 32 GiB workers copies perfectly, then sits Pending after the outage is spent. Migration is one of nine stages; the rest are assessment, governance, verification and retiring the source.</a:t>
            </a:r>
            <a:endParaRPr lang="en-US" sz="1200" dirty="0"/>
          </a:p>
        </p:txBody>
      </p:sp>
      <p:sp>
        <p:nvSpPr>
          <p:cNvPr id="11" name="Text 9"/>
          <p:cNvSpPr/>
          <p:nvPr/>
        </p:nvSpPr>
        <p:spPr>
          <a:xfrm>
            <a:off x="411480" y="2176272"/>
            <a:ext cx="3657600" cy="201168"/>
          </a:xfrm>
          <a:prstGeom prst="rect">
            <a:avLst/>
          </a:prstGeom>
          <a:noFill/>
          <a:ln/>
        </p:spPr>
        <p:txBody>
          <a:bodyPr wrap="square" rtlCol="0" anchor="ctr"/>
          <a:lstStyle/>
          <a:p>
            <a:pPr indent="0" marL="0">
              <a:buNone/>
            </a:pPr>
            <a:r>
              <a:rPr lang="en-US" sz="850" b="1" spc="140" kern="0" dirty="0">
                <a:solidFill>
                  <a:srgbClr val="2563EB"/>
                </a:solidFill>
                <a:latin typeface="Inter" pitchFamily="34" charset="0"/>
                <a:ea typeface="Inter" pitchFamily="34" charset="-122"/>
                <a:cs typeface="Inter" pitchFamily="34" charset="-120"/>
              </a:rPr>
              <a:t>END-TO-END WORKFLOW</a:t>
            </a:r>
            <a:endParaRPr lang="en-US" sz="850" dirty="0"/>
          </a:p>
        </p:txBody>
      </p:sp>
      <p:sp>
        <p:nvSpPr>
          <p:cNvPr id="12" name="Text 10"/>
          <p:cNvSpPr/>
          <p:nvPr/>
        </p:nvSpPr>
        <p:spPr>
          <a:xfrm>
            <a:off x="411480" y="2395728"/>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DISCOVER  →  ASSESS</a:t>
            </a:r>
            <a:endParaRPr lang="en-US" sz="900" dirty="0"/>
          </a:p>
        </p:txBody>
      </p:sp>
      <p:sp>
        <p:nvSpPr>
          <p:cNvPr id="13" name="Shape 11"/>
          <p:cNvSpPr/>
          <p:nvPr/>
        </p:nvSpPr>
        <p:spPr>
          <a:xfrm>
            <a:off x="411480" y="2569464"/>
            <a:ext cx="2057400" cy="749808"/>
          </a:xfrm>
          <a:prstGeom prst="roundRect">
            <a:avLst>
              <a:gd name="adj" fmla="val 8537"/>
            </a:avLst>
          </a:prstGeom>
          <a:solidFill>
            <a:srgbClr val="FEF3C7"/>
          </a:solidFill>
          <a:ln w="19050">
            <a:solidFill>
              <a:srgbClr val="D97706"/>
            </a:solidFill>
            <a:prstDash val="solid"/>
          </a:ln>
        </p:spPr>
      </p:sp>
      <p:sp>
        <p:nvSpPr>
          <p:cNvPr id="14" name="Text 12"/>
          <p:cNvSpPr/>
          <p:nvPr/>
        </p:nvSpPr>
        <p:spPr>
          <a:xfrm>
            <a:off x="466344" y="2636947"/>
            <a:ext cx="1947672" cy="314919"/>
          </a:xfrm>
          <a:prstGeom prst="rect">
            <a:avLst/>
          </a:prstGeom>
          <a:noFill/>
          <a:ln/>
        </p:spPr>
        <p:txBody>
          <a:bodyPr wrap="square" rtlCol="0" anchor="ctr"/>
          <a:lstStyle/>
          <a:p>
            <a:pPr algn="ctr" indent="0" marL="0">
              <a:buNone/>
            </a:pPr>
            <a:r>
              <a:rPr lang="en-US" sz="1050" b="1" dirty="0">
                <a:solidFill>
                  <a:srgbClr val="92400E"/>
                </a:solidFill>
                <a:latin typeface="Inter" pitchFamily="34" charset="0"/>
                <a:ea typeface="Inter" pitchFamily="34" charset="-122"/>
                <a:cs typeface="Inter" pitchFamily="34" charset="-120"/>
              </a:rPr>
              <a:t>👤 Choose the source</a:t>
            </a:r>
            <a:endParaRPr lang="en-US" sz="1050" dirty="0"/>
          </a:p>
        </p:txBody>
      </p:sp>
      <p:sp>
        <p:nvSpPr>
          <p:cNvPr id="15" name="Text 13"/>
          <p:cNvSpPr/>
          <p:nvPr/>
        </p:nvSpPr>
        <p:spPr>
          <a:xfrm>
            <a:off x="46634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vCenter via MTV</a:t>
            </a:r>
            <a:endParaRPr lang="en-US" sz="850" dirty="0"/>
          </a:p>
        </p:txBody>
      </p:sp>
      <p:sp>
        <p:nvSpPr>
          <p:cNvPr id="16" name="Text 14"/>
          <p:cNvSpPr/>
          <p:nvPr/>
        </p:nvSpPr>
        <p:spPr>
          <a:xfrm>
            <a:off x="246888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17" name="Shape 15"/>
          <p:cNvSpPr/>
          <p:nvPr/>
        </p:nvSpPr>
        <p:spPr>
          <a:xfrm>
            <a:off x="2743200" y="2569464"/>
            <a:ext cx="2057400" cy="749808"/>
          </a:xfrm>
          <a:prstGeom prst="roundRect">
            <a:avLst>
              <a:gd name="adj" fmla="val 8537"/>
            </a:avLst>
          </a:prstGeom>
          <a:solidFill>
            <a:srgbClr val="DBEAFE"/>
          </a:solidFill>
          <a:ln w="19050">
            <a:solidFill>
              <a:srgbClr val="2563EB"/>
            </a:solidFill>
            <a:prstDash val="solid"/>
          </a:ln>
        </p:spPr>
      </p:sp>
      <p:sp>
        <p:nvSpPr>
          <p:cNvPr id="18" name="Text 16"/>
          <p:cNvSpPr/>
          <p:nvPr/>
        </p:nvSpPr>
        <p:spPr>
          <a:xfrm>
            <a:off x="2798064" y="2636947"/>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Read-only discovery</a:t>
            </a:r>
            <a:endParaRPr lang="en-US" sz="1050" dirty="0"/>
          </a:p>
        </p:txBody>
      </p:sp>
      <p:sp>
        <p:nvSpPr>
          <p:cNvPr id="19" name="Text 17"/>
          <p:cNvSpPr/>
          <p:nvPr/>
        </p:nvSpPr>
        <p:spPr>
          <a:xfrm>
            <a:off x="279806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OS · IPs · CPU · RAM · disks</a:t>
            </a:r>
            <a:endParaRPr lang="en-US" sz="850" dirty="0"/>
          </a:p>
        </p:txBody>
      </p:sp>
      <p:sp>
        <p:nvSpPr>
          <p:cNvPr id="20" name="Text 18"/>
          <p:cNvSpPr/>
          <p:nvPr/>
        </p:nvSpPr>
        <p:spPr>
          <a:xfrm>
            <a:off x="480060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1" name="Shape 19"/>
          <p:cNvSpPr/>
          <p:nvPr/>
        </p:nvSpPr>
        <p:spPr>
          <a:xfrm>
            <a:off x="5074920" y="2569464"/>
            <a:ext cx="2057400" cy="749808"/>
          </a:xfrm>
          <a:prstGeom prst="roundRect">
            <a:avLst>
              <a:gd name="adj" fmla="val 8537"/>
            </a:avLst>
          </a:prstGeom>
          <a:solidFill>
            <a:srgbClr val="DBEAFE"/>
          </a:solidFill>
          <a:ln w="19050">
            <a:solidFill>
              <a:srgbClr val="2563EB"/>
            </a:solidFill>
            <a:prstDash val="solid"/>
          </a:ln>
        </p:spPr>
      </p:sp>
      <p:sp>
        <p:nvSpPr>
          <p:cNvPr id="22" name="Text 20"/>
          <p:cNvSpPr/>
          <p:nvPr/>
        </p:nvSpPr>
        <p:spPr>
          <a:xfrm>
            <a:off x="5129784" y="2636947"/>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Certified guest list</a:t>
            </a:r>
            <a:endParaRPr lang="en-US" sz="1050" dirty="0"/>
          </a:p>
        </p:txBody>
      </p:sp>
      <p:sp>
        <p:nvSpPr>
          <p:cNvPr id="23" name="Text 21"/>
          <p:cNvSpPr/>
          <p:nvPr/>
        </p:nvSpPr>
        <p:spPr>
          <a:xfrm>
            <a:off x="512978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Red Hat's three tiers</a:t>
            </a:r>
            <a:endParaRPr lang="en-US" sz="850" dirty="0"/>
          </a:p>
        </p:txBody>
      </p:sp>
      <p:sp>
        <p:nvSpPr>
          <p:cNvPr id="24" name="Text 22"/>
          <p:cNvSpPr/>
          <p:nvPr/>
        </p:nvSpPr>
        <p:spPr>
          <a:xfrm>
            <a:off x="713232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5" name="Shape 23"/>
          <p:cNvSpPr/>
          <p:nvPr/>
        </p:nvSpPr>
        <p:spPr>
          <a:xfrm>
            <a:off x="7406640" y="2569464"/>
            <a:ext cx="2057400" cy="749808"/>
          </a:xfrm>
          <a:prstGeom prst="roundRect">
            <a:avLst>
              <a:gd name="adj" fmla="val 8537"/>
            </a:avLst>
          </a:prstGeom>
          <a:solidFill>
            <a:srgbClr val="DBEAFE"/>
          </a:solidFill>
          <a:ln w="19050">
            <a:solidFill>
              <a:srgbClr val="2563EB"/>
            </a:solidFill>
            <a:prstDash val="solid"/>
          </a:ln>
        </p:spPr>
      </p:sp>
      <p:sp>
        <p:nvSpPr>
          <p:cNvPr id="26" name="Text 24"/>
          <p:cNvSpPr/>
          <p:nvPr/>
        </p:nvSpPr>
        <p:spPr>
          <a:xfrm>
            <a:off x="7461504" y="2636947"/>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15 source checks</a:t>
            </a:r>
            <a:endParaRPr lang="en-US" sz="1050" dirty="0"/>
          </a:p>
        </p:txBody>
      </p:sp>
      <p:sp>
        <p:nvSpPr>
          <p:cNvPr id="27" name="Text 25"/>
          <p:cNvSpPr/>
          <p:nvPr/>
        </p:nvSpPr>
        <p:spPr>
          <a:xfrm>
            <a:off x="746150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snapshots · RDM · vTPM</a:t>
            </a:r>
            <a:endParaRPr lang="en-US" sz="850" dirty="0"/>
          </a:p>
        </p:txBody>
      </p:sp>
      <p:sp>
        <p:nvSpPr>
          <p:cNvPr id="28" name="Text 26"/>
          <p:cNvSpPr/>
          <p:nvPr/>
        </p:nvSpPr>
        <p:spPr>
          <a:xfrm>
            <a:off x="9464040" y="2816352"/>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29" name="Shape 27"/>
          <p:cNvSpPr/>
          <p:nvPr/>
        </p:nvSpPr>
        <p:spPr>
          <a:xfrm>
            <a:off x="9738360" y="2569464"/>
            <a:ext cx="2057400" cy="749808"/>
          </a:xfrm>
          <a:prstGeom prst="roundRect">
            <a:avLst>
              <a:gd name="adj" fmla="val 8537"/>
            </a:avLst>
          </a:prstGeom>
          <a:solidFill>
            <a:srgbClr val="DBEAFE"/>
          </a:solidFill>
          <a:ln w="19050">
            <a:solidFill>
              <a:srgbClr val="2563EB"/>
            </a:solidFill>
            <a:prstDash val="solid"/>
          </a:ln>
        </p:spPr>
      </p:sp>
      <p:sp>
        <p:nvSpPr>
          <p:cNvPr id="30" name="Text 28"/>
          <p:cNvSpPr/>
          <p:nvPr/>
        </p:nvSpPr>
        <p:spPr>
          <a:xfrm>
            <a:off x="9793224" y="2636947"/>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Will it fit?</a:t>
            </a:r>
            <a:endParaRPr lang="en-US" sz="1050" dirty="0"/>
          </a:p>
        </p:txBody>
      </p:sp>
      <p:sp>
        <p:nvSpPr>
          <p:cNvPr id="31" name="Text 29"/>
          <p:cNvSpPr/>
          <p:nvPr/>
        </p:nvSpPr>
        <p:spPr>
          <a:xfrm>
            <a:off x="9793224" y="2944368"/>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node-level schedulability</a:t>
            </a:r>
            <a:endParaRPr lang="en-US" sz="850" dirty="0"/>
          </a:p>
        </p:txBody>
      </p:sp>
      <p:sp>
        <p:nvSpPr>
          <p:cNvPr id="32" name="Text 30"/>
          <p:cNvSpPr/>
          <p:nvPr/>
        </p:nvSpPr>
        <p:spPr>
          <a:xfrm>
            <a:off x="411480" y="3438144"/>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REPORT &amp; RECOMMEND</a:t>
            </a:r>
            <a:endParaRPr lang="en-US" sz="900" dirty="0"/>
          </a:p>
        </p:txBody>
      </p:sp>
      <p:sp>
        <p:nvSpPr>
          <p:cNvPr id="33" name="Shape 31"/>
          <p:cNvSpPr/>
          <p:nvPr/>
        </p:nvSpPr>
        <p:spPr>
          <a:xfrm>
            <a:off x="411480" y="3611880"/>
            <a:ext cx="2057400" cy="749808"/>
          </a:xfrm>
          <a:prstGeom prst="roundRect">
            <a:avLst>
              <a:gd name="adj" fmla="val 8537"/>
            </a:avLst>
          </a:prstGeom>
          <a:solidFill>
            <a:srgbClr val="DBEAFE"/>
          </a:solidFill>
          <a:ln w="19050">
            <a:solidFill>
              <a:srgbClr val="2563EB"/>
            </a:solidFill>
            <a:prstDash val="solid"/>
          </a:ln>
        </p:spPr>
      </p:sp>
      <p:sp>
        <p:nvSpPr>
          <p:cNvPr id="34" name="Text 32"/>
          <p:cNvSpPr/>
          <p:nvPr/>
        </p:nvSpPr>
        <p:spPr>
          <a:xfrm>
            <a:off x="466344" y="3679363"/>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Resource guarantees</a:t>
            </a:r>
            <a:endParaRPr lang="en-US" sz="1050" dirty="0"/>
          </a:p>
        </p:txBody>
      </p:sp>
      <p:sp>
        <p:nvSpPr>
          <p:cNvPr id="35" name="Text 33"/>
          <p:cNvSpPr/>
          <p:nvPr/>
        </p:nvSpPr>
        <p:spPr>
          <a:xfrm>
            <a:off x="466344" y="3986784"/>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reservations → Burstable</a:t>
            </a:r>
            <a:endParaRPr lang="en-US" sz="850" dirty="0"/>
          </a:p>
        </p:txBody>
      </p:sp>
      <p:sp>
        <p:nvSpPr>
          <p:cNvPr id="36" name="Text 34"/>
          <p:cNvSpPr/>
          <p:nvPr/>
        </p:nvSpPr>
        <p:spPr>
          <a:xfrm>
            <a:off x="2468880" y="385876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37" name="Shape 35"/>
          <p:cNvSpPr/>
          <p:nvPr/>
        </p:nvSpPr>
        <p:spPr>
          <a:xfrm>
            <a:off x="2743200" y="3611880"/>
            <a:ext cx="2057400" cy="749808"/>
          </a:xfrm>
          <a:prstGeom prst="roundRect">
            <a:avLst>
              <a:gd name="adj" fmla="val 8537"/>
            </a:avLst>
          </a:prstGeom>
          <a:solidFill>
            <a:srgbClr val="DBEAFE"/>
          </a:solidFill>
          <a:ln w="19050">
            <a:solidFill>
              <a:srgbClr val="2563EB"/>
            </a:solidFill>
            <a:prstDash val="solid"/>
          </a:ln>
        </p:spPr>
      </p:sp>
      <p:sp>
        <p:nvSpPr>
          <p:cNvPr id="38" name="Text 36"/>
          <p:cNvSpPr/>
          <p:nvPr/>
        </p:nvSpPr>
        <p:spPr>
          <a:xfrm>
            <a:off x="2798064" y="3679363"/>
            <a:ext cx="1947672" cy="314919"/>
          </a:xfrm>
          <a:prstGeom prst="rect">
            <a:avLst/>
          </a:prstGeom>
          <a:noFill/>
          <a:ln/>
        </p:spPr>
        <p:txBody>
          <a:bodyPr wrap="square" rtlCol="0" anchor="ctr"/>
          <a:lstStyle/>
          <a:p>
            <a:pPr algn="ctr" indent="0" marL="0">
              <a:buNone/>
            </a:pPr>
            <a:r>
              <a:rPr lang="en-US" sz="1050" b="1" dirty="0">
                <a:solidFill>
                  <a:srgbClr val="1E40AF"/>
                </a:solidFill>
                <a:latin typeface="Inter" pitchFamily="34" charset="0"/>
                <a:ea typeface="Inter" pitchFamily="34" charset="-122"/>
                <a:cs typeface="Inter" pitchFamily="34" charset="-120"/>
              </a:rPr>
              <a:t>⚙️ Drift since last run</a:t>
            </a:r>
            <a:endParaRPr lang="en-US" sz="1050" dirty="0"/>
          </a:p>
        </p:txBody>
      </p:sp>
      <p:sp>
        <p:nvSpPr>
          <p:cNvPr id="39" name="Text 37"/>
          <p:cNvSpPr/>
          <p:nvPr/>
        </p:nvSpPr>
        <p:spPr>
          <a:xfrm>
            <a:off x="2798064" y="3986784"/>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improved · regressed</a:t>
            </a:r>
            <a:endParaRPr lang="en-US" sz="850" dirty="0"/>
          </a:p>
        </p:txBody>
      </p:sp>
      <p:sp>
        <p:nvSpPr>
          <p:cNvPr id="40" name="Text 38"/>
          <p:cNvSpPr/>
          <p:nvPr/>
        </p:nvSpPr>
        <p:spPr>
          <a:xfrm>
            <a:off x="4800600" y="385876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1" name="Shape 39"/>
          <p:cNvSpPr/>
          <p:nvPr/>
        </p:nvSpPr>
        <p:spPr>
          <a:xfrm>
            <a:off x="5074920" y="3611880"/>
            <a:ext cx="2057400" cy="749808"/>
          </a:xfrm>
          <a:prstGeom prst="roundRect">
            <a:avLst>
              <a:gd name="adj" fmla="val 8537"/>
            </a:avLst>
          </a:prstGeom>
          <a:solidFill>
            <a:srgbClr val="EDE9FE"/>
          </a:solidFill>
          <a:ln w="19050">
            <a:solidFill>
              <a:srgbClr val="7C3AED"/>
            </a:solidFill>
            <a:prstDash val="solid"/>
          </a:ln>
        </p:spPr>
      </p:sp>
      <p:sp>
        <p:nvSpPr>
          <p:cNvPr id="42" name="Text 40"/>
          <p:cNvSpPr/>
          <p:nvPr/>
        </p:nvSpPr>
        <p:spPr>
          <a:xfrm>
            <a:off x="5129784" y="3679363"/>
            <a:ext cx="1947672" cy="314919"/>
          </a:xfrm>
          <a:prstGeom prst="rect">
            <a:avLst/>
          </a:prstGeom>
          <a:noFill/>
          <a:ln/>
        </p:spPr>
        <p:txBody>
          <a:bodyPr wrap="square" rtlCol="0" anchor="ctr"/>
          <a:lstStyle/>
          <a:p>
            <a:pPr algn="ctr" indent="0" marL="0">
              <a:buNone/>
            </a:pPr>
            <a:r>
              <a:rPr lang="en-US" sz="1050" b="1" dirty="0">
                <a:solidFill>
                  <a:srgbClr val="5B21B6"/>
                </a:solidFill>
                <a:latin typeface="Inter" pitchFamily="34" charset="0"/>
                <a:ea typeface="Inter" pitchFamily="34" charset="-122"/>
                <a:cs typeface="Inter" pitchFamily="34" charset="-120"/>
              </a:rPr>
              <a:t>🤖 Warm or cold, per VM</a:t>
            </a:r>
            <a:endParaRPr lang="en-US" sz="1050" dirty="0"/>
          </a:p>
        </p:txBody>
      </p:sp>
      <p:sp>
        <p:nvSpPr>
          <p:cNvPr id="43" name="Text 41"/>
          <p:cNvSpPr/>
          <p:nvPr/>
        </p:nvSpPr>
        <p:spPr>
          <a:xfrm>
            <a:off x="5129784" y="3986784"/>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with a reason, then clamped</a:t>
            </a:r>
            <a:endParaRPr lang="en-US" sz="850" dirty="0"/>
          </a:p>
        </p:txBody>
      </p:sp>
      <p:sp>
        <p:nvSpPr>
          <p:cNvPr id="44" name="Text 42"/>
          <p:cNvSpPr/>
          <p:nvPr/>
        </p:nvSpPr>
        <p:spPr>
          <a:xfrm>
            <a:off x="7132320" y="385876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5" name="Shape 43"/>
          <p:cNvSpPr/>
          <p:nvPr/>
        </p:nvSpPr>
        <p:spPr>
          <a:xfrm>
            <a:off x="7406640" y="3611880"/>
            <a:ext cx="2057400" cy="749808"/>
          </a:xfrm>
          <a:prstGeom prst="roundRect">
            <a:avLst>
              <a:gd name="adj" fmla="val 8537"/>
            </a:avLst>
          </a:prstGeom>
          <a:solidFill>
            <a:srgbClr val="FEF3C7"/>
          </a:solidFill>
          <a:ln w="19050">
            <a:solidFill>
              <a:srgbClr val="D97706"/>
            </a:solidFill>
            <a:prstDash val="solid"/>
          </a:ln>
        </p:spPr>
      </p:sp>
      <p:sp>
        <p:nvSpPr>
          <p:cNvPr id="46" name="Text 44"/>
          <p:cNvSpPr/>
          <p:nvPr/>
        </p:nvSpPr>
        <p:spPr>
          <a:xfrm>
            <a:off x="7461504" y="3679363"/>
            <a:ext cx="1947672" cy="314919"/>
          </a:xfrm>
          <a:prstGeom prst="rect">
            <a:avLst/>
          </a:prstGeom>
          <a:noFill/>
          <a:ln/>
        </p:spPr>
        <p:txBody>
          <a:bodyPr wrap="square" rtlCol="0" anchor="ctr"/>
          <a:lstStyle/>
          <a:p>
            <a:pPr algn="ctr" indent="0" marL="0">
              <a:buNone/>
            </a:pPr>
            <a:r>
              <a:rPr lang="en-US" sz="1050" b="1" dirty="0">
                <a:solidFill>
                  <a:srgbClr val="92400E"/>
                </a:solidFill>
                <a:latin typeface="Inter" pitchFamily="34" charset="0"/>
                <a:ea typeface="Inter" pitchFamily="34" charset="-122"/>
                <a:cs typeface="Inter" pitchFamily="34" charset="-120"/>
              </a:rPr>
              <a:t>👤 Validate the report</a:t>
            </a:r>
            <a:endParaRPr lang="en-US" sz="1050" dirty="0"/>
          </a:p>
        </p:txBody>
      </p:sp>
      <p:sp>
        <p:nvSpPr>
          <p:cNvPr id="47" name="Text 45"/>
          <p:cNvSpPr/>
          <p:nvPr/>
        </p:nvSpPr>
        <p:spPr>
          <a:xfrm>
            <a:off x="7461504" y="3986784"/>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evidence pack exported</a:t>
            </a:r>
            <a:endParaRPr lang="en-US" sz="850" dirty="0"/>
          </a:p>
        </p:txBody>
      </p:sp>
      <p:sp>
        <p:nvSpPr>
          <p:cNvPr id="48" name="Text 46"/>
          <p:cNvSpPr/>
          <p:nvPr/>
        </p:nvSpPr>
        <p:spPr>
          <a:xfrm>
            <a:off x="9464040" y="3858768"/>
            <a:ext cx="274320" cy="256032"/>
          </a:xfrm>
          <a:prstGeom prst="rect">
            <a:avLst/>
          </a:prstGeom>
          <a:noFill/>
          <a:ln/>
        </p:spPr>
        <p:txBody>
          <a:bodyPr wrap="square" rtlCol="0" anchor="ctr"/>
          <a:lstStyle/>
          <a:p>
            <a:pPr algn="ctr" indent="0" marL="0">
              <a:buNone/>
            </a:pPr>
            <a:r>
              <a:rPr lang="en-US" sz="1100" dirty="0">
                <a:solidFill>
                  <a:srgbClr val="64748B"/>
                </a:solidFill>
                <a:latin typeface="Inter" pitchFamily="34" charset="0"/>
                <a:ea typeface="Inter" pitchFamily="34" charset="-122"/>
                <a:cs typeface="Inter" pitchFamily="34" charset="-120"/>
              </a:rPr>
              <a:t>▶</a:t>
            </a:r>
            <a:endParaRPr lang="en-US" sz="1100" dirty="0"/>
          </a:p>
        </p:txBody>
      </p:sp>
      <p:sp>
        <p:nvSpPr>
          <p:cNvPr id="49" name="Shape 47"/>
          <p:cNvSpPr/>
          <p:nvPr/>
        </p:nvSpPr>
        <p:spPr>
          <a:xfrm>
            <a:off x="9738360" y="3611880"/>
            <a:ext cx="2057400" cy="749808"/>
          </a:xfrm>
          <a:prstGeom prst="roundRect">
            <a:avLst>
              <a:gd name="adj" fmla="val 8537"/>
            </a:avLst>
          </a:prstGeom>
          <a:solidFill>
            <a:srgbClr val="FEF3C7"/>
          </a:solidFill>
          <a:ln w="19050">
            <a:solidFill>
              <a:srgbClr val="D97706"/>
            </a:solidFill>
            <a:prstDash val="solid"/>
          </a:ln>
        </p:spPr>
      </p:sp>
      <p:sp>
        <p:nvSpPr>
          <p:cNvPr id="50" name="Text 48"/>
          <p:cNvSpPr/>
          <p:nvPr/>
        </p:nvSpPr>
        <p:spPr>
          <a:xfrm>
            <a:off x="9793224" y="3679363"/>
            <a:ext cx="1947672" cy="314919"/>
          </a:xfrm>
          <a:prstGeom prst="rect">
            <a:avLst/>
          </a:prstGeom>
          <a:noFill/>
          <a:ln/>
        </p:spPr>
        <p:txBody>
          <a:bodyPr wrap="square" rtlCol="0" anchor="ctr"/>
          <a:lstStyle/>
          <a:p>
            <a:pPr algn="ctr" indent="0" marL="0">
              <a:buNone/>
            </a:pPr>
            <a:r>
              <a:rPr lang="en-US" sz="1050" b="1" dirty="0">
                <a:solidFill>
                  <a:srgbClr val="92400E"/>
                </a:solidFill>
                <a:latin typeface="Inter" pitchFamily="34" charset="0"/>
                <a:ea typeface="Inter" pitchFamily="34" charset="-122"/>
                <a:cs typeface="Inter" pitchFamily="34" charset="-120"/>
              </a:rPr>
              <a:t>👤 Choose the wave</a:t>
            </a:r>
            <a:endParaRPr lang="en-US" sz="1050" dirty="0"/>
          </a:p>
        </p:txBody>
      </p:sp>
      <p:sp>
        <p:nvSpPr>
          <p:cNvPr id="51" name="Text 49"/>
          <p:cNvSpPr/>
          <p:nvPr/>
        </p:nvSpPr>
        <p:spPr>
          <a:xfrm>
            <a:off x="9793224" y="3986784"/>
            <a:ext cx="1947672" cy="329916"/>
          </a:xfrm>
          <a:prstGeom prst="rect">
            <a:avLst/>
          </a:prstGeom>
          <a:noFill/>
          <a:ln/>
        </p:spPr>
        <p:txBody>
          <a:bodyPr wrap="square" rtlCol="0" anchor="t"/>
          <a:lstStyle/>
          <a:p>
            <a:pPr algn="ctr" indent="0" marL="0">
              <a:buNone/>
            </a:pPr>
            <a:r>
              <a:rPr lang="en-US" sz="850" dirty="0">
                <a:solidFill>
                  <a:srgbClr val="475569"/>
                </a:solidFill>
                <a:latin typeface="Inter" pitchFamily="34" charset="0"/>
                <a:ea typeface="Inter" pitchFamily="34" charset="-122"/>
                <a:cs typeface="Inter" pitchFamily="34" charset="-120"/>
              </a:rPr>
              <a:t>split-group warning</a:t>
            </a:r>
            <a:endParaRPr lang="en-US" sz="850" dirty="0"/>
          </a:p>
        </p:txBody>
      </p:sp>
      <p:sp>
        <p:nvSpPr>
          <p:cNvPr id="52" name="Shape 50"/>
          <p:cNvSpPr/>
          <p:nvPr/>
        </p:nvSpPr>
        <p:spPr>
          <a:xfrm>
            <a:off x="2606040" y="4480560"/>
            <a:ext cx="6995160" cy="548640"/>
          </a:xfrm>
          <a:prstGeom prst="roundRect">
            <a:avLst>
              <a:gd name="adj" fmla="val 11667"/>
            </a:avLst>
          </a:prstGeom>
          <a:solidFill>
            <a:srgbClr val="D97706"/>
          </a:solidFill>
          <a:ln w="25400">
            <a:solidFill>
              <a:srgbClr val="92400E"/>
            </a:solidFill>
            <a:prstDash val="solid"/>
          </a:ln>
        </p:spPr>
      </p:sp>
      <p:sp>
        <p:nvSpPr>
          <p:cNvPr id="53" name="Text 51"/>
          <p:cNvSpPr/>
          <p:nvPr/>
        </p:nvSpPr>
        <p:spPr>
          <a:xfrm>
            <a:off x="2606040" y="4480560"/>
            <a:ext cx="6995160" cy="548640"/>
          </a:xfrm>
          <a:prstGeom prst="rect">
            <a:avLst/>
          </a:prstGeom>
          <a:noFill/>
          <a:ln/>
        </p:spPr>
        <p:txBody>
          <a:bodyPr wrap="square"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  CHANGE REQUEST APPROVED — THE GATE  ·  held on the Plan, re-read server-side  👤</a:t>
            </a:r>
            <a:endParaRPr lang="en-US" sz="1200" dirty="0"/>
          </a:p>
        </p:txBody>
      </p:sp>
      <p:sp>
        <p:nvSpPr>
          <p:cNvPr id="54" name="Text 52"/>
          <p:cNvSpPr/>
          <p:nvPr/>
        </p:nvSpPr>
        <p:spPr>
          <a:xfrm>
            <a:off x="411480" y="5148072"/>
            <a:ext cx="7315200" cy="173736"/>
          </a:xfrm>
          <a:prstGeom prst="rect">
            <a:avLst/>
          </a:prstGeom>
          <a:noFill/>
          <a:ln/>
        </p:spPr>
        <p:txBody>
          <a:bodyPr wrap="square" rtlCol="0" anchor="ctr"/>
          <a:lstStyle/>
          <a:p>
            <a:pPr indent="0" marL="0">
              <a:buNone/>
            </a:pPr>
            <a:r>
              <a:rPr lang="en-US" sz="900" b="1" spc="120" kern="0" dirty="0">
                <a:solidFill>
                  <a:srgbClr val="64748B"/>
                </a:solidFill>
                <a:latin typeface="Inter" pitchFamily="34" charset="0"/>
                <a:ea typeface="Inter" pitchFamily="34" charset="-122"/>
                <a:cs typeface="Inter" pitchFamily="34" charset="-120"/>
              </a:rPr>
              <a:t>MIGRATE &amp; PROVE</a:t>
            </a:r>
            <a:endParaRPr lang="en-US" sz="900" dirty="0"/>
          </a:p>
        </p:txBody>
      </p:sp>
      <p:sp>
        <p:nvSpPr>
          <p:cNvPr id="55" name="Shape 53"/>
          <p:cNvSpPr/>
          <p:nvPr/>
        </p:nvSpPr>
        <p:spPr>
          <a:xfrm>
            <a:off x="411480" y="5321808"/>
            <a:ext cx="2736342" cy="420624"/>
          </a:xfrm>
          <a:prstGeom prst="roundRect">
            <a:avLst>
              <a:gd name="adj" fmla="val 10870"/>
            </a:avLst>
          </a:prstGeom>
          <a:solidFill>
            <a:srgbClr val="D1FAE5"/>
          </a:solidFill>
          <a:ln w="12700">
            <a:solidFill>
              <a:srgbClr val="059669"/>
            </a:solidFill>
            <a:prstDash val="solid"/>
          </a:ln>
        </p:spPr>
      </p:sp>
      <p:sp>
        <p:nvSpPr>
          <p:cNvPr id="56" name="Text 54"/>
          <p:cNvSpPr/>
          <p:nvPr/>
        </p:nvSpPr>
        <p:spPr>
          <a:xfrm>
            <a:off x="466344"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Plans MTV accepts — Windows and Linux never mixed</a:t>
            </a:r>
            <a:endParaRPr lang="en-US" sz="950" dirty="0"/>
          </a:p>
        </p:txBody>
      </p:sp>
      <p:sp>
        <p:nvSpPr>
          <p:cNvPr id="57" name="Shape 55"/>
          <p:cNvSpPr/>
          <p:nvPr/>
        </p:nvSpPr>
        <p:spPr>
          <a:xfrm>
            <a:off x="3294126" y="5321808"/>
            <a:ext cx="2736342" cy="420624"/>
          </a:xfrm>
          <a:prstGeom prst="roundRect">
            <a:avLst>
              <a:gd name="adj" fmla="val 10870"/>
            </a:avLst>
          </a:prstGeom>
          <a:solidFill>
            <a:srgbClr val="D1FAE5"/>
          </a:solidFill>
          <a:ln w="12700">
            <a:solidFill>
              <a:srgbClr val="059669"/>
            </a:solidFill>
            <a:prstDash val="solid"/>
          </a:ln>
        </p:spPr>
      </p:sp>
      <p:sp>
        <p:nvSpPr>
          <p:cNvPr id="58" name="Text 56"/>
          <p:cNvSpPr/>
          <p:nvPr/>
        </p:nvSpPr>
        <p:spPr>
          <a:xfrm>
            <a:off x="3348990"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Live ETA from bytes actually moving</a:t>
            </a:r>
            <a:endParaRPr lang="en-US" sz="950" dirty="0"/>
          </a:p>
        </p:txBody>
      </p:sp>
      <p:sp>
        <p:nvSpPr>
          <p:cNvPr id="59" name="Shape 57"/>
          <p:cNvSpPr/>
          <p:nvPr/>
        </p:nvSpPr>
        <p:spPr>
          <a:xfrm>
            <a:off x="6176772" y="5321808"/>
            <a:ext cx="2736342" cy="420624"/>
          </a:xfrm>
          <a:prstGeom prst="roundRect">
            <a:avLst>
              <a:gd name="adj" fmla="val 10870"/>
            </a:avLst>
          </a:prstGeom>
          <a:solidFill>
            <a:srgbClr val="D1FAE5"/>
          </a:solidFill>
          <a:ln w="12700">
            <a:solidFill>
              <a:srgbClr val="059669"/>
            </a:solidFill>
            <a:prstDash val="solid"/>
          </a:ln>
        </p:spPr>
      </p:sp>
      <p:sp>
        <p:nvSpPr>
          <p:cNvPr id="60" name="Text 58"/>
          <p:cNvSpPr/>
          <p:nvPr/>
        </p:nvSpPr>
        <p:spPr>
          <a:xfrm>
            <a:off x="6231636"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Verified on the target</a:t>
            </a:r>
            <a:endParaRPr lang="en-US" sz="950" dirty="0"/>
          </a:p>
        </p:txBody>
      </p:sp>
      <p:sp>
        <p:nvSpPr>
          <p:cNvPr id="61" name="Shape 59"/>
          <p:cNvSpPr/>
          <p:nvPr/>
        </p:nvSpPr>
        <p:spPr>
          <a:xfrm>
            <a:off x="9059418" y="5321808"/>
            <a:ext cx="2736342" cy="420624"/>
          </a:xfrm>
          <a:prstGeom prst="roundRect">
            <a:avLst>
              <a:gd name="adj" fmla="val 10870"/>
            </a:avLst>
          </a:prstGeom>
          <a:solidFill>
            <a:srgbClr val="D1FAE5"/>
          </a:solidFill>
          <a:ln w="12700">
            <a:solidFill>
              <a:srgbClr val="059669"/>
            </a:solidFill>
            <a:prstDash val="solid"/>
          </a:ln>
        </p:spPr>
      </p:sp>
      <p:sp>
        <p:nvSpPr>
          <p:cNvPr id="62" name="Text 60"/>
          <p:cNvSpPr/>
          <p:nvPr/>
        </p:nvSpPr>
        <p:spPr>
          <a:xfrm>
            <a:off x="9114282" y="5321808"/>
            <a:ext cx="2626614" cy="420624"/>
          </a:xfrm>
          <a:prstGeom prst="rect">
            <a:avLst/>
          </a:prstGeom>
          <a:noFill/>
          <a:ln/>
        </p:spPr>
        <p:txBody>
          <a:bodyPr wrap="square" rtlCol="0" anchor="ctr"/>
          <a:lstStyle/>
          <a:p>
            <a:pPr algn="ctr" indent="0" marL="0">
              <a:buNone/>
            </a:pPr>
            <a:r>
              <a:rPr lang="en-US" sz="950" b="1" dirty="0">
                <a:solidFill>
                  <a:srgbClr val="065F46"/>
                </a:solidFill>
                <a:latin typeface="Inter" pitchFamily="34" charset="0"/>
                <a:ea typeface="Inter" pitchFamily="34" charset="-122"/>
                <a:cs typeface="Inter" pitchFamily="34" charset="-120"/>
              </a:rPr>
              <a:t>✅ Rollback — the source VM is never deleted</a:t>
            </a:r>
            <a:endParaRPr lang="en-US" sz="950" dirty="0"/>
          </a:p>
        </p:txBody>
      </p:sp>
      <p:sp>
        <p:nvSpPr>
          <p:cNvPr id="63" name="Shape 61"/>
          <p:cNvSpPr/>
          <p:nvPr/>
        </p:nvSpPr>
        <p:spPr>
          <a:xfrm>
            <a:off x="411480" y="6089904"/>
            <a:ext cx="173736" cy="173736"/>
          </a:xfrm>
          <a:prstGeom prst="roundRect">
            <a:avLst>
              <a:gd name="adj" fmla="val 15789"/>
            </a:avLst>
          </a:prstGeom>
          <a:solidFill>
            <a:srgbClr val="EDE9FE"/>
          </a:solidFill>
          <a:ln w="12700">
            <a:solidFill>
              <a:srgbClr val="7C3AED"/>
            </a:solidFill>
            <a:prstDash val="solid"/>
          </a:ln>
        </p:spPr>
      </p:sp>
      <p:sp>
        <p:nvSpPr>
          <p:cNvPr id="64" name="Text 62"/>
          <p:cNvSpPr/>
          <p:nvPr/>
        </p:nvSpPr>
        <p:spPr>
          <a:xfrm>
            <a:off x="621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AI</a:t>
            </a:r>
            <a:endParaRPr lang="en-US" sz="850" dirty="0"/>
          </a:p>
        </p:txBody>
      </p:sp>
      <p:sp>
        <p:nvSpPr>
          <p:cNvPr id="65" name="Shape 63"/>
          <p:cNvSpPr/>
          <p:nvPr/>
        </p:nvSpPr>
        <p:spPr>
          <a:xfrm>
            <a:off x="1554480" y="6089904"/>
            <a:ext cx="173736" cy="173736"/>
          </a:xfrm>
          <a:prstGeom prst="roundRect">
            <a:avLst>
              <a:gd name="adj" fmla="val 15789"/>
            </a:avLst>
          </a:prstGeom>
          <a:solidFill>
            <a:srgbClr val="DBEAFE"/>
          </a:solidFill>
          <a:ln w="12700">
            <a:solidFill>
              <a:srgbClr val="2563EB"/>
            </a:solidFill>
            <a:prstDash val="solid"/>
          </a:ln>
        </p:spPr>
      </p:sp>
      <p:sp>
        <p:nvSpPr>
          <p:cNvPr id="66" name="Text 64"/>
          <p:cNvSpPr/>
          <p:nvPr/>
        </p:nvSpPr>
        <p:spPr>
          <a:xfrm>
            <a:off x="1764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Automatic</a:t>
            </a:r>
            <a:endParaRPr lang="en-US" sz="850" dirty="0"/>
          </a:p>
        </p:txBody>
      </p:sp>
      <p:sp>
        <p:nvSpPr>
          <p:cNvPr id="67" name="Shape 65"/>
          <p:cNvSpPr/>
          <p:nvPr/>
        </p:nvSpPr>
        <p:spPr>
          <a:xfrm>
            <a:off x="2697480" y="6089904"/>
            <a:ext cx="173736" cy="173736"/>
          </a:xfrm>
          <a:prstGeom prst="roundRect">
            <a:avLst>
              <a:gd name="adj" fmla="val 15789"/>
            </a:avLst>
          </a:prstGeom>
          <a:solidFill>
            <a:srgbClr val="FEF3C7"/>
          </a:solidFill>
          <a:ln w="12700">
            <a:solidFill>
              <a:srgbClr val="D97706"/>
            </a:solidFill>
            <a:prstDash val="solid"/>
          </a:ln>
        </p:spPr>
      </p:sp>
      <p:sp>
        <p:nvSpPr>
          <p:cNvPr id="68" name="Text 66"/>
          <p:cNvSpPr/>
          <p:nvPr/>
        </p:nvSpPr>
        <p:spPr>
          <a:xfrm>
            <a:off x="2907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Human</a:t>
            </a:r>
            <a:endParaRPr lang="en-US" sz="850" dirty="0"/>
          </a:p>
        </p:txBody>
      </p:sp>
      <p:sp>
        <p:nvSpPr>
          <p:cNvPr id="69" name="Shape 67"/>
          <p:cNvSpPr/>
          <p:nvPr/>
        </p:nvSpPr>
        <p:spPr>
          <a:xfrm>
            <a:off x="3840480" y="6089904"/>
            <a:ext cx="173736" cy="173736"/>
          </a:xfrm>
          <a:prstGeom prst="roundRect">
            <a:avLst>
              <a:gd name="adj" fmla="val 15789"/>
            </a:avLst>
          </a:prstGeom>
          <a:solidFill>
            <a:srgbClr val="D1FAE5"/>
          </a:solidFill>
          <a:ln w="12700">
            <a:solidFill>
              <a:srgbClr val="059669"/>
            </a:solidFill>
            <a:prstDash val="solid"/>
          </a:ln>
        </p:spPr>
      </p:sp>
      <p:sp>
        <p:nvSpPr>
          <p:cNvPr id="70" name="Text 68"/>
          <p:cNvSpPr/>
          <p:nvPr/>
        </p:nvSpPr>
        <p:spPr>
          <a:xfrm>
            <a:off x="4050792" y="6053328"/>
            <a:ext cx="868680" cy="237744"/>
          </a:xfrm>
          <a:prstGeom prst="rect">
            <a:avLst/>
          </a:prstGeom>
          <a:noFill/>
          <a:ln/>
        </p:spPr>
        <p:txBody>
          <a:bodyPr wrap="square" rtlCol="0" anchor="ctr"/>
          <a:lstStyle/>
          <a:p>
            <a:pPr indent="0" marL="0">
              <a:buNone/>
            </a:pPr>
            <a:r>
              <a:rPr lang="en-US" sz="850" dirty="0">
                <a:solidFill>
                  <a:srgbClr val="475569"/>
                </a:solidFill>
                <a:latin typeface="Inter" pitchFamily="34" charset="0"/>
                <a:ea typeface="Inter" pitchFamily="34" charset="-122"/>
                <a:cs typeface="Inter" pitchFamily="34" charset="-120"/>
              </a:rPr>
              <a:t>Verified</a:t>
            </a:r>
            <a:endParaRPr lang="en-US" sz="850" dirty="0"/>
          </a:p>
        </p:txBody>
      </p:sp>
      <p:sp>
        <p:nvSpPr>
          <p:cNvPr id="71" name="Text 69"/>
          <p:cNvSpPr/>
          <p:nvPr/>
        </p:nvSpPr>
        <p:spPr>
          <a:xfrm>
            <a:off x="5120640" y="6025896"/>
            <a:ext cx="6675120" cy="292608"/>
          </a:xfrm>
          <a:prstGeom prst="rect">
            <a:avLst/>
          </a:prstGeom>
          <a:noFill/>
          <a:ln/>
        </p:spPr>
        <p:txBody>
          <a:bodyPr wrap="square" rtlCol="0" anchor="ctr"/>
          <a:lstStyle/>
          <a:p>
            <a:pPr algn="r" indent="0" marL="0">
              <a:buNone/>
            </a:pPr>
            <a:r>
              <a:rPr lang="en-US" sz="1050" b="1" dirty="0">
                <a:solidFill>
                  <a:srgbClr val="059669"/>
                </a:solidFill>
                <a:latin typeface="Inter" pitchFamily="34" charset="0"/>
                <a:ea typeface="Inter" pitchFamily="34" charset="-122"/>
                <a:cs typeface="Inter" pitchFamily="34" charset="-120"/>
              </a:rPr>
              <a:t>The model advises; code decides — and the source is never deleted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31520" y="1965960"/>
            <a:ext cx="10698480" cy="640080"/>
          </a:xfrm>
          <a:prstGeom prst="rect">
            <a:avLst/>
          </a:prstGeom>
          <a:noFill/>
          <a:ln/>
        </p:spPr>
        <p:txBody>
          <a:bodyPr wrap="square" rtlCol="0" anchor="ctr"/>
          <a:lstStyle/>
          <a:p>
            <a:pPr indent="0" marL="0">
              <a:buNone/>
            </a:pPr>
            <a:r>
              <a:rPr lang="en-US" sz="3000" b="1" dirty="0">
                <a:solidFill>
                  <a:srgbClr val="FFFFFF"/>
                </a:solidFill>
                <a:latin typeface="Inter" pitchFamily="34" charset="0"/>
                <a:ea typeface="Inter" pitchFamily="34" charset="-122"/>
                <a:cs typeface="Inter" pitchFamily="34" charset="-120"/>
              </a:rPr>
              <a:t>One platform. One conversational surface. Nine use cases.</a:t>
            </a:r>
            <a:endParaRPr lang="en-US" sz="3000" dirty="0"/>
          </a:p>
        </p:txBody>
      </p:sp>
      <p:sp>
        <p:nvSpPr>
          <p:cNvPr id="3" name="Text 1"/>
          <p:cNvSpPr/>
          <p:nvPr/>
        </p:nvSpPr>
        <p:spPr>
          <a:xfrm>
            <a:off x="731520" y="2788920"/>
            <a:ext cx="10698480" cy="822960"/>
          </a:xfrm>
          <a:prstGeom prst="rect">
            <a:avLst/>
          </a:prstGeom>
          <a:noFill/>
          <a:ln/>
        </p:spPr>
        <p:txBody>
          <a:bodyPr wrap="square" rtlCol="0" anchor="ctr"/>
          <a:lstStyle/>
          <a:p>
            <a:pPr indent="0" marL="0">
              <a:lnSpc>
                <a:spcPct val="130000"/>
              </a:lnSpc>
              <a:buNone/>
            </a:pPr>
            <a:r>
              <a:rPr lang="en-US" sz="1500" dirty="0">
                <a:solidFill>
                  <a:srgbClr val="94A3B8"/>
                </a:solidFill>
                <a:latin typeface="Inter" pitchFamily="34" charset="0"/>
                <a:ea typeface="Inter" pitchFamily="34" charset="-122"/>
                <a:cs typeface="Inter" pitchFamily="34" charset="-120"/>
              </a:rPr>
              <a:t>Every use case shares the same agents, the same governance, and the same rule: the AI reasons and explains — but anything claiming to be true of your cluster is measured, not generated.</a:t>
            </a:r>
            <a:endParaRPr lang="en-US" sz="1500" dirty="0"/>
          </a:p>
        </p:txBody>
      </p:sp>
      <p:sp>
        <p:nvSpPr>
          <p:cNvPr id="4" name="Text 2"/>
          <p:cNvSpPr/>
          <p:nvPr/>
        </p:nvSpPr>
        <p:spPr>
          <a:xfrm>
            <a:off x="731520" y="3794760"/>
            <a:ext cx="10698480" cy="365760"/>
          </a:xfrm>
          <a:prstGeom prst="rect">
            <a:avLst/>
          </a:prstGeom>
          <a:noFill/>
          <a:ln/>
        </p:spPr>
        <p:txBody>
          <a:bodyPr wrap="square" rtlCol="0" anchor="ctr"/>
          <a:lstStyle/>
          <a:p>
            <a:pPr indent="0" marL="0">
              <a:buNone/>
            </a:pPr>
            <a:r>
              <a:rPr lang="en-US" sz="1300" i="1" dirty="0">
                <a:solidFill>
                  <a:srgbClr val="0891B2"/>
                </a:solidFill>
                <a:latin typeface="Inter" pitchFamily="34" charset="0"/>
                <a:ea typeface="Inter" pitchFamily="34" charset="-122"/>
                <a:cs typeface="Inter" pitchFamily="34" charset="-120"/>
              </a:rPr>
              <a:t>Each use case has its own deck, workbook and specification in usecases/ — this file is the map.</a:t>
            </a:r>
            <a:endParaRPr lang="en-US" sz="1300" dirty="0"/>
          </a:p>
        </p:txBody>
      </p:sp>
      <p:sp>
        <p:nvSpPr>
          <p:cNvPr id="5" name="Text 3"/>
          <p:cNvSpPr/>
          <p:nvPr/>
        </p:nvSpPr>
        <p:spPr>
          <a:xfrm>
            <a:off x="731520" y="6035040"/>
            <a:ext cx="10607040" cy="274320"/>
          </a:xfrm>
          <a:prstGeom prst="rect">
            <a:avLst/>
          </a:prstGeom>
          <a:noFill/>
          <a:ln/>
        </p:spPr>
        <p:txBody>
          <a:bodyPr wrap="square" rtlCol="0" anchor="ctr"/>
          <a:lstStyle/>
          <a:p>
            <a:pPr indent="0" marL="0">
              <a:buNone/>
            </a:pPr>
            <a:r>
              <a:rPr lang="en-US" sz="1100" dirty="0">
                <a:solidFill>
                  <a:srgbClr val="64748B"/>
                </a:solidFill>
                <a:latin typeface="Inter" pitchFamily="34" charset="0"/>
                <a:ea typeface="Inter" pitchFamily="34" charset="-122"/>
                <a:cs typeface="Inter" pitchFamily="34" charset="-120"/>
              </a:rPr>
              <a:t>TCS Agentic AI for Hybrid Infrastructure  ·  Container &amp; Kubernetes Operations  ·  Tata Consultancy Services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Tata Consultancy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TCS Agentic AI — Use Case Summary</dc:title>
  <dc:subject>One slide per use case: name, description and master workflow</dc:subject>
  <dc:creator>TCS Agentic AI Platform</dc:creator>
  <cp:lastModifiedBy>TCS Agentic AI Platform</cp:lastModifiedBy>
  <cp:revision>1</cp:revision>
  <dcterms:created xsi:type="dcterms:W3CDTF">2026-09-10T13:15:23Z</dcterms:created>
  <dcterms:modified xsi:type="dcterms:W3CDTF">2026-09-10T13:15:23Z</dcterms:modified>
</cp:coreProperties>
</file>