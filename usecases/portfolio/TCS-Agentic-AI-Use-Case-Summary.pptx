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2880360"/>
            <a:ext cx="12188952" cy="41148"/>
          </a:xfrm>
          <a:prstGeom prst="rect">
            <a:avLst/>
          </a:prstGeom>
          <a:solidFill>
            <a:srgbClr val="2563EB"/>
          </a:solidFill>
          <a:ln/>
        </p:spPr>
      </p:sp>
      <p:sp>
        <p:nvSpPr>
          <p:cNvPr id="3" name="Text 1"/>
          <p:cNvSpPr/>
          <p:nvPr/>
        </p:nvSpPr>
        <p:spPr>
          <a:xfrm>
            <a:off x="731520" y="1417320"/>
            <a:ext cx="10607040" cy="292608"/>
          </a:xfrm>
          <a:prstGeom prst="rect">
            <a:avLst/>
          </a:prstGeom>
          <a:noFill/>
          <a:ln/>
        </p:spPr>
        <p:txBody>
          <a:bodyPr wrap="square" rtlCol="0" anchor="ctr"/>
          <a:lstStyle/>
          <a:p>
            <a:pPr indent="0" marL="0">
              <a:buNone/>
            </a:pPr>
            <a:r>
              <a:rPr lang="en-US" sz="1300" b="1" spc="300" kern="0" dirty="0">
                <a:solidFill>
                  <a:srgbClr val="0891B2"/>
                </a:solidFill>
                <a:latin typeface="Inter" pitchFamily="34" charset="0"/>
                <a:ea typeface="Inter" pitchFamily="34" charset="-122"/>
                <a:cs typeface="Inter" pitchFamily="34" charset="-120"/>
              </a:rPr>
              <a:t>TCS AGENTIC AI FOR HYBRID INFRASTRUCTURE</a:t>
            </a:r>
            <a:endParaRPr lang="en-US" sz="1300" dirty="0"/>
          </a:p>
        </p:txBody>
      </p:sp>
      <p:sp>
        <p:nvSpPr>
          <p:cNvPr id="4" name="Text 2"/>
          <p:cNvSpPr/>
          <p:nvPr/>
        </p:nvSpPr>
        <p:spPr>
          <a:xfrm>
            <a:off x="731520" y="1755648"/>
            <a:ext cx="10607040" cy="777240"/>
          </a:xfrm>
          <a:prstGeom prst="rect">
            <a:avLst/>
          </a:prstGeom>
          <a:noFill/>
          <a:ln/>
        </p:spPr>
        <p:txBody>
          <a:bodyPr wrap="square" rtlCol="0" anchor="ctr"/>
          <a:lstStyle/>
          <a:p>
            <a:pPr indent="0" marL="0">
              <a:buNone/>
            </a:pPr>
            <a:r>
              <a:rPr lang="en-US" sz="4000" b="1" dirty="0">
                <a:solidFill>
                  <a:srgbClr val="FFFFFF"/>
                </a:solidFill>
                <a:latin typeface="Inter" pitchFamily="34" charset="0"/>
                <a:ea typeface="Inter" pitchFamily="34" charset="-122"/>
                <a:cs typeface="Inter" pitchFamily="34" charset="-120"/>
              </a:rPr>
              <a:t>Use Case Summary</a:t>
            </a:r>
            <a:endParaRPr lang="en-US" sz="4000" dirty="0"/>
          </a:p>
        </p:txBody>
      </p:sp>
      <p:sp>
        <p:nvSpPr>
          <p:cNvPr id="5" name="Text 3"/>
          <p:cNvSpPr/>
          <p:nvPr/>
        </p:nvSpPr>
        <p:spPr>
          <a:xfrm>
            <a:off x="731520" y="3063240"/>
            <a:ext cx="10607040" cy="365760"/>
          </a:xfrm>
          <a:prstGeom prst="rect">
            <a:avLst/>
          </a:prstGeom>
          <a:noFill/>
          <a:ln/>
        </p:spPr>
        <p:txBody>
          <a:bodyPr wrap="square" rtlCol="0" anchor="ctr"/>
          <a:lstStyle/>
          <a:p>
            <a:pPr indent="0" marL="0">
              <a:buNone/>
            </a:pPr>
            <a:r>
              <a:rPr lang="en-US" sz="1500" dirty="0">
                <a:solidFill>
                  <a:srgbClr val="94A3B8"/>
                </a:solidFill>
                <a:latin typeface="Inter" pitchFamily="34" charset="0"/>
                <a:ea typeface="Inter" pitchFamily="34" charset="-122"/>
                <a:cs typeface="Inter" pitchFamily="34" charset="-120"/>
              </a:rPr>
              <a:t>Container &amp; Kubernetes Operations  ·  one slide per use case: name, description, and its master workflow</a:t>
            </a:r>
            <a:endParaRPr lang="en-US" sz="1500" dirty="0"/>
          </a:p>
        </p:txBody>
      </p:sp>
      <p:sp>
        <p:nvSpPr>
          <p:cNvPr id="6" name="Shape 4"/>
          <p:cNvSpPr/>
          <p:nvPr/>
        </p:nvSpPr>
        <p:spPr>
          <a:xfrm>
            <a:off x="731520" y="3886200"/>
            <a:ext cx="2514600" cy="1051560"/>
          </a:xfrm>
          <a:prstGeom prst="roundRect">
            <a:avLst>
              <a:gd name="adj" fmla="val 5217"/>
            </a:avLst>
          </a:prstGeom>
          <a:solidFill>
            <a:srgbClr val="1E293B"/>
          </a:solidFill>
          <a:ln w="12700">
            <a:solidFill>
              <a:srgbClr val="334155"/>
            </a:solidFill>
            <a:prstDash val="solid"/>
          </a:ln>
        </p:spPr>
      </p:sp>
      <p:sp>
        <p:nvSpPr>
          <p:cNvPr id="7" name="Text 5"/>
          <p:cNvSpPr/>
          <p:nvPr/>
        </p:nvSpPr>
        <p:spPr>
          <a:xfrm>
            <a:off x="7315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9</a:t>
            </a:r>
            <a:endParaRPr lang="en-US" sz="2600" dirty="0"/>
          </a:p>
        </p:txBody>
      </p:sp>
      <p:sp>
        <p:nvSpPr>
          <p:cNvPr id="8" name="Text 6"/>
          <p:cNvSpPr/>
          <p:nvPr/>
        </p:nvSpPr>
        <p:spPr>
          <a:xfrm>
            <a:off x="7315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Use cases</a:t>
            </a:r>
            <a:endParaRPr lang="en-US" sz="950" dirty="0"/>
          </a:p>
        </p:txBody>
      </p:sp>
      <p:sp>
        <p:nvSpPr>
          <p:cNvPr id="9" name="Shape 7"/>
          <p:cNvSpPr/>
          <p:nvPr/>
        </p:nvSpPr>
        <p:spPr>
          <a:xfrm>
            <a:off x="3474720" y="3886200"/>
            <a:ext cx="2514600" cy="1051560"/>
          </a:xfrm>
          <a:prstGeom prst="roundRect">
            <a:avLst>
              <a:gd name="adj" fmla="val 5217"/>
            </a:avLst>
          </a:prstGeom>
          <a:solidFill>
            <a:srgbClr val="1E293B"/>
          </a:solidFill>
          <a:ln w="12700">
            <a:solidFill>
              <a:srgbClr val="334155"/>
            </a:solidFill>
            <a:prstDash val="solid"/>
          </a:ln>
        </p:spPr>
      </p:sp>
      <p:sp>
        <p:nvSpPr>
          <p:cNvPr id="10" name="Text 8"/>
          <p:cNvSpPr/>
          <p:nvPr/>
        </p:nvSpPr>
        <p:spPr>
          <a:xfrm>
            <a:off x="34747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15</a:t>
            </a:r>
            <a:endParaRPr lang="en-US" sz="2600" dirty="0"/>
          </a:p>
        </p:txBody>
      </p:sp>
      <p:sp>
        <p:nvSpPr>
          <p:cNvPr id="11" name="Text 9"/>
          <p:cNvSpPr/>
          <p:nvPr/>
        </p:nvSpPr>
        <p:spPr>
          <a:xfrm>
            <a:off x="34747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MCP agents</a:t>
            </a:r>
            <a:endParaRPr lang="en-US" sz="950" dirty="0"/>
          </a:p>
        </p:txBody>
      </p:sp>
      <p:sp>
        <p:nvSpPr>
          <p:cNvPr id="12" name="Shape 10"/>
          <p:cNvSpPr/>
          <p:nvPr/>
        </p:nvSpPr>
        <p:spPr>
          <a:xfrm>
            <a:off x="6217920" y="3886200"/>
            <a:ext cx="2514600" cy="1051560"/>
          </a:xfrm>
          <a:prstGeom prst="roundRect">
            <a:avLst>
              <a:gd name="adj" fmla="val 5217"/>
            </a:avLst>
          </a:prstGeom>
          <a:solidFill>
            <a:srgbClr val="1E293B"/>
          </a:solidFill>
          <a:ln w="12700">
            <a:solidFill>
              <a:srgbClr val="334155"/>
            </a:solidFill>
            <a:prstDash val="solid"/>
          </a:ln>
        </p:spPr>
      </p:sp>
      <p:sp>
        <p:nvSpPr>
          <p:cNvPr id="13" name="Text 11"/>
          <p:cNvSpPr/>
          <p:nvPr/>
        </p:nvSpPr>
        <p:spPr>
          <a:xfrm>
            <a:off x="62179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177</a:t>
            </a:r>
            <a:endParaRPr lang="en-US" sz="2600" dirty="0"/>
          </a:p>
        </p:txBody>
      </p:sp>
      <p:sp>
        <p:nvSpPr>
          <p:cNvPr id="14" name="Text 12"/>
          <p:cNvSpPr/>
          <p:nvPr/>
        </p:nvSpPr>
        <p:spPr>
          <a:xfrm>
            <a:off x="62179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Tools</a:t>
            </a:r>
            <a:endParaRPr lang="en-US" sz="950" dirty="0"/>
          </a:p>
        </p:txBody>
      </p:sp>
      <p:sp>
        <p:nvSpPr>
          <p:cNvPr id="15" name="Shape 13"/>
          <p:cNvSpPr/>
          <p:nvPr/>
        </p:nvSpPr>
        <p:spPr>
          <a:xfrm>
            <a:off x="8961120" y="3886200"/>
            <a:ext cx="2514600" cy="1051560"/>
          </a:xfrm>
          <a:prstGeom prst="roundRect">
            <a:avLst>
              <a:gd name="adj" fmla="val 5217"/>
            </a:avLst>
          </a:prstGeom>
          <a:solidFill>
            <a:srgbClr val="1E293B"/>
          </a:solidFill>
          <a:ln w="12700">
            <a:solidFill>
              <a:srgbClr val="334155"/>
            </a:solidFill>
            <a:prstDash val="solid"/>
          </a:ln>
        </p:spPr>
      </p:sp>
      <p:sp>
        <p:nvSpPr>
          <p:cNvPr id="16" name="Text 14"/>
          <p:cNvSpPr/>
          <p:nvPr/>
        </p:nvSpPr>
        <p:spPr>
          <a:xfrm>
            <a:off x="89611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4</a:t>
            </a:r>
            <a:endParaRPr lang="en-US" sz="2600" dirty="0"/>
          </a:p>
        </p:txBody>
      </p:sp>
      <p:sp>
        <p:nvSpPr>
          <p:cNvPr id="17" name="Text 15"/>
          <p:cNvSpPr/>
          <p:nvPr/>
        </p:nvSpPr>
        <p:spPr>
          <a:xfrm>
            <a:off x="89611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Actor types</a:t>
            </a:r>
            <a:endParaRPr lang="en-US" sz="950" dirty="0"/>
          </a:p>
        </p:txBody>
      </p:sp>
      <p:sp>
        <p:nvSpPr>
          <p:cNvPr id="18" name="Text 16"/>
          <p:cNvSpPr/>
          <p:nvPr/>
        </p:nvSpPr>
        <p:spPr>
          <a:xfrm>
            <a:off x="731520" y="5257800"/>
            <a:ext cx="10607040" cy="320040"/>
          </a:xfrm>
          <a:prstGeom prst="rect">
            <a:avLst/>
          </a:prstGeom>
          <a:noFill/>
          <a:ln/>
        </p:spPr>
        <p:txBody>
          <a:bodyPr wrap="square" rtlCol="0" anchor="ctr"/>
          <a:lstStyle/>
          <a:p>
            <a:pPr indent="0" marL="0">
              <a:buNone/>
            </a:pPr>
            <a:r>
              <a:rPr lang="en-US" sz="1150" dirty="0">
                <a:solidFill>
                  <a:srgbClr val="CBD5E1"/>
                </a:solidFill>
                <a:latin typeface="Inter" pitchFamily="34" charset="0"/>
                <a:ea typeface="Inter" pitchFamily="34" charset="-122"/>
                <a:cs typeface="Inter" pitchFamily="34" charset="-120"/>
              </a:rPr>
              <a:t>Each workflow below is the same Master Workflow that appears in that use case's own deck.</a:t>
            </a:r>
            <a:endParaRPr lang="en-US" sz="1150" dirty="0"/>
          </a:p>
        </p:txBody>
      </p:sp>
      <p:sp>
        <p:nvSpPr>
          <p:cNvPr id="19" name="Text 17"/>
          <p:cNvSpPr/>
          <p:nvPr/>
        </p:nvSpPr>
        <p:spPr>
          <a:xfrm>
            <a:off x="731520" y="5596128"/>
            <a:ext cx="10607040" cy="274320"/>
          </a:xfrm>
          <a:prstGeom prst="rect">
            <a:avLst/>
          </a:prstGeom>
          <a:noFill/>
          <a:ln/>
        </p:spPr>
        <p:txBody>
          <a:bodyPr wrap="square" rtlCol="0" anchor="ctr"/>
          <a:lstStyle/>
          <a:p>
            <a:pPr indent="0" marL="0">
              <a:buNone/>
            </a:pPr>
            <a:r>
              <a:rPr lang="en-US" sz="1100" i="1" dirty="0">
                <a:solidFill>
                  <a:srgbClr val="64748B"/>
                </a:solidFill>
                <a:latin typeface="Inter" pitchFamily="34" charset="0"/>
                <a:ea typeface="Inter" pitchFamily="34" charset="-122"/>
                <a:cs typeface="Inter" pitchFamily="34" charset="-120"/>
              </a:rPr>
              <a:t>Colour code:  purple reasons  ·  blue repeats exactly  ·  amber decides  ·  green is proven against the cluster</a:t>
            </a:r>
            <a:endParaRPr lang="en-US" sz="1100" dirty="0"/>
          </a:p>
        </p:txBody>
      </p:sp>
      <p:sp>
        <p:nvSpPr>
          <p:cNvPr id="20" name="Text 18"/>
          <p:cNvSpPr/>
          <p:nvPr/>
        </p:nvSpPr>
        <p:spPr>
          <a:xfrm>
            <a:off x="731520" y="6144768"/>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Tata Consultancy Services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UC-01</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AI-Powered Pod Troubleshooting</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Ask in plain language; get a diagnosis backed by live cluster evidence</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An engineer asks “why is my pod crashing?” in natural language. The agent gathers real evidence from the cluster — pod status, container logs, events, resource limits and exit codes — and returns a root cause with the supporting data attached, instead of a list of commands to run. This is the conversational surface every other use case is reached through.</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ASK</a:t>
            </a:r>
            <a:endParaRPr lang="en-US" sz="900" dirty="0"/>
          </a:p>
        </p:txBody>
      </p:sp>
      <p:sp>
        <p:nvSpPr>
          <p:cNvPr id="9" name="Shape 7"/>
          <p:cNvSpPr/>
          <p:nvPr/>
        </p:nvSpPr>
        <p:spPr>
          <a:xfrm>
            <a:off x="411480" y="2569464"/>
            <a:ext cx="3611880" cy="749808"/>
          </a:xfrm>
          <a:prstGeom prst="roundRect">
            <a:avLst>
              <a:gd name="adj" fmla="val 8537"/>
            </a:avLst>
          </a:prstGeom>
          <a:solidFill>
            <a:srgbClr val="FEF3C7"/>
          </a:solidFill>
          <a:ln w="19050">
            <a:solidFill>
              <a:srgbClr val="D97706"/>
            </a:solidFill>
            <a:prstDash val="solid"/>
          </a:ln>
        </p:spPr>
      </p:sp>
      <p:sp>
        <p:nvSpPr>
          <p:cNvPr id="10" name="Text 8"/>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Question in chat</a:t>
            </a:r>
            <a:endParaRPr lang="en-US" sz="1050" dirty="0"/>
          </a:p>
        </p:txBody>
      </p:sp>
      <p:sp>
        <p:nvSpPr>
          <p:cNvPr id="11" name="Text 9"/>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plain language</a:t>
            </a:r>
            <a:endParaRPr lang="en-US" sz="850" dirty="0"/>
          </a:p>
        </p:txBody>
      </p:sp>
      <p:sp>
        <p:nvSpPr>
          <p:cNvPr id="12" name="Text 10"/>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4297680" y="2569464"/>
            <a:ext cx="3611880" cy="749808"/>
          </a:xfrm>
          <a:prstGeom prst="roundRect">
            <a:avLst>
              <a:gd name="adj" fmla="val 8537"/>
            </a:avLst>
          </a:prstGeom>
          <a:solidFill>
            <a:srgbClr val="EDE9FE"/>
          </a:solidFill>
          <a:ln w="19050">
            <a:solidFill>
              <a:srgbClr val="7C3AED"/>
            </a:solidFill>
            <a:prstDash val="solid"/>
          </a:ln>
        </p:spPr>
      </p:sp>
      <p:sp>
        <p:nvSpPr>
          <p:cNvPr id="14" name="Text 12"/>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Intent understood</a:t>
            </a:r>
            <a:endParaRPr lang="en-US" sz="1050" dirty="0"/>
          </a:p>
        </p:txBody>
      </p:sp>
      <p:sp>
        <p:nvSpPr>
          <p:cNvPr id="15" name="Text 13"/>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which workload, which namespace</a:t>
            </a:r>
            <a:endParaRPr lang="en-US" sz="850" dirty="0"/>
          </a:p>
        </p:txBody>
      </p:sp>
      <p:sp>
        <p:nvSpPr>
          <p:cNvPr id="16" name="Text 14"/>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8183880" y="2569464"/>
            <a:ext cx="3611880" cy="749808"/>
          </a:xfrm>
          <a:prstGeom prst="roundRect">
            <a:avLst>
              <a:gd name="adj" fmla="val 8537"/>
            </a:avLst>
          </a:prstGeom>
          <a:solidFill>
            <a:srgbClr val="DBEAFE"/>
          </a:solidFill>
          <a:ln w="19050">
            <a:solidFill>
              <a:srgbClr val="2563EB"/>
            </a:solidFill>
            <a:prstDash val="solid"/>
          </a:ln>
        </p:spPr>
      </p:sp>
      <p:sp>
        <p:nvSpPr>
          <p:cNvPr id="18" name="Text 16"/>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Cluster queried</a:t>
            </a:r>
            <a:endParaRPr lang="en-US" sz="1050" dirty="0"/>
          </a:p>
        </p:txBody>
      </p:sp>
      <p:sp>
        <p:nvSpPr>
          <p:cNvPr id="19" name="Text 17"/>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parallel API calls</a:t>
            </a:r>
            <a:endParaRPr lang="en-US" sz="850" dirty="0"/>
          </a:p>
        </p:txBody>
      </p:sp>
      <p:sp>
        <p:nvSpPr>
          <p:cNvPr id="20" name="Text 18"/>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DIAGNOSE</a:t>
            </a:r>
            <a:endParaRPr lang="en-US" sz="900" dirty="0"/>
          </a:p>
        </p:txBody>
      </p:sp>
      <p:sp>
        <p:nvSpPr>
          <p:cNvPr id="21" name="Shape 19"/>
          <p:cNvSpPr/>
          <p:nvPr/>
        </p:nvSpPr>
        <p:spPr>
          <a:xfrm>
            <a:off x="411480" y="3611880"/>
            <a:ext cx="3611880" cy="749808"/>
          </a:xfrm>
          <a:prstGeom prst="roundRect">
            <a:avLst>
              <a:gd name="adj" fmla="val 8537"/>
            </a:avLst>
          </a:prstGeom>
          <a:solidFill>
            <a:srgbClr val="DBEAFE"/>
          </a:solidFill>
          <a:ln w="19050">
            <a:solidFill>
              <a:srgbClr val="2563EB"/>
            </a:solidFill>
            <a:prstDash val="solid"/>
          </a:ln>
        </p:spPr>
      </p:sp>
      <p:sp>
        <p:nvSpPr>
          <p:cNvPr id="22" name="Text 20"/>
          <p:cNvSpPr/>
          <p:nvPr/>
        </p:nvSpPr>
        <p:spPr>
          <a:xfrm>
            <a:off x="4663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Evidence gathered</a:t>
            </a:r>
            <a:endParaRPr lang="en-US" sz="1050" dirty="0"/>
          </a:p>
        </p:txBody>
      </p:sp>
      <p:sp>
        <p:nvSpPr>
          <p:cNvPr id="23" name="Text 21"/>
          <p:cNvSpPr/>
          <p:nvPr/>
        </p:nvSpPr>
        <p:spPr>
          <a:xfrm>
            <a:off x="4663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logs · events · limits · exit codes</a:t>
            </a:r>
            <a:endParaRPr lang="en-US" sz="850" dirty="0"/>
          </a:p>
        </p:txBody>
      </p:sp>
      <p:sp>
        <p:nvSpPr>
          <p:cNvPr id="24" name="Text 22"/>
          <p:cNvSpPr/>
          <p:nvPr/>
        </p:nvSpPr>
        <p:spPr>
          <a:xfrm>
            <a:off x="40233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5" name="Shape 23"/>
          <p:cNvSpPr/>
          <p:nvPr/>
        </p:nvSpPr>
        <p:spPr>
          <a:xfrm>
            <a:off x="4297680" y="3611880"/>
            <a:ext cx="3611880" cy="749808"/>
          </a:xfrm>
          <a:prstGeom prst="roundRect">
            <a:avLst>
              <a:gd name="adj" fmla="val 8537"/>
            </a:avLst>
          </a:prstGeom>
          <a:solidFill>
            <a:srgbClr val="EDE9FE"/>
          </a:solidFill>
          <a:ln w="19050">
            <a:solidFill>
              <a:srgbClr val="7C3AED"/>
            </a:solidFill>
            <a:prstDash val="solid"/>
          </a:ln>
        </p:spPr>
      </p:sp>
      <p:sp>
        <p:nvSpPr>
          <p:cNvPr id="26" name="Text 24"/>
          <p:cNvSpPr/>
          <p:nvPr/>
        </p:nvSpPr>
        <p:spPr>
          <a:xfrm>
            <a:off x="43525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Root cause</a:t>
            </a:r>
            <a:endParaRPr lang="en-US" sz="1050" dirty="0"/>
          </a:p>
        </p:txBody>
      </p:sp>
      <p:sp>
        <p:nvSpPr>
          <p:cNvPr id="27" name="Text 25"/>
          <p:cNvSpPr/>
          <p:nvPr/>
        </p:nvSpPr>
        <p:spPr>
          <a:xfrm>
            <a:off x="43525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explained with the evidence shown</a:t>
            </a:r>
            <a:endParaRPr lang="en-US" sz="850" dirty="0"/>
          </a:p>
        </p:txBody>
      </p:sp>
      <p:sp>
        <p:nvSpPr>
          <p:cNvPr id="28" name="Text 26"/>
          <p:cNvSpPr/>
          <p:nvPr/>
        </p:nvSpPr>
        <p:spPr>
          <a:xfrm>
            <a:off x="79095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8183880" y="3611880"/>
            <a:ext cx="361188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82387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Severity assessed</a:t>
            </a:r>
            <a:endParaRPr lang="en-US" sz="1050" dirty="0"/>
          </a:p>
        </p:txBody>
      </p:sp>
      <p:sp>
        <p:nvSpPr>
          <p:cNvPr id="31" name="Text 29"/>
          <p:cNvSpPr/>
          <p:nvPr/>
        </p:nvSpPr>
        <p:spPr>
          <a:xfrm>
            <a:off x="82387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and blast radius</a:t>
            </a:r>
            <a:endParaRPr lang="en-US" sz="850" dirty="0"/>
          </a:p>
        </p:txBody>
      </p:sp>
      <p:sp>
        <p:nvSpPr>
          <p:cNvPr id="32" name="Text 30"/>
          <p:cNvSpPr/>
          <p:nvPr/>
        </p:nvSpPr>
        <p:spPr>
          <a:xfrm>
            <a:off x="411480" y="4480560"/>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ACT</a:t>
            </a:r>
            <a:endParaRPr lang="en-US" sz="900" dirty="0"/>
          </a:p>
        </p:txBody>
      </p:sp>
      <p:sp>
        <p:nvSpPr>
          <p:cNvPr id="33" name="Shape 31"/>
          <p:cNvSpPr/>
          <p:nvPr/>
        </p:nvSpPr>
        <p:spPr>
          <a:xfrm>
            <a:off x="411480" y="4654296"/>
            <a:ext cx="3697224" cy="420624"/>
          </a:xfrm>
          <a:prstGeom prst="roundRect">
            <a:avLst>
              <a:gd name="adj" fmla="val 10870"/>
            </a:avLst>
          </a:prstGeom>
          <a:solidFill>
            <a:srgbClr val="FEF3C7"/>
          </a:solidFill>
          <a:ln w="12700">
            <a:solidFill>
              <a:srgbClr val="D97706"/>
            </a:solidFill>
            <a:prstDash val="solid"/>
          </a:ln>
        </p:spPr>
      </p:sp>
      <p:sp>
        <p:nvSpPr>
          <p:cNvPr id="34" name="Text 32"/>
          <p:cNvSpPr/>
          <p:nvPr/>
        </p:nvSpPr>
        <p:spPr>
          <a:xfrm>
            <a:off x="466344"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Apply a proposed fix</a:t>
            </a:r>
            <a:endParaRPr lang="en-US" sz="950" dirty="0"/>
          </a:p>
        </p:txBody>
      </p:sp>
      <p:sp>
        <p:nvSpPr>
          <p:cNvPr id="35" name="Shape 33"/>
          <p:cNvSpPr/>
          <p:nvPr/>
        </p:nvSpPr>
        <p:spPr>
          <a:xfrm>
            <a:off x="4255008" y="4654296"/>
            <a:ext cx="3697224" cy="420624"/>
          </a:xfrm>
          <a:prstGeom prst="roundRect">
            <a:avLst>
              <a:gd name="adj" fmla="val 10870"/>
            </a:avLst>
          </a:prstGeom>
          <a:solidFill>
            <a:srgbClr val="FEF3C7"/>
          </a:solidFill>
          <a:ln w="12700">
            <a:solidFill>
              <a:srgbClr val="D97706"/>
            </a:solidFill>
            <a:prstDash val="solid"/>
          </a:ln>
        </p:spPr>
      </p:sp>
      <p:sp>
        <p:nvSpPr>
          <p:cNvPr id="36" name="Text 34"/>
          <p:cNvSpPr/>
          <p:nvPr/>
        </p:nvSpPr>
        <p:spPr>
          <a:xfrm>
            <a:off x="4309872"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Escalate with the evidence attached</a:t>
            </a:r>
            <a:endParaRPr lang="en-US" sz="950" dirty="0"/>
          </a:p>
        </p:txBody>
      </p:sp>
      <p:sp>
        <p:nvSpPr>
          <p:cNvPr id="37" name="Shape 35"/>
          <p:cNvSpPr/>
          <p:nvPr/>
        </p:nvSpPr>
        <p:spPr>
          <a:xfrm>
            <a:off x="8098536" y="4654296"/>
            <a:ext cx="3697224" cy="420624"/>
          </a:xfrm>
          <a:prstGeom prst="roundRect">
            <a:avLst>
              <a:gd name="adj" fmla="val 10870"/>
            </a:avLst>
          </a:prstGeom>
          <a:solidFill>
            <a:srgbClr val="DBEAFE"/>
          </a:solidFill>
          <a:ln w="12700">
            <a:solidFill>
              <a:srgbClr val="2563EB"/>
            </a:solidFill>
            <a:prstDash val="solid"/>
          </a:ln>
        </p:spPr>
      </p:sp>
      <p:sp>
        <p:nvSpPr>
          <p:cNvPr id="38" name="Text 36"/>
          <p:cNvSpPr/>
          <p:nvPr/>
        </p:nvSpPr>
        <p:spPr>
          <a:xfrm>
            <a:off x="8153400" y="4654296"/>
            <a:ext cx="3587496" cy="420624"/>
          </a:xfrm>
          <a:prstGeom prst="rect">
            <a:avLst/>
          </a:prstGeom>
          <a:noFill/>
          <a:ln/>
        </p:spPr>
        <p:txBody>
          <a:bodyPr wrap="square" rtlCol="0" anchor="ctr"/>
          <a:lstStyle/>
          <a:p>
            <a:pPr algn="ctr" indent="0" marL="0">
              <a:buNone/>
            </a:pPr>
            <a:r>
              <a:rPr lang="en-US" sz="950" b="1" dirty="0">
                <a:solidFill>
                  <a:srgbClr val="1E40AF"/>
                </a:solidFill>
                <a:latin typeface="Inter" pitchFamily="34" charset="0"/>
                <a:ea typeface="Inter" pitchFamily="34" charset="-122"/>
                <a:cs typeface="Inter" pitchFamily="34" charset="-120"/>
              </a:rPr>
              <a:t>⚙️ Keep investigating — ask a follow-up</a:t>
            </a:r>
            <a:endParaRPr lang="en-US" sz="950" dirty="0"/>
          </a:p>
        </p:txBody>
      </p:sp>
      <p:sp>
        <p:nvSpPr>
          <p:cNvPr id="39" name="Shape 37"/>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0" name="Text 38"/>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1" name="Shape 39"/>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2" name="Text 40"/>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3" name="Shape 41"/>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4" name="Text 42"/>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5" name="Shape 43"/>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6" name="Text 44"/>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7" name="Text 45"/>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Conversational entry point to the whole platform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UC-02</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End-to-End Cluster Upgrade Automation</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Pre-assessment through post-verification, with ITSM in the loop</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OpenShift cluster upgrades orchestrated end to end: a pre-assessment against the live cluster, the change record raised automatically, execution with real-time observability, and verification afterwards — instead of a human tracking a long-running operation across consoles and spreadsheets.</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ASSESS</a:t>
            </a:r>
            <a:endParaRPr lang="en-US" sz="900" dirty="0"/>
          </a:p>
        </p:txBody>
      </p:sp>
      <p:sp>
        <p:nvSpPr>
          <p:cNvPr id="9" name="Shape 7"/>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0" name="Text 8"/>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Pre-assessment</a:t>
            </a:r>
            <a:endParaRPr lang="en-US" sz="1050" dirty="0"/>
          </a:p>
        </p:txBody>
      </p:sp>
      <p:sp>
        <p:nvSpPr>
          <p:cNvPr id="11" name="Text 9"/>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operators · PDBs · capacity</a:t>
            </a:r>
            <a:endParaRPr lang="en-US" sz="850" dirty="0"/>
          </a:p>
        </p:txBody>
      </p:sp>
      <p:sp>
        <p:nvSpPr>
          <p:cNvPr id="12" name="Text 10"/>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4" name="Text 12"/>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Deprecated APIs</a:t>
            </a:r>
            <a:endParaRPr lang="en-US" sz="1050" dirty="0"/>
          </a:p>
        </p:txBody>
      </p:sp>
      <p:sp>
        <p:nvSpPr>
          <p:cNvPr id="15" name="Text 13"/>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breaks at the target version</a:t>
            </a:r>
            <a:endParaRPr lang="en-US" sz="850" dirty="0"/>
          </a:p>
        </p:txBody>
      </p:sp>
      <p:sp>
        <p:nvSpPr>
          <p:cNvPr id="16" name="Text 14"/>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6240780" y="2569464"/>
            <a:ext cx="2640330" cy="749808"/>
          </a:xfrm>
          <a:prstGeom prst="roundRect">
            <a:avLst>
              <a:gd name="adj" fmla="val 8537"/>
            </a:avLst>
          </a:prstGeom>
          <a:solidFill>
            <a:srgbClr val="EDE9FE"/>
          </a:solidFill>
          <a:ln w="19050">
            <a:solidFill>
              <a:srgbClr val="7C3AED"/>
            </a:solidFill>
            <a:prstDash val="solid"/>
          </a:ln>
        </p:spPr>
      </p:sp>
      <p:sp>
        <p:nvSpPr>
          <p:cNvPr id="18" name="Text 16"/>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report</a:t>
            </a:r>
            <a:endParaRPr lang="en-US" sz="1050" dirty="0"/>
          </a:p>
        </p:txBody>
      </p:sp>
      <p:sp>
        <p:nvSpPr>
          <p:cNvPr id="19" name="Text 17"/>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will block, and why</a:t>
            </a:r>
            <a:endParaRPr lang="en-US" sz="850" dirty="0"/>
          </a:p>
        </p:txBody>
      </p:sp>
      <p:sp>
        <p:nvSpPr>
          <p:cNvPr id="20" name="Text 18"/>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1" name="Shape 19"/>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2" name="Text 20"/>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record</a:t>
            </a:r>
            <a:endParaRPr lang="en-US" sz="1050" dirty="0"/>
          </a:p>
        </p:txBody>
      </p:sp>
      <p:sp>
        <p:nvSpPr>
          <p:cNvPr id="23" name="Text 21"/>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plans attached</a:t>
            </a:r>
            <a:endParaRPr lang="en-US" sz="850" dirty="0"/>
          </a:p>
        </p:txBody>
      </p:sp>
      <p:sp>
        <p:nvSpPr>
          <p:cNvPr id="24" name="Shape 22"/>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5" name="Text 23"/>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THE UPGRADE WINDOW — THE HUMAN GATE  👤</a:t>
            </a:r>
            <a:endParaRPr lang="en-US" sz="1200" dirty="0"/>
          </a:p>
        </p:txBody>
      </p:sp>
      <p:sp>
        <p:nvSpPr>
          <p:cNvPr id="26" name="Text 24"/>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EXECUTE &amp; VERIFY</a:t>
            </a:r>
            <a:endParaRPr lang="en-US" sz="900" dirty="0"/>
          </a:p>
        </p:txBody>
      </p:sp>
      <p:sp>
        <p:nvSpPr>
          <p:cNvPr id="27" name="Shape 25"/>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Upgrade executed</a:t>
            </a:r>
            <a:endParaRPr lang="en-US" sz="1050" dirty="0"/>
          </a:p>
        </p:txBody>
      </p:sp>
      <p:sp>
        <p:nvSpPr>
          <p:cNvPr id="29" name="Text 27"/>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progress per node</a:t>
            </a:r>
            <a:endParaRPr lang="en-US" sz="850" dirty="0"/>
          </a:p>
        </p:txBody>
      </p:sp>
      <p:sp>
        <p:nvSpPr>
          <p:cNvPr id="30" name="Text 28"/>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Continuously narrated</a:t>
            </a:r>
            <a:endParaRPr lang="en-US" sz="1050" dirty="0"/>
          </a:p>
        </p:txBody>
      </p:sp>
      <p:sp>
        <p:nvSpPr>
          <p:cNvPr id="33" name="Text 31"/>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 black box</a:t>
            </a:r>
            <a:endParaRPr lang="en-US" sz="850" dirty="0"/>
          </a:p>
        </p:txBody>
      </p:sp>
      <p:sp>
        <p:nvSpPr>
          <p:cNvPr id="34" name="Text 32"/>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6240780" y="4279392"/>
            <a:ext cx="2640330" cy="749808"/>
          </a:xfrm>
          <a:prstGeom prst="roundRect">
            <a:avLst>
              <a:gd name="adj" fmla="val 8537"/>
            </a:avLst>
          </a:prstGeom>
          <a:solidFill>
            <a:srgbClr val="D1FAE5"/>
          </a:solidFill>
          <a:ln w="19050">
            <a:solidFill>
              <a:srgbClr val="059669"/>
            </a:solidFill>
            <a:prstDash val="solid"/>
          </a:ln>
        </p:spPr>
      </p:sp>
      <p:sp>
        <p:nvSpPr>
          <p:cNvPr id="36" name="Text 34"/>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Post-verification</a:t>
            </a:r>
            <a:endParaRPr lang="en-US" sz="1050" dirty="0"/>
          </a:p>
        </p:txBody>
      </p:sp>
      <p:sp>
        <p:nvSpPr>
          <p:cNvPr id="37" name="Text 35"/>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cluster + workload health</a:t>
            </a:r>
            <a:endParaRPr lang="en-US" sz="850" dirty="0"/>
          </a:p>
        </p:txBody>
      </p:sp>
      <p:sp>
        <p:nvSpPr>
          <p:cNvPr id="38" name="Text 36"/>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0" name="Text 38"/>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closed</a:t>
            </a:r>
            <a:endParaRPr lang="en-US" sz="1050" dirty="0"/>
          </a:p>
        </p:txBody>
      </p:sp>
      <p:sp>
        <p:nvSpPr>
          <p:cNvPr id="41" name="Text 39"/>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recorded</a:t>
            </a:r>
            <a:endParaRPr lang="en-US" sz="850" dirty="0"/>
          </a:p>
        </p:txBody>
      </p:sp>
      <p:sp>
        <p:nvSpPr>
          <p:cNvPr id="42" name="Shape 4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3" name="Text 4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4" name="Shape 4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5" name="Text 4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6" name="Shape 4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7" name="Text 4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8" name="Shape 4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9" name="Text 4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0" name="Text 4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A long-running operation, continuously narrated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UC-03</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Predictive Intelligence &amp; Anomaly Detection</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Forecast the failure before it becomes an incident</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Trend analysis over rolling metric windows forecasts infrastructure failures before they occur — capacity exhaustion, memory growth, certificate expiry, node pressure. The agent surfaces what is about to break and how long there is to act, converting reactive firefighting into scheduled maintenance.</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OBSERVE</a:t>
            </a:r>
            <a:endParaRPr lang="en-US" sz="900" dirty="0"/>
          </a:p>
        </p:txBody>
      </p:sp>
      <p:sp>
        <p:nvSpPr>
          <p:cNvPr id="9" name="Shape 7"/>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0" name="Text 8"/>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scan</a:t>
            </a:r>
            <a:endParaRPr lang="en-US" sz="1050" dirty="0"/>
          </a:p>
        </p:txBody>
      </p:sp>
      <p:sp>
        <p:nvSpPr>
          <p:cNvPr id="11" name="Text 9"/>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rolling windows, whole fleet</a:t>
            </a:r>
            <a:endParaRPr lang="en-US" sz="850" dirty="0"/>
          </a:p>
        </p:txBody>
      </p:sp>
      <p:sp>
        <p:nvSpPr>
          <p:cNvPr id="12" name="Text 10"/>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4" name="Text 12"/>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Trend analysis</a:t>
            </a:r>
            <a:endParaRPr lang="en-US" sz="1050" dirty="0"/>
          </a:p>
        </p:txBody>
      </p:sp>
      <p:sp>
        <p:nvSpPr>
          <p:cNvPr id="15" name="Text 13"/>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growth rates · thresholds</a:t>
            </a:r>
            <a:endParaRPr lang="en-US" sz="850" dirty="0"/>
          </a:p>
        </p:txBody>
      </p:sp>
      <p:sp>
        <p:nvSpPr>
          <p:cNvPr id="16" name="Text 14"/>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8183880" y="2569464"/>
            <a:ext cx="3611880" cy="749808"/>
          </a:xfrm>
          <a:prstGeom prst="roundRect">
            <a:avLst>
              <a:gd name="adj" fmla="val 8537"/>
            </a:avLst>
          </a:prstGeom>
          <a:solidFill>
            <a:srgbClr val="DBEAFE"/>
          </a:solidFill>
          <a:ln w="19050">
            <a:solidFill>
              <a:srgbClr val="2563EB"/>
            </a:solidFill>
            <a:prstDash val="solid"/>
          </a:ln>
        </p:spPr>
      </p:sp>
      <p:sp>
        <p:nvSpPr>
          <p:cNvPr id="18" name="Text 16"/>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Anomaly detection</a:t>
            </a:r>
            <a:endParaRPr lang="en-US" sz="1050" dirty="0"/>
          </a:p>
        </p:txBody>
      </p:sp>
      <p:sp>
        <p:nvSpPr>
          <p:cNvPr id="19" name="Text 17"/>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deviation from the norm</a:t>
            </a:r>
            <a:endParaRPr lang="en-US" sz="850" dirty="0"/>
          </a:p>
        </p:txBody>
      </p:sp>
      <p:sp>
        <p:nvSpPr>
          <p:cNvPr id="20" name="Text 18"/>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PREDICT</a:t>
            </a:r>
            <a:endParaRPr lang="en-US" sz="900" dirty="0"/>
          </a:p>
        </p:txBody>
      </p:sp>
      <p:sp>
        <p:nvSpPr>
          <p:cNvPr id="21" name="Shape 19"/>
          <p:cNvSpPr/>
          <p:nvPr/>
        </p:nvSpPr>
        <p:spPr>
          <a:xfrm>
            <a:off x="411480" y="3611880"/>
            <a:ext cx="3611880" cy="749808"/>
          </a:xfrm>
          <a:prstGeom prst="roundRect">
            <a:avLst>
              <a:gd name="adj" fmla="val 8537"/>
            </a:avLst>
          </a:prstGeom>
          <a:solidFill>
            <a:srgbClr val="EDE9FE"/>
          </a:solidFill>
          <a:ln w="19050">
            <a:solidFill>
              <a:srgbClr val="7C3AED"/>
            </a:solidFill>
            <a:prstDash val="solid"/>
          </a:ln>
        </p:spPr>
      </p:sp>
      <p:sp>
        <p:nvSpPr>
          <p:cNvPr id="22" name="Text 20"/>
          <p:cNvSpPr/>
          <p:nvPr/>
        </p:nvSpPr>
        <p:spPr>
          <a:xfrm>
            <a:off x="4663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Prediction formed</a:t>
            </a:r>
            <a:endParaRPr lang="en-US" sz="1050" dirty="0"/>
          </a:p>
        </p:txBody>
      </p:sp>
      <p:sp>
        <p:nvSpPr>
          <p:cNvPr id="23" name="Text 21"/>
          <p:cNvSpPr/>
          <p:nvPr/>
        </p:nvSpPr>
        <p:spPr>
          <a:xfrm>
            <a:off x="4663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fails, and when</a:t>
            </a:r>
            <a:endParaRPr lang="en-US" sz="850" dirty="0"/>
          </a:p>
        </p:txBody>
      </p:sp>
      <p:sp>
        <p:nvSpPr>
          <p:cNvPr id="24" name="Text 22"/>
          <p:cNvSpPr/>
          <p:nvPr/>
        </p:nvSpPr>
        <p:spPr>
          <a:xfrm>
            <a:off x="40233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5" name="Shape 23"/>
          <p:cNvSpPr/>
          <p:nvPr/>
        </p:nvSpPr>
        <p:spPr>
          <a:xfrm>
            <a:off x="4297680" y="3611880"/>
            <a:ext cx="3611880" cy="749808"/>
          </a:xfrm>
          <a:prstGeom prst="roundRect">
            <a:avLst>
              <a:gd name="adj" fmla="val 8537"/>
            </a:avLst>
          </a:prstGeom>
          <a:solidFill>
            <a:srgbClr val="EDE9FE"/>
          </a:solidFill>
          <a:ln w="19050">
            <a:solidFill>
              <a:srgbClr val="7C3AED"/>
            </a:solidFill>
            <a:prstDash val="solid"/>
          </a:ln>
        </p:spPr>
      </p:sp>
      <p:sp>
        <p:nvSpPr>
          <p:cNvPr id="26" name="Text 24"/>
          <p:cNvSpPr/>
          <p:nvPr/>
        </p:nvSpPr>
        <p:spPr>
          <a:xfrm>
            <a:off x="43525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prioritised</a:t>
            </a:r>
            <a:endParaRPr lang="en-US" sz="1050" dirty="0"/>
          </a:p>
        </p:txBody>
      </p:sp>
      <p:sp>
        <p:nvSpPr>
          <p:cNvPr id="27" name="Text 25"/>
          <p:cNvSpPr/>
          <p:nvPr/>
        </p:nvSpPr>
        <p:spPr>
          <a:xfrm>
            <a:off x="43525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 time-to-impact</a:t>
            </a:r>
            <a:endParaRPr lang="en-US" sz="850" dirty="0"/>
          </a:p>
        </p:txBody>
      </p:sp>
      <p:sp>
        <p:nvSpPr>
          <p:cNvPr id="28" name="Text 26"/>
          <p:cNvSpPr/>
          <p:nvPr/>
        </p:nvSpPr>
        <p:spPr>
          <a:xfrm>
            <a:off x="79095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8183880" y="3611880"/>
            <a:ext cx="361188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82387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Recommendation</a:t>
            </a:r>
            <a:endParaRPr lang="en-US" sz="1050" dirty="0"/>
          </a:p>
        </p:txBody>
      </p:sp>
      <p:sp>
        <p:nvSpPr>
          <p:cNvPr id="31" name="Text 29"/>
          <p:cNvSpPr/>
          <p:nvPr/>
        </p:nvSpPr>
        <p:spPr>
          <a:xfrm>
            <a:off x="82387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action that prevents it</a:t>
            </a:r>
            <a:endParaRPr lang="en-US" sz="850" dirty="0"/>
          </a:p>
        </p:txBody>
      </p:sp>
      <p:sp>
        <p:nvSpPr>
          <p:cNvPr id="32" name="Text 30"/>
          <p:cNvSpPr/>
          <p:nvPr/>
        </p:nvSpPr>
        <p:spPr>
          <a:xfrm>
            <a:off x="411480" y="4480560"/>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OUTCOMES</a:t>
            </a:r>
            <a:endParaRPr lang="en-US" sz="900" dirty="0"/>
          </a:p>
        </p:txBody>
      </p:sp>
      <p:sp>
        <p:nvSpPr>
          <p:cNvPr id="33" name="Shape 31"/>
          <p:cNvSpPr/>
          <p:nvPr/>
        </p:nvSpPr>
        <p:spPr>
          <a:xfrm>
            <a:off x="411480" y="4654296"/>
            <a:ext cx="3697224" cy="420624"/>
          </a:xfrm>
          <a:prstGeom prst="roundRect">
            <a:avLst>
              <a:gd name="adj" fmla="val 10870"/>
            </a:avLst>
          </a:prstGeom>
          <a:solidFill>
            <a:srgbClr val="FEF3C7"/>
          </a:solidFill>
          <a:ln w="12700">
            <a:solidFill>
              <a:srgbClr val="D97706"/>
            </a:solidFill>
            <a:prstDash val="solid"/>
          </a:ln>
        </p:spPr>
      </p:sp>
      <p:sp>
        <p:nvSpPr>
          <p:cNvPr id="34" name="Text 32"/>
          <p:cNvSpPr/>
          <p:nvPr/>
        </p:nvSpPr>
        <p:spPr>
          <a:xfrm>
            <a:off x="466344"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Act now — capacity added before exhaustion</a:t>
            </a:r>
            <a:endParaRPr lang="en-US" sz="950" dirty="0"/>
          </a:p>
        </p:txBody>
      </p:sp>
      <p:sp>
        <p:nvSpPr>
          <p:cNvPr id="35" name="Shape 33"/>
          <p:cNvSpPr/>
          <p:nvPr/>
        </p:nvSpPr>
        <p:spPr>
          <a:xfrm>
            <a:off x="4255008" y="4654296"/>
            <a:ext cx="3697224" cy="420624"/>
          </a:xfrm>
          <a:prstGeom prst="roundRect">
            <a:avLst>
              <a:gd name="adj" fmla="val 10870"/>
            </a:avLst>
          </a:prstGeom>
          <a:solidFill>
            <a:srgbClr val="FEF3C7"/>
          </a:solidFill>
          <a:ln w="12700">
            <a:solidFill>
              <a:srgbClr val="D97706"/>
            </a:solidFill>
            <a:prstDash val="solid"/>
          </a:ln>
        </p:spPr>
      </p:sp>
      <p:sp>
        <p:nvSpPr>
          <p:cNvPr id="36" name="Text 34"/>
          <p:cNvSpPr/>
          <p:nvPr/>
        </p:nvSpPr>
        <p:spPr>
          <a:xfrm>
            <a:off x="4309872"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Schedule it into the next maintenance window</a:t>
            </a:r>
            <a:endParaRPr lang="en-US" sz="950" dirty="0"/>
          </a:p>
        </p:txBody>
      </p:sp>
      <p:sp>
        <p:nvSpPr>
          <p:cNvPr id="37" name="Shape 35"/>
          <p:cNvSpPr/>
          <p:nvPr/>
        </p:nvSpPr>
        <p:spPr>
          <a:xfrm>
            <a:off x="8098536" y="4654296"/>
            <a:ext cx="3697224" cy="420624"/>
          </a:xfrm>
          <a:prstGeom prst="roundRect">
            <a:avLst>
              <a:gd name="adj" fmla="val 10870"/>
            </a:avLst>
          </a:prstGeom>
          <a:solidFill>
            <a:srgbClr val="DBEAFE"/>
          </a:solidFill>
          <a:ln w="12700">
            <a:solidFill>
              <a:srgbClr val="2563EB"/>
            </a:solidFill>
            <a:prstDash val="solid"/>
          </a:ln>
        </p:spPr>
      </p:sp>
      <p:sp>
        <p:nvSpPr>
          <p:cNvPr id="38" name="Text 36"/>
          <p:cNvSpPr/>
          <p:nvPr/>
        </p:nvSpPr>
        <p:spPr>
          <a:xfrm>
            <a:off x="8153400" y="4654296"/>
            <a:ext cx="3587496" cy="420624"/>
          </a:xfrm>
          <a:prstGeom prst="rect">
            <a:avLst/>
          </a:prstGeom>
          <a:noFill/>
          <a:ln/>
        </p:spPr>
        <p:txBody>
          <a:bodyPr wrap="square" rtlCol="0" anchor="ctr"/>
          <a:lstStyle/>
          <a:p>
            <a:pPr algn="ctr" indent="0" marL="0">
              <a:buNone/>
            </a:pPr>
            <a:r>
              <a:rPr lang="en-US" sz="950" b="1" dirty="0">
                <a:solidFill>
                  <a:srgbClr val="1E40AF"/>
                </a:solidFill>
                <a:latin typeface="Inter" pitchFamily="34" charset="0"/>
                <a:ea typeface="Inter" pitchFamily="34" charset="-122"/>
                <a:cs typeface="Inter" pitchFamily="34" charset="-120"/>
              </a:rPr>
              <a:t>⚙️ Watch — re-forecast on the next cycle</a:t>
            </a:r>
            <a:endParaRPr lang="en-US" sz="950" dirty="0"/>
          </a:p>
        </p:txBody>
      </p:sp>
      <p:sp>
        <p:nvSpPr>
          <p:cNvPr id="39" name="Shape 37"/>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0" name="Text 38"/>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1" name="Shape 39"/>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2" name="Text 40"/>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3" name="Shape 41"/>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4" name="Text 42"/>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5" name="Shape 43"/>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6" name="Text 44"/>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7" name="Text 45"/>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Reactive firefighting → scheduled maintenance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UC-04</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Security &amp; Compliance Governance</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Continuous posture assessment, not a quarterly audit</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Continuous security posture across the fleet: CIS benchmark evaluation, image vulnerability scanning, RBAC audit and policy enforcement — run continuously and reported per namespace, so compliance is a live number rather than a point-in-time report that ages the moment it is produced.</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DISCOVER &amp; SCAN</a:t>
            </a:r>
            <a:endParaRPr lang="en-US" sz="900" dirty="0"/>
          </a:p>
        </p:txBody>
      </p:sp>
      <p:sp>
        <p:nvSpPr>
          <p:cNvPr id="9" name="Shape 7"/>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0" name="Text 8"/>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Discovery</a:t>
            </a:r>
            <a:endParaRPr lang="en-US" sz="1050" dirty="0"/>
          </a:p>
        </p:txBody>
      </p:sp>
      <p:sp>
        <p:nvSpPr>
          <p:cNvPr id="11" name="Text 9"/>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workloads · images · roles</a:t>
            </a:r>
            <a:endParaRPr lang="en-US" sz="850" dirty="0"/>
          </a:p>
        </p:txBody>
      </p:sp>
      <p:sp>
        <p:nvSpPr>
          <p:cNvPr id="12" name="Text 10"/>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4" name="Text 12"/>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CIS benchmark</a:t>
            </a:r>
            <a:endParaRPr lang="en-US" sz="1050" dirty="0"/>
          </a:p>
        </p:txBody>
      </p:sp>
      <p:sp>
        <p:nvSpPr>
          <p:cNvPr id="15" name="Text 13"/>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control-by-control evaluation</a:t>
            </a:r>
            <a:endParaRPr lang="en-US" sz="850" dirty="0"/>
          </a:p>
        </p:txBody>
      </p:sp>
      <p:sp>
        <p:nvSpPr>
          <p:cNvPr id="16" name="Text 14"/>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6240780" y="2569464"/>
            <a:ext cx="2640330" cy="749808"/>
          </a:xfrm>
          <a:prstGeom prst="roundRect">
            <a:avLst>
              <a:gd name="adj" fmla="val 8537"/>
            </a:avLst>
          </a:prstGeom>
          <a:solidFill>
            <a:srgbClr val="DBEAFE"/>
          </a:solidFill>
          <a:ln w="19050">
            <a:solidFill>
              <a:srgbClr val="2563EB"/>
            </a:solidFill>
            <a:prstDash val="solid"/>
          </a:ln>
        </p:spPr>
      </p:sp>
      <p:sp>
        <p:nvSpPr>
          <p:cNvPr id="18" name="Text 16"/>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Image CVE scan</a:t>
            </a:r>
            <a:endParaRPr lang="en-US" sz="1050" dirty="0"/>
          </a:p>
        </p:txBody>
      </p:sp>
      <p:sp>
        <p:nvSpPr>
          <p:cNvPr id="19" name="Text 17"/>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critical · high · fixable</a:t>
            </a:r>
            <a:endParaRPr lang="en-US" sz="850" dirty="0"/>
          </a:p>
        </p:txBody>
      </p:sp>
      <p:sp>
        <p:nvSpPr>
          <p:cNvPr id="20" name="Text 18"/>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1" name="Shape 19"/>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2" name="Text 20"/>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RBAC audit</a:t>
            </a:r>
            <a:endParaRPr lang="en-US" sz="1050" dirty="0"/>
          </a:p>
        </p:txBody>
      </p:sp>
      <p:sp>
        <p:nvSpPr>
          <p:cNvPr id="23" name="Text 21"/>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over-privilege, orphaned bindings</a:t>
            </a:r>
            <a:endParaRPr lang="en-US" sz="850" dirty="0"/>
          </a:p>
        </p:txBody>
      </p:sp>
      <p:sp>
        <p:nvSpPr>
          <p:cNvPr id="24" name="Text 22"/>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EXPLAIN &amp; DECIDE</a:t>
            </a:r>
            <a:endParaRPr lang="en-US" sz="900" dirty="0"/>
          </a:p>
        </p:txBody>
      </p:sp>
      <p:sp>
        <p:nvSpPr>
          <p:cNvPr id="25" name="Shape 23"/>
          <p:cNvSpPr/>
          <p:nvPr/>
        </p:nvSpPr>
        <p:spPr>
          <a:xfrm>
            <a:off x="411480" y="3611880"/>
            <a:ext cx="2640330" cy="749808"/>
          </a:xfrm>
          <a:prstGeom prst="roundRect">
            <a:avLst>
              <a:gd name="adj" fmla="val 8537"/>
            </a:avLst>
          </a:prstGeom>
          <a:solidFill>
            <a:srgbClr val="EDE9FE"/>
          </a:solidFill>
          <a:ln w="19050">
            <a:solidFill>
              <a:srgbClr val="7C3AED"/>
            </a:solidFill>
            <a:prstDash val="solid"/>
          </a:ln>
        </p:spPr>
      </p:sp>
      <p:sp>
        <p:nvSpPr>
          <p:cNvPr id="26" name="Text 24"/>
          <p:cNvSpPr/>
          <p:nvPr/>
        </p:nvSpPr>
        <p:spPr>
          <a:xfrm>
            <a:off x="466344" y="3679363"/>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Findings explained</a:t>
            </a:r>
            <a:endParaRPr lang="en-US" sz="1050" dirty="0"/>
          </a:p>
        </p:txBody>
      </p:sp>
      <p:sp>
        <p:nvSpPr>
          <p:cNvPr id="27" name="Text 25"/>
          <p:cNvSpPr/>
          <p:nvPr/>
        </p:nvSpPr>
        <p:spPr>
          <a:xfrm>
            <a:off x="4663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why it matters, what to change</a:t>
            </a:r>
            <a:endParaRPr lang="en-US" sz="850" dirty="0"/>
          </a:p>
        </p:txBody>
      </p:sp>
      <p:sp>
        <p:nvSpPr>
          <p:cNvPr id="28" name="Text 26"/>
          <p:cNvSpPr/>
          <p:nvPr/>
        </p:nvSpPr>
        <p:spPr>
          <a:xfrm>
            <a:off x="30518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3326130" y="3611880"/>
            <a:ext cx="264033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338099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Policy enforcement</a:t>
            </a:r>
            <a:endParaRPr lang="en-US" sz="1050" dirty="0"/>
          </a:p>
        </p:txBody>
      </p:sp>
      <p:sp>
        <p:nvSpPr>
          <p:cNvPr id="31" name="Text 29"/>
          <p:cNvSpPr/>
          <p:nvPr/>
        </p:nvSpPr>
        <p:spPr>
          <a:xfrm>
            <a:off x="33809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admission and guardrails</a:t>
            </a:r>
            <a:endParaRPr lang="en-US" sz="850" dirty="0"/>
          </a:p>
        </p:txBody>
      </p:sp>
      <p:sp>
        <p:nvSpPr>
          <p:cNvPr id="32" name="Text 30"/>
          <p:cNvSpPr/>
          <p:nvPr/>
        </p:nvSpPr>
        <p:spPr>
          <a:xfrm>
            <a:off x="59664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6240780" y="3611880"/>
            <a:ext cx="2640330" cy="749808"/>
          </a:xfrm>
          <a:prstGeom prst="roundRect">
            <a:avLst>
              <a:gd name="adj" fmla="val 8537"/>
            </a:avLst>
          </a:prstGeom>
          <a:solidFill>
            <a:srgbClr val="FEF3C7"/>
          </a:solidFill>
          <a:ln w="19050">
            <a:solidFill>
              <a:srgbClr val="D97706"/>
            </a:solidFill>
            <a:prstDash val="solid"/>
          </a:ln>
        </p:spPr>
      </p:sp>
      <p:sp>
        <p:nvSpPr>
          <p:cNvPr id="34" name="Text 32"/>
          <p:cNvSpPr/>
          <p:nvPr/>
        </p:nvSpPr>
        <p:spPr>
          <a:xfrm>
            <a:off x="6295644" y="3679363"/>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Remediation approved</a:t>
            </a:r>
            <a:endParaRPr lang="en-US" sz="1050" dirty="0"/>
          </a:p>
        </p:txBody>
      </p:sp>
      <p:sp>
        <p:nvSpPr>
          <p:cNvPr id="35" name="Text 33"/>
          <p:cNvSpPr/>
          <p:nvPr/>
        </p:nvSpPr>
        <p:spPr>
          <a:xfrm>
            <a:off x="62956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operator decides</a:t>
            </a:r>
            <a:endParaRPr lang="en-US" sz="850" dirty="0"/>
          </a:p>
        </p:txBody>
      </p:sp>
      <p:sp>
        <p:nvSpPr>
          <p:cNvPr id="36" name="Text 34"/>
          <p:cNvSpPr/>
          <p:nvPr/>
        </p:nvSpPr>
        <p:spPr>
          <a:xfrm>
            <a:off x="88811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9155430" y="3611880"/>
            <a:ext cx="2640330" cy="749808"/>
          </a:xfrm>
          <a:prstGeom prst="roundRect">
            <a:avLst>
              <a:gd name="adj" fmla="val 8537"/>
            </a:avLst>
          </a:prstGeom>
          <a:solidFill>
            <a:srgbClr val="D1FAE5"/>
          </a:solidFill>
          <a:ln w="19050">
            <a:solidFill>
              <a:srgbClr val="059669"/>
            </a:solidFill>
            <a:prstDash val="solid"/>
          </a:ln>
        </p:spPr>
      </p:sp>
      <p:sp>
        <p:nvSpPr>
          <p:cNvPr id="38" name="Text 36"/>
          <p:cNvSpPr/>
          <p:nvPr/>
        </p:nvSpPr>
        <p:spPr>
          <a:xfrm>
            <a:off x="9210294" y="3679363"/>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Posture re-verified</a:t>
            </a:r>
            <a:endParaRPr lang="en-US" sz="1050" dirty="0"/>
          </a:p>
        </p:txBody>
      </p:sp>
      <p:sp>
        <p:nvSpPr>
          <p:cNvPr id="39" name="Text 37"/>
          <p:cNvSpPr/>
          <p:nvPr/>
        </p:nvSpPr>
        <p:spPr>
          <a:xfrm>
            <a:off x="92102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number moves</a:t>
            </a:r>
            <a:endParaRPr lang="en-US" sz="850" dirty="0"/>
          </a:p>
        </p:txBody>
      </p:sp>
      <p:sp>
        <p:nvSpPr>
          <p:cNvPr id="40" name="Shape 38"/>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1" name="Text 39"/>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2" name="Shape 40"/>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3" name="Text 41"/>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4" name="Shape 42"/>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5" name="Text 43"/>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6" name="Shape 44"/>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7" name="Text 45"/>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8" name="Text 46"/>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C2626"/>
                </a:solidFill>
                <a:latin typeface="Inter" pitchFamily="34" charset="0"/>
                <a:ea typeface="Inter" pitchFamily="34" charset="-122"/>
                <a:cs typeface="Inter" pitchFamily="34" charset="-120"/>
              </a:rPr>
              <a:t>Compliance as a live number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UC-05</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RCA Agent — Zero-Touch Incident Command</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Self-detecting · self-documenting · self-closing · self-reverting</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The only agent-initiated use case: nothing triggers it, which is its entire point. It detects against industry-standard thresholds with dwell time, correlates N signals into one incident, determines root cause from real evidence, raises the ticket, and — after one human decision — applies, verifies, documents and closes it.</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Shape 6"/>
          <p:cNvSpPr/>
          <p:nvPr/>
        </p:nvSpPr>
        <p:spPr>
          <a:xfrm>
            <a:off x="411480" y="2395728"/>
            <a:ext cx="1668780" cy="749808"/>
          </a:xfrm>
          <a:prstGeom prst="roundRect">
            <a:avLst>
              <a:gd name="adj" fmla="val 8537"/>
            </a:avLst>
          </a:prstGeom>
          <a:solidFill>
            <a:srgbClr val="DBEAFE"/>
          </a:solidFill>
          <a:ln w="19050">
            <a:solidFill>
              <a:srgbClr val="2563EB"/>
            </a:solidFill>
            <a:prstDash val="solid"/>
          </a:ln>
        </p:spPr>
      </p:sp>
      <p:sp>
        <p:nvSpPr>
          <p:cNvPr id="9" name="Text 7"/>
          <p:cNvSpPr/>
          <p:nvPr/>
        </p:nvSpPr>
        <p:spPr>
          <a:xfrm>
            <a:off x="4663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Detect</a:t>
            </a:r>
            <a:endParaRPr lang="en-US" sz="1050" dirty="0"/>
          </a:p>
        </p:txBody>
      </p:sp>
      <p:sp>
        <p:nvSpPr>
          <p:cNvPr id="10" name="Text 8"/>
          <p:cNvSpPr/>
          <p:nvPr/>
        </p:nvSpPr>
        <p:spPr>
          <a:xfrm>
            <a:off x="4663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12 thresholds + dwell</a:t>
            </a:r>
            <a:endParaRPr lang="en-US" sz="850" dirty="0"/>
          </a:p>
        </p:txBody>
      </p:sp>
      <p:sp>
        <p:nvSpPr>
          <p:cNvPr id="11" name="Text 9"/>
          <p:cNvSpPr/>
          <p:nvPr/>
        </p:nvSpPr>
        <p:spPr>
          <a:xfrm>
            <a:off x="20802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2" name="Shape 10"/>
          <p:cNvSpPr/>
          <p:nvPr/>
        </p:nvSpPr>
        <p:spPr>
          <a:xfrm>
            <a:off x="2354580" y="2395728"/>
            <a:ext cx="1668780" cy="749808"/>
          </a:xfrm>
          <a:prstGeom prst="roundRect">
            <a:avLst>
              <a:gd name="adj" fmla="val 8537"/>
            </a:avLst>
          </a:prstGeom>
          <a:solidFill>
            <a:srgbClr val="DBEAFE"/>
          </a:solidFill>
          <a:ln w="19050">
            <a:solidFill>
              <a:srgbClr val="2563EB"/>
            </a:solidFill>
            <a:prstDash val="solid"/>
          </a:ln>
        </p:spPr>
      </p:sp>
      <p:sp>
        <p:nvSpPr>
          <p:cNvPr id="13" name="Text 11"/>
          <p:cNvSpPr/>
          <p:nvPr/>
        </p:nvSpPr>
        <p:spPr>
          <a:xfrm>
            <a:off x="24094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Correlate</a:t>
            </a:r>
            <a:endParaRPr lang="en-US" sz="1050" dirty="0"/>
          </a:p>
        </p:txBody>
      </p:sp>
      <p:sp>
        <p:nvSpPr>
          <p:cNvPr id="14" name="Text 12"/>
          <p:cNvSpPr/>
          <p:nvPr/>
        </p:nvSpPr>
        <p:spPr>
          <a:xfrm>
            <a:off x="24094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 signals → 1 incident</a:t>
            </a:r>
            <a:endParaRPr lang="en-US" sz="850" dirty="0"/>
          </a:p>
        </p:txBody>
      </p:sp>
      <p:sp>
        <p:nvSpPr>
          <p:cNvPr id="15" name="Text 13"/>
          <p:cNvSpPr/>
          <p:nvPr/>
        </p:nvSpPr>
        <p:spPr>
          <a:xfrm>
            <a:off x="40233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6" name="Shape 14"/>
          <p:cNvSpPr/>
          <p:nvPr/>
        </p:nvSpPr>
        <p:spPr>
          <a:xfrm>
            <a:off x="4297680" y="2395728"/>
            <a:ext cx="1668780" cy="749808"/>
          </a:xfrm>
          <a:prstGeom prst="roundRect">
            <a:avLst>
              <a:gd name="adj" fmla="val 8537"/>
            </a:avLst>
          </a:prstGeom>
          <a:solidFill>
            <a:srgbClr val="EDE9FE"/>
          </a:solidFill>
          <a:ln w="19050">
            <a:solidFill>
              <a:srgbClr val="7C3AED"/>
            </a:solidFill>
            <a:prstDash val="solid"/>
          </a:ln>
        </p:spPr>
      </p:sp>
      <p:sp>
        <p:nvSpPr>
          <p:cNvPr id="17" name="Text 15"/>
          <p:cNvSpPr/>
          <p:nvPr/>
        </p:nvSpPr>
        <p:spPr>
          <a:xfrm>
            <a:off x="4352544" y="2463211"/>
            <a:ext cx="15590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AI RCA</a:t>
            </a:r>
            <a:endParaRPr lang="en-US" sz="1050" dirty="0"/>
          </a:p>
        </p:txBody>
      </p:sp>
      <p:sp>
        <p:nvSpPr>
          <p:cNvPr id="18" name="Text 16"/>
          <p:cNvSpPr/>
          <p:nvPr/>
        </p:nvSpPr>
        <p:spPr>
          <a:xfrm>
            <a:off x="43525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evidence → narrative</a:t>
            </a:r>
            <a:endParaRPr lang="en-US" sz="850" dirty="0"/>
          </a:p>
        </p:txBody>
      </p:sp>
      <p:sp>
        <p:nvSpPr>
          <p:cNvPr id="19" name="Text 17"/>
          <p:cNvSpPr/>
          <p:nvPr/>
        </p:nvSpPr>
        <p:spPr>
          <a:xfrm>
            <a:off x="59664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0" name="Shape 18"/>
          <p:cNvSpPr/>
          <p:nvPr/>
        </p:nvSpPr>
        <p:spPr>
          <a:xfrm>
            <a:off x="6240780" y="2395728"/>
            <a:ext cx="1668780" cy="749808"/>
          </a:xfrm>
          <a:prstGeom prst="roundRect">
            <a:avLst>
              <a:gd name="adj" fmla="val 8537"/>
            </a:avLst>
          </a:prstGeom>
          <a:solidFill>
            <a:srgbClr val="DBEAFE"/>
          </a:solidFill>
          <a:ln w="19050">
            <a:solidFill>
              <a:srgbClr val="2563EB"/>
            </a:solidFill>
            <a:prstDash val="solid"/>
          </a:ln>
        </p:spPr>
      </p:sp>
      <p:sp>
        <p:nvSpPr>
          <p:cNvPr id="21" name="Text 19"/>
          <p:cNvSpPr/>
          <p:nvPr/>
        </p:nvSpPr>
        <p:spPr>
          <a:xfrm>
            <a:off x="62956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Raise INC</a:t>
            </a:r>
            <a:endParaRPr lang="en-US" sz="1050" dirty="0"/>
          </a:p>
        </p:txBody>
      </p:sp>
      <p:sp>
        <p:nvSpPr>
          <p:cNvPr id="22" name="Text 20"/>
          <p:cNvSpPr/>
          <p:nvPr/>
        </p:nvSpPr>
        <p:spPr>
          <a:xfrm>
            <a:off x="62956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reuse if already open</a:t>
            </a:r>
            <a:endParaRPr lang="en-US" sz="850" dirty="0"/>
          </a:p>
        </p:txBody>
      </p:sp>
      <p:sp>
        <p:nvSpPr>
          <p:cNvPr id="23" name="Text 21"/>
          <p:cNvSpPr/>
          <p:nvPr/>
        </p:nvSpPr>
        <p:spPr>
          <a:xfrm>
            <a:off x="79095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4" name="Shape 22"/>
          <p:cNvSpPr/>
          <p:nvPr/>
        </p:nvSpPr>
        <p:spPr>
          <a:xfrm>
            <a:off x="8183880" y="2395728"/>
            <a:ext cx="1668780" cy="749808"/>
          </a:xfrm>
          <a:prstGeom prst="roundRect">
            <a:avLst>
              <a:gd name="adj" fmla="val 8537"/>
            </a:avLst>
          </a:prstGeom>
          <a:solidFill>
            <a:srgbClr val="DBEAFE"/>
          </a:solidFill>
          <a:ln w="19050">
            <a:solidFill>
              <a:srgbClr val="2563EB"/>
            </a:solidFill>
            <a:prstDash val="solid"/>
          </a:ln>
        </p:spPr>
      </p:sp>
      <p:sp>
        <p:nvSpPr>
          <p:cNvPr id="25" name="Text 23"/>
          <p:cNvSpPr/>
          <p:nvPr/>
        </p:nvSpPr>
        <p:spPr>
          <a:xfrm>
            <a:off x="82387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Plan fix</a:t>
            </a:r>
            <a:endParaRPr lang="en-US" sz="1050" dirty="0"/>
          </a:p>
        </p:txBody>
      </p:sp>
      <p:sp>
        <p:nvSpPr>
          <p:cNvPr id="26" name="Text 24"/>
          <p:cNvSpPr/>
          <p:nvPr/>
        </p:nvSpPr>
        <p:spPr>
          <a:xfrm>
            <a:off x="82387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deterministic + guardrails</a:t>
            </a:r>
            <a:endParaRPr lang="en-US" sz="850" dirty="0"/>
          </a:p>
        </p:txBody>
      </p:sp>
      <p:sp>
        <p:nvSpPr>
          <p:cNvPr id="27" name="Text 25"/>
          <p:cNvSpPr/>
          <p:nvPr/>
        </p:nvSpPr>
        <p:spPr>
          <a:xfrm>
            <a:off x="98526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8" name="Shape 26"/>
          <p:cNvSpPr/>
          <p:nvPr/>
        </p:nvSpPr>
        <p:spPr>
          <a:xfrm>
            <a:off x="10126980" y="2395728"/>
            <a:ext cx="1668780" cy="749808"/>
          </a:xfrm>
          <a:prstGeom prst="roundRect">
            <a:avLst>
              <a:gd name="adj" fmla="val 8537"/>
            </a:avLst>
          </a:prstGeom>
          <a:solidFill>
            <a:srgbClr val="DBEAFE"/>
          </a:solidFill>
          <a:ln w="19050">
            <a:solidFill>
              <a:srgbClr val="2563EB"/>
            </a:solidFill>
            <a:prstDash val="solid"/>
          </a:ln>
        </p:spPr>
      </p:sp>
      <p:sp>
        <p:nvSpPr>
          <p:cNvPr id="29" name="Text 27"/>
          <p:cNvSpPr/>
          <p:nvPr/>
        </p:nvSpPr>
        <p:spPr>
          <a:xfrm>
            <a:off x="101818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30" name="Text 28"/>
          <p:cNvSpPr/>
          <p:nvPr/>
        </p:nvSpPr>
        <p:spPr>
          <a:xfrm>
            <a:off x="101818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API, ?dryRun=All</a:t>
            </a:r>
            <a:endParaRPr lang="en-US" sz="850" dirty="0"/>
          </a:p>
        </p:txBody>
      </p:sp>
      <p:sp>
        <p:nvSpPr>
          <p:cNvPr id="31" name="Shape 29"/>
          <p:cNvSpPr/>
          <p:nvPr/>
        </p:nvSpPr>
        <p:spPr>
          <a:xfrm>
            <a:off x="2606040" y="3264408"/>
            <a:ext cx="6995160" cy="548640"/>
          </a:xfrm>
          <a:prstGeom prst="roundRect">
            <a:avLst>
              <a:gd name="adj" fmla="val 11667"/>
            </a:avLst>
          </a:prstGeom>
          <a:solidFill>
            <a:srgbClr val="D97706"/>
          </a:solidFill>
          <a:ln w="25400">
            <a:solidFill>
              <a:srgbClr val="92400E"/>
            </a:solidFill>
            <a:prstDash val="solid"/>
          </a:ln>
        </p:spPr>
      </p:sp>
      <p:sp>
        <p:nvSpPr>
          <p:cNvPr id="32" name="Text 30"/>
          <p:cNvSpPr/>
          <p:nvPr/>
        </p:nvSpPr>
        <p:spPr>
          <a:xfrm>
            <a:off x="2606040" y="3264408"/>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OR REJECT — THE ONLY HUMAN GATE  👤</a:t>
            </a:r>
            <a:endParaRPr lang="en-US" sz="1200" dirty="0"/>
          </a:p>
        </p:txBody>
      </p:sp>
      <p:sp>
        <p:nvSpPr>
          <p:cNvPr id="33" name="Shape 31"/>
          <p:cNvSpPr/>
          <p:nvPr/>
        </p:nvSpPr>
        <p:spPr>
          <a:xfrm>
            <a:off x="411480" y="3931920"/>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a:t>
            </a:r>
            <a:endParaRPr lang="en-US" sz="1050" dirty="0"/>
          </a:p>
        </p:txBody>
      </p:sp>
      <p:sp>
        <p:nvSpPr>
          <p:cNvPr id="35" name="Text 33"/>
          <p:cNvSpPr/>
          <p:nvPr/>
        </p:nvSpPr>
        <p:spPr>
          <a:xfrm>
            <a:off x="4663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snapshot first</a:t>
            </a:r>
            <a:endParaRPr lang="en-US" sz="850" dirty="0"/>
          </a:p>
        </p:txBody>
      </p:sp>
      <p:sp>
        <p:nvSpPr>
          <p:cNvPr id="36" name="Text 34"/>
          <p:cNvSpPr/>
          <p:nvPr/>
        </p:nvSpPr>
        <p:spPr>
          <a:xfrm>
            <a:off x="30518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3326130" y="3931920"/>
            <a:ext cx="264033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33809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Verify</a:t>
            </a:r>
            <a:endParaRPr lang="en-US" sz="1050" dirty="0"/>
          </a:p>
        </p:txBody>
      </p:sp>
      <p:sp>
        <p:nvSpPr>
          <p:cNvPr id="39" name="Text 37"/>
          <p:cNvSpPr/>
          <p:nvPr/>
        </p:nvSpPr>
        <p:spPr>
          <a:xfrm>
            <a:off x="33809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rollout completion, not readiness</a:t>
            </a:r>
            <a:endParaRPr lang="en-US" sz="850" dirty="0"/>
          </a:p>
        </p:txBody>
      </p:sp>
      <p:sp>
        <p:nvSpPr>
          <p:cNvPr id="40" name="Text 38"/>
          <p:cNvSpPr/>
          <p:nvPr/>
        </p:nvSpPr>
        <p:spPr>
          <a:xfrm>
            <a:off x="596646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6240780" y="3931920"/>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62956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Attach RCA</a:t>
            </a:r>
            <a:endParaRPr lang="en-US" sz="1050" dirty="0"/>
          </a:p>
        </p:txBody>
      </p:sp>
      <p:sp>
        <p:nvSpPr>
          <p:cNvPr id="43" name="Text 41"/>
          <p:cNvSpPr/>
          <p:nvPr/>
        </p:nvSpPr>
        <p:spPr>
          <a:xfrm>
            <a:off x="62956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HTML + PDF</a:t>
            </a:r>
            <a:endParaRPr lang="en-US" sz="850" dirty="0"/>
          </a:p>
        </p:txBody>
      </p:sp>
      <p:sp>
        <p:nvSpPr>
          <p:cNvPr id="44" name="Text 42"/>
          <p:cNvSpPr/>
          <p:nvPr/>
        </p:nvSpPr>
        <p:spPr>
          <a:xfrm>
            <a:off x="88811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9155430" y="3931920"/>
            <a:ext cx="2640330" cy="749808"/>
          </a:xfrm>
          <a:prstGeom prst="roundRect">
            <a:avLst>
              <a:gd name="adj" fmla="val 8537"/>
            </a:avLst>
          </a:prstGeom>
          <a:solidFill>
            <a:srgbClr val="DBEAFE"/>
          </a:solidFill>
          <a:ln w="19050">
            <a:solidFill>
              <a:srgbClr val="2563EB"/>
            </a:solidFill>
            <a:prstDash val="solid"/>
          </a:ln>
        </p:spPr>
      </p:sp>
      <p:sp>
        <p:nvSpPr>
          <p:cNvPr id="46" name="Text 44"/>
          <p:cNvSpPr/>
          <p:nvPr/>
        </p:nvSpPr>
        <p:spPr>
          <a:xfrm>
            <a:off x="92102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Close + ledger</a:t>
            </a:r>
            <a:endParaRPr lang="en-US" sz="1050" dirty="0"/>
          </a:p>
        </p:txBody>
      </p:sp>
      <p:sp>
        <p:nvSpPr>
          <p:cNvPr id="47" name="Text 45"/>
          <p:cNvSpPr/>
          <p:nvPr/>
        </p:nvSpPr>
        <p:spPr>
          <a:xfrm>
            <a:off x="92102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stored for revert</a:t>
            </a:r>
            <a:endParaRPr lang="en-US" sz="850" dirty="0"/>
          </a:p>
        </p:txBody>
      </p:sp>
      <p:sp>
        <p:nvSpPr>
          <p:cNvPr id="48" name="Shape 46"/>
          <p:cNvSpPr/>
          <p:nvPr/>
        </p:nvSpPr>
        <p:spPr>
          <a:xfrm>
            <a:off x="411480" y="4800600"/>
            <a:ext cx="3697224" cy="420624"/>
          </a:xfrm>
          <a:prstGeom prst="roundRect">
            <a:avLst>
              <a:gd name="adj" fmla="val 10870"/>
            </a:avLst>
          </a:prstGeom>
          <a:solidFill>
            <a:srgbClr val="D1FAE5"/>
          </a:solidFill>
          <a:ln w="12700">
            <a:solidFill>
              <a:srgbClr val="059669"/>
            </a:solidFill>
            <a:prstDash val="solid"/>
          </a:ln>
        </p:spPr>
      </p:sp>
      <p:sp>
        <p:nvSpPr>
          <p:cNvPr id="49" name="Text 47"/>
          <p:cNvSpPr/>
          <p:nvPr/>
        </p:nvSpPr>
        <p:spPr>
          <a:xfrm>
            <a:off x="466344" y="4800600"/>
            <a:ext cx="3587496"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Self-healed → auto-closed</a:t>
            </a:r>
            <a:endParaRPr lang="en-US" sz="950" dirty="0"/>
          </a:p>
        </p:txBody>
      </p:sp>
      <p:sp>
        <p:nvSpPr>
          <p:cNvPr id="50" name="Shape 48"/>
          <p:cNvSpPr/>
          <p:nvPr/>
        </p:nvSpPr>
        <p:spPr>
          <a:xfrm>
            <a:off x="4255008" y="4800600"/>
            <a:ext cx="3697224" cy="420624"/>
          </a:xfrm>
          <a:prstGeom prst="roundRect">
            <a:avLst>
              <a:gd name="adj" fmla="val 10870"/>
            </a:avLst>
          </a:prstGeom>
          <a:solidFill>
            <a:srgbClr val="FFEDD5"/>
          </a:solidFill>
          <a:ln w="12700">
            <a:solidFill>
              <a:srgbClr val="EA580C"/>
            </a:solidFill>
            <a:prstDash val="solid"/>
          </a:ln>
        </p:spPr>
      </p:sp>
      <p:sp>
        <p:nvSpPr>
          <p:cNvPr id="51" name="Text 49"/>
          <p:cNvSpPr/>
          <p:nvPr/>
        </p:nvSpPr>
        <p:spPr>
          <a:xfrm>
            <a:off x="4309872" y="4800600"/>
            <a:ext cx="3587496" cy="420624"/>
          </a:xfrm>
          <a:prstGeom prst="rect">
            <a:avLst/>
          </a:prstGeom>
          <a:noFill/>
          <a:ln/>
        </p:spPr>
        <p:txBody>
          <a:bodyPr wrap="square" rtlCol="0" anchor="ctr"/>
          <a:lstStyle/>
          <a:p>
            <a:pPr algn="ctr" indent="0" marL="0">
              <a:buNone/>
            </a:pPr>
            <a:r>
              <a:rPr lang="en-US" sz="950" b="1" dirty="0">
                <a:solidFill>
                  <a:srgbClr val="9A3412"/>
                </a:solidFill>
                <a:latin typeface="Inter" pitchFamily="34" charset="0"/>
                <a:ea typeface="Inter" pitchFamily="34" charset="-122"/>
                <a:cs typeface="Inter" pitchFamily="34" charset="-120"/>
              </a:rPr>
              <a:t>👤 No safe fix → escalated, RCA ready</a:t>
            </a:r>
            <a:endParaRPr lang="en-US" sz="950" dirty="0"/>
          </a:p>
        </p:txBody>
      </p:sp>
      <p:sp>
        <p:nvSpPr>
          <p:cNvPr id="52" name="Shape 50"/>
          <p:cNvSpPr/>
          <p:nvPr/>
        </p:nvSpPr>
        <p:spPr>
          <a:xfrm>
            <a:off x="8098536" y="4800600"/>
            <a:ext cx="3697224" cy="420624"/>
          </a:xfrm>
          <a:prstGeom prst="roundRect">
            <a:avLst>
              <a:gd name="adj" fmla="val 10870"/>
            </a:avLst>
          </a:prstGeom>
          <a:solidFill>
            <a:srgbClr val="FEE2E2"/>
          </a:solidFill>
          <a:ln w="12700">
            <a:solidFill>
              <a:srgbClr val="DC2626"/>
            </a:solidFill>
            <a:prstDash val="solid"/>
          </a:ln>
        </p:spPr>
      </p:sp>
      <p:sp>
        <p:nvSpPr>
          <p:cNvPr id="53" name="Text 51"/>
          <p:cNvSpPr/>
          <p:nvPr/>
        </p:nvSpPr>
        <p:spPr>
          <a:xfrm>
            <a:off x="8153400" y="4800600"/>
            <a:ext cx="3587496" cy="420624"/>
          </a:xfrm>
          <a:prstGeom prst="rect">
            <a:avLst/>
          </a:prstGeom>
          <a:noFill/>
          <a:ln/>
        </p:spPr>
        <p:txBody>
          <a:bodyPr wrap="square" rtlCol="0" anchor="ctr"/>
          <a:lstStyle/>
          <a:p>
            <a:pPr algn="ctr" indent="0" marL="0">
              <a:buNone/>
            </a:pPr>
            <a:r>
              <a:rPr lang="en-US" sz="950" b="1" dirty="0">
                <a:solidFill>
                  <a:srgbClr val="991B1B"/>
                </a:solidFill>
                <a:latin typeface="Inter" pitchFamily="34" charset="0"/>
                <a:ea typeface="Inter" pitchFamily="34" charset="-122"/>
                <a:cs typeface="Inter" pitchFamily="34" charset="-120"/>
              </a:rPr>
              <a:t>👤 Not verified → rolled back, ticket OPEN</a:t>
            </a:r>
            <a:endParaRPr lang="en-US" sz="950" dirty="0"/>
          </a:p>
        </p:txBody>
      </p:sp>
      <p:sp>
        <p:nvSpPr>
          <p:cNvPr id="54" name="Shape 52"/>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5" name="Text 53"/>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6" name="Shape 54"/>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7" name="Text 55"/>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8" name="Shape 56"/>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9" name="Text 57"/>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0" name="Shape 58"/>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1" name="Text 59"/>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2" name="Text 60"/>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Everything either side of the gate is autonomous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UC-06</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Governed VM Provisioning &amp; Lifecycle</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One sentence in. A governed, owned, accountable virtual machine out</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A VM request stated in plain language, reconciled against the golden templates this cluster actually offers and checked against live quota — before anyone is asked to approve it. On approval the VM is provisioned with full provenance written onto the object, and weeks later the agent reads that provenance back to right-size or reclaim it.</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CAPTURE  ·  RECONCILE  ·  PRE-FLIGHT</a:t>
            </a:r>
            <a:endParaRPr lang="en-US" sz="900" dirty="0"/>
          </a:p>
        </p:txBody>
      </p:sp>
      <p:sp>
        <p:nvSpPr>
          <p:cNvPr id="9" name="Shape 7"/>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0" name="Text 8"/>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One sentence</a:t>
            </a:r>
            <a:endParaRPr lang="en-US" sz="1050" dirty="0"/>
          </a:p>
        </p:txBody>
      </p:sp>
      <p:sp>
        <p:nvSpPr>
          <p:cNvPr id="11" name="Text 9"/>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 chat</a:t>
            </a:r>
            <a:endParaRPr lang="en-US" sz="850" dirty="0"/>
          </a:p>
        </p:txBody>
      </p:sp>
      <p:sp>
        <p:nvSpPr>
          <p:cNvPr id="12" name="Text 10"/>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2743200" y="2569464"/>
            <a:ext cx="2057400" cy="749808"/>
          </a:xfrm>
          <a:prstGeom prst="roundRect">
            <a:avLst>
              <a:gd name="adj" fmla="val 8537"/>
            </a:avLst>
          </a:prstGeom>
          <a:solidFill>
            <a:srgbClr val="EDE9FE"/>
          </a:solidFill>
          <a:ln w="19050">
            <a:solidFill>
              <a:srgbClr val="7C3AED"/>
            </a:solidFill>
            <a:prstDash val="solid"/>
          </a:ln>
        </p:spPr>
      </p:sp>
      <p:sp>
        <p:nvSpPr>
          <p:cNvPr id="14" name="Text 12"/>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Extract intent</a:t>
            </a:r>
            <a:endParaRPr lang="en-US" sz="1050" dirty="0"/>
          </a:p>
        </p:txBody>
      </p:sp>
      <p:sp>
        <p:nvSpPr>
          <p:cNvPr id="15" name="Text 13"/>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typed VMRequest — never the SSH key</a:t>
            </a:r>
            <a:endParaRPr lang="en-US" sz="850" dirty="0"/>
          </a:p>
        </p:txBody>
      </p:sp>
      <p:sp>
        <p:nvSpPr>
          <p:cNvPr id="16" name="Text 14"/>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5074920" y="2569464"/>
            <a:ext cx="2057400" cy="749808"/>
          </a:xfrm>
          <a:prstGeom prst="roundRect">
            <a:avLst>
              <a:gd name="adj" fmla="val 8537"/>
            </a:avLst>
          </a:prstGeom>
          <a:solidFill>
            <a:srgbClr val="DBEAFE"/>
          </a:solidFill>
          <a:ln w="19050">
            <a:solidFill>
              <a:srgbClr val="2563EB"/>
            </a:solidFill>
            <a:prstDash val="solid"/>
          </a:ln>
        </p:spPr>
      </p:sp>
      <p:sp>
        <p:nvSpPr>
          <p:cNvPr id="18" name="Text 16"/>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Reconcile size</a:t>
            </a:r>
            <a:endParaRPr lang="en-US" sz="1050" dirty="0"/>
          </a:p>
        </p:txBody>
      </p:sp>
      <p:sp>
        <p:nvSpPr>
          <p:cNvPr id="19" name="Text 17"/>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delta, stated</a:t>
            </a:r>
            <a:endParaRPr lang="en-US" sz="850" dirty="0"/>
          </a:p>
        </p:txBody>
      </p:sp>
      <p:sp>
        <p:nvSpPr>
          <p:cNvPr id="20" name="Text 18"/>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1" name="Shape 19"/>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2" name="Text 20"/>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Pre-flight, live</a:t>
            </a:r>
            <a:endParaRPr lang="en-US" sz="1050" dirty="0"/>
          </a:p>
        </p:txBody>
      </p:sp>
      <p:sp>
        <p:nvSpPr>
          <p:cNvPr id="23" name="Text 21"/>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quota · name · image · NAD · key</a:t>
            </a:r>
            <a:endParaRPr lang="en-US" sz="850" dirty="0"/>
          </a:p>
        </p:txBody>
      </p:sp>
      <p:sp>
        <p:nvSpPr>
          <p:cNvPr id="24" name="Text 22"/>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5" name="Shape 23"/>
          <p:cNvSpPr/>
          <p:nvPr/>
        </p:nvSpPr>
        <p:spPr>
          <a:xfrm>
            <a:off x="9738360" y="2569464"/>
            <a:ext cx="2057400" cy="749808"/>
          </a:xfrm>
          <a:prstGeom prst="roundRect">
            <a:avLst>
              <a:gd name="adj" fmla="val 8537"/>
            </a:avLst>
          </a:prstGeom>
          <a:solidFill>
            <a:srgbClr val="DBEAFE"/>
          </a:solidFill>
          <a:ln w="19050">
            <a:solidFill>
              <a:srgbClr val="2563EB"/>
            </a:solidFill>
            <a:prstDash val="solid"/>
          </a:ln>
        </p:spPr>
      </p:sp>
      <p:sp>
        <p:nvSpPr>
          <p:cNvPr id="26" name="Text 24"/>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27" name="Text 25"/>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nothing created</a:t>
            </a:r>
            <a:endParaRPr lang="en-US" sz="850" dirty="0"/>
          </a:p>
        </p:txBody>
      </p:sp>
      <p:sp>
        <p:nvSpPr>
          <p:cNvPr id="28" name="Shape 26"/>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9" name="Text 27"/>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 CONSOLE, OR A SERVICENOW CHANGE BOARD  👤</a:t>
            </a:r>
            <a:endParaRPr lang="en-US" sz="1200" dirty="0"/>
          </a:p>
        </p:txBody>
      </p:sp>
      <p:sp>
        <p:nvSpPr>
          <p:cNvPr id="30" name="Text 28"/>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PROVISION</a:t>
            </a:r>
            <a:endParaRPr lang="en-US" sz="900" dirty="0"/>
          </a:p>
        </p:txBody>
      </p:sp>
      <p:sp>
        <p:nvSpPr>
          <p:cNvPr id="31" name="Shape 29"/>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Re-check pre-flight</a:t>
            </a:r>
            <a:endParaRPr lang="en-US" sz="1050" dirty="0"/>
          </a:p>
        </p:txBody>
      </p:sp>
      <p:sp>
        <p:nvSpPr>
          <p:cNvPr id="33" name="Text 31"/>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cluster moved on</a:t>
            </a:r>
            <a:endParaRPr lang="en-US" sz="850" dirty="0"/>
          </a:p>
        </p:txBody>
      </p:sp>
      <p:sp>
        <p:nvSpPr>
          <p:cNvPr id="34" name="Text 32"/>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 manifest</a:t>
            </a:r>
            <a:endParaRPr lang="en-US" sz="1050" dirty="0"/>
          </a:p>
        </p:txBody>
      </p:sp>
      <p:sp>
        <p:nvSpPr>
          <p:cNvPr id="37" name="Text 35"/>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DataVolume + cloud-init</a:t>
            </a:r>
            <a:endParaRPr lang="en-US" sz="850" dirty="0"/>
          </a:p>
        </p:txBody>
      </p:sp>
      <p:sp>
        <p:nvSpPr>
          <p:cNvPr id="38" name="Text 36"/>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6240780" y="4279392"/>
            <a:ext cx="2640330" cy="749808"/>
          </a:xfrm>
          <a:prstGeom prst="roundRect">
            <a:avLst>
              <a:gd name="adj" fmla="val 8537"/>
            </a:avLst>
          </a:prstGeom>
          <a:solidFill>
            <a:srgbClr val="DBEAFE"/>
          </a:solidFill>
          <a:ln w="19050">
            <a:solidFill>
              <a:srgbClr val="2563EB"/>
            </a:solidFill>
            <a:prstDash val="solid"/>
          </a:ln>
        </p:spPr>
      </p:sp>
      <p:sp>
        <p:nvSpPr>
          <p:cNvPr id="40" name="Text 38"/>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Ledger the change</a:t>
            </a:r>
            <a:endParaRPr lang="en-US" sz="1050" dirty="0"/>
          </a:p>
        </p:txBody>
      </p:sp>
      <p:sp>
        <p:nvSpPr>
          <p:cNvPr id="41" name="Text 39"/>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 decommission</a:t>
            </a:r>
            <a:endParaRPr lang="en-US" sz="850" dirty="0"/>
          </a:p>
        </p:txBody>
      </p:sp>
      <p:sp>
        <p:nvSpPr>
          <p:cNvPr id="42" name="Text 40"/>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3" name="Shape 41"/>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4" name="Text 42"/>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Return access</a:t>
            </a:r>
            <a:endParaRPr lang="en-US" sz="1050" dirty="0"/>
          </a:p>
        </p:txBody>
      </p:sp>
      <p:sp>
        <p:nvSpPr>
          <p:cNvPr id="45" name="Text 43"/>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virtctl ssh · console · IP</a:t>
            </a:r>
            <a:endParaRPr lang="en-US" sz="850" dirty="0"/>
          </a:p>
        </p:txBody>
      </p:sp>
      <p:sp>
        <p:nvSpPr>
          <p:cNvPr id="46" name="Text 44"/>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OWNERSHIP — the part nobody else does</a:t>
            </a:r>
            <a:endParaRPr lang="en-US" sz="900" dirty="0"/>
          </a:p>
        </p:txBody>
      </p:sp>
      <p:sp>
        <p:nvSpPr>
          <p:cNvPr id="47" name="Shape 45"/>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48" name="Text 46"/>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Provenance on the VM</a:t>
            </a:r>
            <a:endParaRPr lang="en-US" sz="950" dirty="0"/>
          </a:p>
        </p:txBody>
      </p:sp>
      <p:sp>
        <p:nvSpPr>
          <p:cNvPr id="49" name="Shape 47"/>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Right-size later, citing the request</a:t>
            </a:r>
            <a:endParaRPr lang="en-US" sz="950" dirty="0"/>
          </a:p>
        </p:txBody>
      </p:sp>
      <p:sp>
        <p:nvSpPr>
          <p:cNvPr id="51" name="Shape 49"/>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Enforce the expiry</a:t>
            </a:r>
            <a:endParaRPr lang="en-US" sz="950" dirty="0"/>
          </a:p>
        </p:txBody>
      </p:sp>
      <p:sp>
        <p:nvSpPr>
          <p:cNvPr id="53" name="Shape 51"/>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4" name="Text 52"/>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Health → UC-05's pipeline</a:t>
            </a:r>
            <a:endParaRPr lang="en-US" sz="950" dirty="0"/>
          </a:p>
        </p:txBody>
      </p:sp>
      <p:sp>
        <p:nvSpPr>
          <p:cNvPr id="55" name="Shape 53"/>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6" name="Text 54"/>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7" name="Shape 55"/>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8" name="Text 56"/>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9" name="Shape 57"/>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0" name="Text 58"/>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1" name="Shape 59"/>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2" name="Text 60"/>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3" name="Text 61"/>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97706"/>
                </a:solidFill>
                <a:latin typeface="Inter" pitchFamily="34" charset="0"/>
                <a:ea typeface="Inter" pitchFamily="34" charset="-122"/>
                <a:cs typeface="Inter" pitchFamily="34" charset="-120"/>
              </a:rPr>
              <a:t>Never autonomous — by construction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UC-07</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Document-Driven Application Deployment</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The requirement document IS the deployment</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A requirement document — Word or Markdown, uploaded or pulled straight from Git — becomes a complete, security-hardened, zero-trust application. Structured documents generate deterministically: the same commit produces the same manifests every time. The flow does not stop at “pods are green”.</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DOCUMENT  →  REVIEWED CODE</a:t>
            </a:r>
            <a:endParaRPr lang="en-US" sz="900" dirty="0"/>
          </a:p>
        </p:txBody>
      </p:sp>
      <p:sp>
        <p:nvSpPr>
          <p:cNvPr id="9" name="Shape 7"/>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0" name="Text 8"/>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Requirement doc</a:t>
            </a:r>
            <a:endParaRPr lang="en-US" sz="1050" dirty="0"/>
          </a:p>
        </p:txBody>
      </p:sp>
      <p:sp>
        <p:nvSpPr>
          <p:cNvPr id="11" name="Text 9"/>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template · Git · .docx</a:t>
            </a:r>
            <a:endParaRPr lang="en-US" sz="850" dirty="0"/>
          </a:p>
        </p:txBody>
      </p:sp>
      <p:sp>
        <p:nvSpPr>
          <p:cNvPr id="12" name="Text 10"/>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2743200" y="2569464"/>
            <a:ext cx="2057400" cy="749808"/>
          </a:xfrm>
          <a:prstGeom prst="roundRect">
            <a:avLst>
              <a:gd name="adj" fmla="val 8537"/>
            </a:avLst>
          </a:prstGeom>
          <a:solidFill>
            <a:srgbClr val="DBEAFE"/>
          </a:solidFill>
          <a:ln w="19050">
            <a:solidFill>
              <a:srgbClr val="2563EB"/>
            </a:solidFill>
            <a:prstDash val="solid"/>
          </a:ln>
        </p:spPr>
      </p:sp>
      <p:sp>
        <p:nvSpPr>
          <p:cNvPr id="14" name="Text 12"/>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Deterministic extract</a:t>
            </a:r>
            <a:endParaRPr lang="en-US" sz="1050" dirty="0"/>
          </a:p>
        </p:txBody>
      </p:sp>
      <p:sp>
        <p:nvSpPr>
          <p:cNvPr id="15" name="Text 13"/>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tables → typed intent</a:t>
            </a:r>
            <a:endParaRPr lang="en-US" sz="850" dirty="0"/>
          </a:p>
        </p:txBody>
      </p:sp>
      <p:sp>
        <p:nvSpPr>
          <p:cNvPr id="16" name="Text 14"/>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5074920" y="2569464"/>
            <a:ext cx="2057400" cy="749808"/>
          </a:xfrm>
          <a:prstGeom prst="roundRect">
            <a:avLst>
              <a:gd name="adj" fmla="val 8537"/>
            </a:avLst>
          </a:prstGeom>
          <a:solidFill>
            <a:srgbClr val="EDE9FE"/>
          </a:solidFill>
          <a:ln w="19050">
            <a:solidFill>
              <a:srgbClr val="7C3AED"/>
            </a:solidFill>
            <a:prstDash val="solid"/>
          </a:ln>
        </p:spPr>
      </p:sp>
      <p:sp>
        <p:nvSpPr>
          <p:cNvPr id="18" name="Text 16"/>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LLM lane (prose)</a:t>
            </a:r>
            <a:endParaRPr lang="en-US" sz="1050" dirty="0"/>
          </a:p>
        </p:txBody>
      </p:sp>
      <p:sp>
        <p:nvSpPr>
          <p:cNvPr id="19" name="Text 17"/>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when there are no tables</a:t>
            </a:r>
            <a:endParaRPr lang="en-US" sz="850" dirty="0"/>
          </a:p>
        </p:txBody>
      </p:sp>
      <p:sp>
        <p:nvSpPr>
          <p:cNvPr id="20" name="Text 18"/>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1" name="Shape 19"/>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2" name="Text 20"/>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Generate manifests</a:t>
            </a:r>
            <a:endParaRPr lang="en-US" sz="1050" dirty="0"/>
          </a:p>
        </p:txBody>
      </p:sp>
      <p:sp>
        <p:nvSpPr>
          <p:cNvPr id="23" name="Text 21"/>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zero-trust · secrets · probes</a:t>
            </a:r>
            <a:endParaRPr lang="en-US" sz="850" dirty="0"/>
          </a:p>
        </p:txBody>
      </p:sp>
      <p:sp>
        <p:nvSpPr>
          <p:cNvPr id="24" name="Text 22"/>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5" name="Shape 23"/>
          <p:cNvSpPr/>
          <p:nvPr/>
        </p:nvSpPr>
        <p:spPr>
          <a:xfrm>
            <a:off x="9738360" y="2569464"/>
            <a:ext cx="2057400" cy="749808"/>
          </a:xfrm>
          <a:prstGeom prst="roundRect">
            <a:avLst>
              <a:gd name="adj" fmla="val 8537"/>
            </a:avLst>
          </a:prstGeom>
          <a:solidFill>
            <a:srgbClr val="FEF3C7"/>
          </a:solidFill>
          <a:ln w="19050">
            <a:solidFill>
              <a:srgbClr val="D97706"/>
            </a:solidFill>
            <a:prstDash val="solid"/>
          </a:ln>
        </p:spPr>
      </p:sp>
      <p:sp>
        <p:nvSpPr>
          <p:cNvPr id="26" name="Text 24"/>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Review + scans</a:t>
            </a:r>
            <a:endParaRPr lang="en-US" sz="1050" dirty="0"/>
          </a:p>
        </p:txBody>
      </p:sp>
      <p:sp>
        <p:nvSpPr>
          <p:cNvPr id="27" name="Text 25"/>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editable YAML · CIS · CVE</a:t>
            </a:r>
            <a:endParaRPr lang="en-US" sz="850" dirty="0"/>
          </a:p>
        </p:txBody>
      </p:sp>
      <p:sp>
        <p:nvSpPr>
          <p:cNvPr id="28" name="Shape 26"/>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9" name="Text 27"/>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DEPLOY — THE GATE  ·  server-side dry-run passes first  👤</a:t>
            </a:r>
            <a:endParaRPr lang="en-US" sz="1200" dirty="0"/>
          </a:p>
        </p:txBody>
      </p:sp>
      <p:sp>
        <p:nvSpPr>
          <p:cNvPr id="30" name="Text 28"/>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GOVERN</a:t>
            </a:r>
            <a:endParaRPr lang="en-US" sz="900" dirty="0"/>
          </a:p>
        </p:txBody>
      </p:sp>
      <p:sp>
        <p:nvSpPr>
          <p:cNvPr id="31" name="Shape 29"/>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Server-side apply</a:t>
            </a:r>
            <a:endParaRPr lang="en-US" sz="1050" dirty="0"/>
          </a:p>
        </p:txBody>
      </p:sp>
      <p:sp>
        <p:nvSpPr>
          <p:cNvPr id="33" name="Text 31"/>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created / configured / unchanged</a:t>
            </a:r>
            <a:endParaRPr lang="en-US" sz="850" dirty="0"/>
          </a:p>
        </p:txBody>
      </p:sp>
      <p:sp>
        <p:nvSpPr>
          <p:cNvPr id="34" name="Text 32"/>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4297680" y="4279392"/>
            <a:ext cx="361188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Record + change request</a:t>
            </a:r>
            <a:endParaRPr lang="en-US" sz="1050" dirty="0"/>
          </a:p>
        </p:txBody>
      </p:sp>
      <p:sp>
        <p:nvSpPr>
          <p:cNvPr id="37" name="Text 35"/>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cites the source document</a:t>
            </a:r>
            <a:endParaRPr lang="en-US" sz="850" dirty="0"/>
          </a:p>
        </p:txBody>
      </p:sp>
      <p:sp>
        <p:nvSpPr>
          <p:cNvPr id="38" name="Text 36"/>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40" name="Text 38"/>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Live pod watch</a:t>
            </a:r>
            <a:endParaRPr lang="en-US" sz="1050" dirty="0"/>
          </a:p>
        </p:txBody>
      </p:sp>
      <p:sp>
        <p:nvSpPr>
          <p:cNvPr id="41" name="Text 39"/>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until everything is Ready</a:t>
            </a:r>
            <a:endParaRPr lang="en-US" sz="850" dirty="0"/>
          </a:p>
        </p:txBody>
      </p:sp>
      <p:sp>
        <p:nvSpPr>
          <p:cNvPr id="42" name="Text 40"/>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VERIFICATION PYRAMID — ends at a URL</a:t>
            </a:r>
            <a:endParaRPr lang="en-US" sz="900" dirty="0"/>
          </a:p>
        </p:txBody>
      </p:sp>
      <p:sp>
        <p:nvSpPr>
          <p:cNvPr id="43" name="Shape 41"/>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44" name="Text 42"/>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1 Rollout complete</a:t>
            </a:r>
            <a:endParaRPr lang="en-US" sz="950" dirty="0"/>
          </a:p>
        </p:txBody>
      </p:sp>
      <p:sp>
        <p:nvSpPr>
          <p:cNvPr id="45" name="Shape 43"/>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46" name="Text 44"/>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2 Workloads stable</a:t>
            </a:r>
            <a:endParaRPr lang="en-US" sz="950" dirty="0"/>
          </a:p>
        </p:txBody>
      </p:sp>
      <p:sp>
        <p:nvSpPr>
          <p:cNvPr id="47" name="Shape 45"/>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48" name="Text 46"/>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3 Services wired</a:t>
            </a:r>
            <a:endParaRPr lang="en-US" sz="950" dirty="0"/>
          </a:p>
        </p:txBody>
      </p:sp>
      <p:sp>
        <p:nvSpPr>
          <p:cNvPr id="49" name="Shape 47"/>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4 User can access — Open application</a:t>
            </a:r>
            <a:endParaRPr lang="en-US" sz="950" dirty="0"/>
          </a:p>
        </p:txBody>
      </p:sp>
      <p:sp>
        <p:nvSpPr>
          <p:cNvPr id="51" name="Shape 4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2" name="Text 5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3" name="Shape 5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4" name="Text 5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5" name="Shape 5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6" name="Text 5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7" name="Shape 5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8" name="Text 5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9" name="Text 5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59669"/>
                </a:solidFill>
                <a:latin typeface="Inter" pitchFamily="34" charset="0"/>
                <a:ea typeface="Inter" pitchFamily="34" charset="-122"/>
                <a:cs typeface="Inter" pitchFamily="34" charset="-120"/>
              </a:rPr>
              <a:t>Generation may be creative — verification never is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UC-08</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Configuration Drift Detection &amp; One-Click Rollback</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Know what changed, in words — and put it back</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Continuous watch over cluster configuration. When live state diverges from the recorded baseline, the agent explains the difference in plain language rather than as a raw diff, surfaces the decision, and offers a one-click rollback — then verifies the rollback landed and records the episode for audit.</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WATCH &amp; DETECT</a:t>
            </a:r>
            <a:endParaRPr lang="en-US" sz="900" dirty="0"/>
          </a:p>
        </p:txBody>
      </p:sp>
      <p:sp>
        <p:nvSpPr>
          <p:cNvPr id="9" name="Shape 7"/>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0" name="Text 8"/>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watch</a:t>
            </a:r>
            <a:endParaRPr lang="en-US" sz="1050" dirty="0"/>
          </a:p>
        </p:txBody>
      </p:sp>
      <p:sp>
        <p:nvSpPr>
          <p:cNvPr id="11" name="Text 9"/>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state vs baseline</a:t>
            </a:r>
            <a:endParaRPr lang="en-US" sz="850" dirty="0"/>
          </a:p>
        </p:txBody>
      </p:sp>
      <p:sp>
        <p:nvSpPr>
          <p:cNvPr id="12" name="Text 10"/>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4" name="Text 12"/>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Drift detected</a:t>
            </a:r>
            <a:endParaRPr lang="en-US" sz="1050" dirty="0"/>
          </a:p>
        </p:txBody>
      </p:sp>
      <p:sp>
        <p:nvSpPr>
          <p:cNvPr id="15" name="Text 13"/>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moved, and when</a:t>
            </a:r>
            <a:endParaRPr lang="en-US" sz="850" dirty="0"/>
          </a:p>
        </p:txBody>
      </p:sp>
      <p:sp>
        <p:nvSpPr>
          <p:cNvPr id="16" name="Text 14"/>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8183880" y="2569464"/>
            <a:ext cx="3611880" cy="749808"/>
          </a:xfrm>
          <a:prstGeom prst="roundRect">
            <a:avLst>
              <a:gd name="adj" fmla="val 8537"/>
            </a:avLst>
          </a:prstGeom>
          <a:solidFill>
            <a:srgbClr val="EDE9FE"/>
          </a:solidFill>
          <a:ln w="19050">
            <a:solidFill>
              <a:srgbClr val="7C3AED"/>
            </a:solidFill>
            <a:prstDash val="solid"/>
          </a:ln>
        </p:spPr>
      </p:sp>
      <p:sp>
        <p:nvSpPr>
          <p:cNvPr id="18" name="Text 16"/>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Natural-language diff</a:t>
            </a:r>
            <a:endParaRPr lang="en-US" sz="1050" dirty="0"/>
          </a:p>
        </p:txBody>
      </p:sp>
      <p:sp>
        <p:nvSpPr>
          <p:cNvPr id="19" name="Text 17"/>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explained, not dumped</a:t>
            </a:r>
            <a:endParaRPr lang="en-US" sz="850" dirty="0"/>
          </a:p>
        </p:txBody>
      </p:sp>
      <p:sp>
        <p:nvSpPr>
          <p:cNvPr id="20" name="Shape 1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1" name="Text 1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DECISION SURFACE — KEEP IT, OR ROLL IT BACK  👤</a:t>
            </a:r>
            <a:endParaRPr lang="en-US" sz="1200" dirty="0"/>
          </a:p>
        </p:txBody>
      </p:sp>
      <p:sp>
        <p:nvSpPr>
          <p:cNvPr id="22" name="Text 2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ROLL BACK &amp; PROVE</a:t>
            </a:r>
            <a:endParaRPr lang="en-US" sz="900" dirty="0"/>
          </a:p>
        </p:txBody>
      </p:sp>
      <p:sp>
        <p:nvSpPr>
          <p:cNvPr id="23" name="Shape 21"/>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One-click rollback</a:t>
            </a:r>
            <a:endParaRPr lang="en-US" sz="1050" dirty="0"/>
          </a:p>
        </p:txBody>
      </p:sp>
      <p:sp>
        <p:nvSpPr>
          <p:cNvPr id="25" name="Text 23"/>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baseline restored</a:t>
            </a:r>
            <a:endParaRPr lang="en-US" sz="850" dirty="0"/>
          </a:p>
        </p:txBody>
      </p:sp>
      <p:sp>
        <p:nvSpPr>
          <p:cNvPr id="26" name="Text 24"/>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4297680" y="4279392"/>
            <a:ext cx="3611880" cy="749808"/>
          </a:xfrm>
          <a:prstGeom prst="roundRect">
            <a:avLst>
              <a:gd name="adj" fmla="val 8537"/>
            </a:avLst>
          </a:prstGeom>
          <a:solidFill>
            <a:srgbClr val="D1FAE5"/>
          </a:solidFill>
          <a:ln w="19050">
            <a:solidFill>
              <a:srgbClr val="059669"/>
            </a:solidFill>
            <a:prstDash val="solid"/>
          </a:ln>
        </p:spPr>
      </p:sp>
      <p:sp>
        <p:nvSpPr>
          <p:cNvPr id="28" name="Text 26"/>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Live verification</a:t>
            </a:r>
            <a:endParaRPr lang="en-US" sz="1050" dirty="0"/>
          </a:p>
        </p:txBody>
      </p:sp>
      <p:sp>
        <p:nvSpPr>
          <p:cNvPr id="29" name="Text 27"/>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rollback actually landed</a:t>
            </a:r>
            <a:endParaRPr lang="en-US" sz="850" dirty="0"/>
          </a:p>
        </p:txBody>
      </p:sp>
      <p:sp>
        <p:nvSpPr>
          <p:cNvPr id="30" name="Text 28"/>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Audit recording</a:t>
            </a:r>
            <a:endParaRPr lang="en-US" sz="1050" dirty="0"/>
          </a:p>
        </p:txBody>
      </p:sp>
      <p:sp>
        <p:nvSpPr>
          <p:cNvPr id="33" name="Text 31"/>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whole episode, kept</a:t>
            </a:r>
            <a:endParaRPr lang="en-US" sz="850" dirty="0"/>
          </a:p>
        </p:txBody>
      </p:sp>
      <p:sp>
        <p:nvSpPr>
          <p:cNvPr id="34" name="Shape 32"/>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35" name="Text 33"/>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36" name="Shape 34"/>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37" name="Text 35"/>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38" name="Shape 36"/>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39" name="Text 37"/>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0" name="Shape 38"/>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1" name="Text 39"/>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2" name="Text 40"/>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891B2"/>
                </a:solidFill>
                <a:latin typeface="Inter" pitchFamily="34" charset="0"/>
                <a:ea typeface="Inter" pitchFamily="34" charset="-122"/>
                <a:cs typeface="Inter" pitchFamily="34" charset="-120"/>
              </a:rPr>
              <a:t>Every episode leaves an audit trail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1005840"/>
          </a:xfrm>
          <a:prstGeom prst="rect">
            <a:avLst/>
          </a:prstGeom>
          <a:solidFill>
            <a:srgbClr val="0F172A"/>
          </a:solidFill>
          <a:ln/>
        </p:spPr>
      </p:sp>
      <p:sp>
        <p:nvSpPr>
          <p:cNvPr id="3" name="Text 1"/>
          <p:cNvSpPr/>
          <p:nvPr/>
        </p:nvSpPr>
        <p:spPr>
          <a:xfrm>
            <a:off x="411480" y="164592"/>
            <a:ext cx="1188720" cy="310896"/>
          </a:xfrm>
          <a:prstGeom prst="rect">
            <a:avLst>
              <a:gd name="adj" fmla="val 14706"/>
            </a:avLst>
          </a:prstGeom>
          <a:solidFill>
            <a:srgbClr val="2563EB"/>
          </a:solid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UC-09</a:t>
            </a:r>
            <a:endParaRPr lang="en-US" sz="1300" dirty="0"/>
          </a:p>
        </p:txBody>
      </p:sp>
      <p:sp>
        <p:nvSpPr>
          <p:cNvPr id="4" name="Text 2"/>
          <p:cNvSpPr/>
          <p:nvPr/>
        </p:nvSpPr>
        <p:spPr>
          <a:xfrm>
            <a:off x="1737360" y="128016"/>
            <a:ext cx="10058400" cy="402336"/>
          </a:xfrm>
          <a:prstGeom prst="rect">
            <a:avLst/>
          </a:prstGeom>
          <a:noFill/>
          <a:ln/>
        </p:spPr>
        <p:txBody>
          <a:bodyPr wrap="square" rtlCol="0" anchor="ctr"/>
          <a:lstStyle/>
          <a:p>
            <a:pPr indent="0" marL="0">
              <a:buNone/>
            </a:pPr>
            <a:r>
              <a:rPr lang="en-US" sz="2200" b="1" dirty="0">
                <a:solidFill>
                  <a:srgbClr val="FFFFFF"/>
                </a:solidFill>
                <a:latin typeface="Inter" pitchFamily="34" charset="0"/>
                <a:ea typeface="Inter" pitchFamily="34" charset="-122"/>
                <a:cs typeface="Inter" pitchFamily="34" charset="-120"/>
              </a:rPr>
              <a:t>End-to-End Incident Response</a:t>
            </a:r>
            <a:endParaRPr lang="en-US" sz="2200" dirty="0"/>
          </a:p>
        </p:txBody>
      </p:sp>
      <p:sp>
        <p:nvSpPr>
          <p:cNvPr id="5" name="Text 3"/>
          <p:cNvSpPr/>
          <p:nvPr/>
        </p:nvSpPr>
        <p:spPr>
          <a:xfrm>
            <a:off x="1737360" y="548640"/>
            <a:ext cx="10058400" cy="274320"/>
          </a:xfrm>
          <a:prstGeom prst="rect">
            <a:avLst/>
          </a:prstGeom>
          <a:noFill/>
          <a:ln/>
        </p:spPr>
        <p:txBody>
          <a:bodyPr wrap="square" rtlCol="0" anchor="ctr"/>
          <a:lstStyle/>
          <a:p>
            <a:pPr indent="0" marL="0">
              <a:buNone/>
            </a:pPr>
            <a:r>
              <a:rPr lang="en-US" sz="1100" i="1" dirty="0">
                <a:solidFill>
                  <a:srgbClr val="0891B2"/>
                </a:solidFill>
                <a:latin typeface="Inter" pitchFamily="34" charset="0"/>
                <a:ea typeface="Inter" pitchFamily="34" charset="-122"/>
                <a:cs typeface="Inter" pitchFamily="34" charset="-120"/>
              </a:rPr>
              <a:t>“Why is my pod crashing?” → diagnosis, ticket, and a dry-run fix</a:t>
            </a:r>
            <a:endParaRPr lang="en-US" sz="1100" dirty="0"/>
          </a:p>
        </p:txBody>
      </p:sp>
      <p:sp>
        <p:nvSpPr>
          <p:cNvPr id="6" name="Text 4"/>
          <p:cNvSpPr/>
          <p:nvPr/>
        </p:nvSpPr>
        <p:spPr>
          <a:xfrm>
            <a:off x="411480" y="1170432"/>
            <a:ext cx="11384280" cy="1051560"/>
          </a:xfrm>
          <a:prstGeom prst="rect">
            <a:avLst/>
          </a:prstGeom>
          <a:noFill/>
          <a:ln/>
        </p:spPr>
        <p:txBody>
          <a:bodyPr wrap="square" rtlCol="0" anchor="t"/>
          <a:lstStyle/>
          <a:p>
            <a:pPr indent="0" marL="0">
              <a:lnSpc>
                <a:spcPct val="122000"/>
              </a:lnSpc>
              <a:buNone/>
            </a:pPr>
            <a:r>
              <a:rPr lang="en-US" sz="1250" dirty="0">
                <a:solidFill>
                  <a:srgbClr val="1E293B"/>
                </a:solidFill>
                <a:latin typeface="Inter" pitchFamily="34" charset="0"/>
                <a:ea typeface="Inter" pitchFamily="34" charset="-122"/>
                <a:cs typeface="Inter" pitchFamily="34" charset="-120"/>
              </a:rPr>
              <a:t>A natural-language question triggers the full incident pipeline: the agent recognises the error pattern, diagnoses root cause from parallel cluster queries, assesses severity, creates the ServiceNow incident, and proposes a targeted fix — presented with a dry-run result attached, so the operator approves an action whose effect is already known.</a:t>
            </a:r>
            <a:endParaRPr lang="en-US" sz="1250" dirty="0"/>
          </a:p>
        </p:txBody>
      </p:sp>
      <p:sp>
        <p:nvSpPr>
          <p:cNvPr id="7" name="Text 5"/>
          <p:cNvSpPr/>
          <p:nvPr/>
        </p:nvSpPr>
        <p:spPr>
          <a:xfrm>
            <a:off x="411480" y="2157984"/>
            <a:ext cx="3657600" cy="201168"/>
          </a:xfrm>
          <a:prstGeom prst="rect">
            <a:avLst/>
          </a:prstGeom>
          <a:noFill/>
          <a:ln/>
        </p:spPr>
        <p:txBody>
          <a:bodyPr wrap="square" rtlCol="0" anchor="ctr"/>
          <a:lstStyle/>
          <a:p>
            <a:pPr indent="0" marL="0">
              <a:buNone/>
            </a:pPr>
            <a:r>
              <a:rPr lang="en-US" sz="900" b="1" spc="150" kern="0" dirty="0">
                <a:solidFill>
                  <a:srgbClr val="2563EB"/>
                </a:solidFill>
                <a:latin typeface="Inter" pitchFamily="34" charset="0"/>
                <a:ea typeface="Inter" pitchFamily="34" charset="-122"/>
                <a:cs typeface="Inter" pitchFamily="34" charset="-120"/>
              </a:rPr>
              <a:t>MASTER WORKFLOW</a:t>
            </a:r>
            <a:endParaRPr lang="en-US" sz="900" dirty="0"/>
          </a:p>
        </p:txBody>
      </p:sp>
      <p:sp>
        <p:nvSpPr>
          <p:cNvPr id="8" name="Text 6"/>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QUESTION → DIAGNOSIS</a:t>
            </a:r>
            <a:endParaRPr lang="en-US" sz="900" dirty="0"/>
          </a:p>
        </p:txBody>
      </p:sp>
      <p:sp>
        <p:nvSpPr>
          <p:cNvPr id="9" name="Shape 7"/>
          <p:cNvSpPr/>
          <p:nvPr/>
        </p:nvSpPr>
        <p:spPr>
          <a:xfrm>
            <a:off x="411480" y="2569464"/>
            <a:ext cx="2640330" cy="749808"/>
          </a:xfrm>
          <a:prstGeom prst="roundRect">
            <a:avLst>
              <a:gd name="adj" fmla="val 8537"/>
            </a:avLst>
          </a:prstGeom>
          <a:solidFill>
            <a:srgbClr val="FEF3C7"/>
          </a:solidFill>
          <a:ln w="19050">
            <a:solidFill>
              <a:srgbClr val="D97706"/>
            </a:solidFill>
            <a:prstDash val="solid"/>
          </a:ln>
        </p:spPr>
      </p:sp>
      <p:sp>
        <p:nvSpPr>
          <p:cNvPr id="10" name="Text 8"/>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Question asked</a:t>
            </a:r>
            <a:endParaRPr lang="en-US" sz="1050" dirty="0"/>
          </a:p>
        </p:txBody>
      </p:sp>
      <p:sp>
        <p:nvSpPr>
          <p:cNvPr id="11" name="Text 9"/>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plain language, in chat</a:t>
            </a:r>
            <a:endParaRPr lang="en-US" sz="850" dirty="0"/>
          </a:p>
        </p:txBody>
      </p:sp>
      <p:sp>
        <p:nvSpPr>
          <p:cNvPr id="12" name="Text 10"/>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3" name="Shape 11"/>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4" name="Text 12"/>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Context gathered</a:t>
            </a:r>
            <a:endParaRPr lang="en-US" sz="1050" dirty="0"/>
          </a:p>
        </p:txBody>
      </p:sp>
      <p:sp>
        <p:nvSpPr>
          <p:cNvPr id="15" name="Text 13"/>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parallel cluster queries</a:t>
            </a:r>
            <a:endParaRPr lang="en-US" sz="850" dirty="0"/>
          </a:p>
        </p:txBody>
      </p:sp>
      <p:sp>
        <p:nvSpPr>
          <p:cNvPr id="16" name="Text 14"/>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7" name="Shape 15"/>
          <p:cNvSpPr/>
          <p:nvPr/>
        </p:nvSpPr>
        <p:spPr>
          <a:xfrm>
            <a:off x="6240780" y="2569464"/>
            <a:ext cx="2640330" cy="749808"/>
          </a:xfrm>
          <a:prstGeom prst="roundRect">
            <a:avLst>
              <a:gd name="adj" fmla="val 8537"/>
            </a:avLst>
          </a:prstGeom>
          <a:solidFill>
            <a:srgbClr val="EDE9FE"/>
          </a:solidFill>
          <a:ln w="19050">
            <a:solidFill>
              <a:srgbClr val="7C3AED"/>
            </a:solidFill>
            <a:prstDash val="solid"/>
          </a:ln>
        </p:spPr>
      </p:sp>
      <p:sp>
        <p:nvSpPr>
          <p:cNvPr id="18" name="Text 16"/>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Pod doctor diagnosis</a:t>
            </a:r>
            <a:endParaRPr lang="en-US" sz="1050" dirty="0"/>
          </a:p>
        </p:txBody>
      </p:sp>
      <p:sp>
        <p:nvSpPr>
          <p:cNvPr id="19" name="Text 17"/>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error pattern recognised</a:t>
            </a:r>
            <a:endParaRPr lang="en-US" sz="850" dirty="0"/>
          </a:p>
        </p:txBody>
      </p:sp>
      <p:sp>
        <p:nvSpPr>
          <p:cNvPr id="20" name="Text 18"/>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1" name="Shape 19"/>
          <p:cNvSpPr/>
          <p:nvPr/>
        </p:nvSpPr>
        <p:spPr>
          <a:xfrm>
            <a:off x="9155430" y="2569464"/>
            <a:ext cx="2640330" cy="749808"/>
          </a:xfrm>
          <a:prstGeom prst="roundRect">
            <a:avLst>
              <a:gd name="adj" fmla="val 8537"/>
            </a:avLst>
          </a:prstGeom>
          <a:solidFill>
            <a:srgbClr val="EDE9FE"/>
          </a:solidFill>
          <a:ln w="19050">
            <a:solidFill>
              <a:srgbClr val="7C3AED"/>
            </a:solidFill>
            <a:prstDash val="solid"/>
          </a:ln>
        </p:spPr>
      </p:sp>
      <p:sp>
        <p:nvSpPr>
          <p:cNvPr id="22" name="Text 20"/>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Severity assessed</a:t>
            </a:r>
            <a:endParaRPr lang="en-US" sz="1050" dirty="0"/>
          </a:p>
        </p:txBody>
      </p:sp>
      <p:sp>
        <p:nvSpPr>
          <p:cNvPr id="23" name="Text 21"/>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and urgency</a:t>
            </a:r>
            <a:endParaRPr lang="en-US" sz="850" dirty="0"/>
          </a:p>
        </p:txBody>
      </p:sp>
      <p:sp>
        <p:nvSpPr>
          <p:cNvPr id="24" name="Text 22"/>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TICKET &amp; PROPOSAL</a:t>
            </a:r>
            <a:endParaRPr lang="en-US" sz="900" dirty="0"/>
          </a:p>
        </p:txBody>
      </p:sp>
      <p:sp>
        <p:nvSpPr>
          <p:cNvPr id="25" name="Shape 23"/>
          <p:cNvSpPr/>
          <p:nvPr/>
        </p:nvSpPr>
        <p:spPr>
          <a:xfrm>
            <a:off x="411480" y="3611880"/>
            <a:ext cx="2640330" cy="749808"/>
          </a:xfrm>
          <a:prstGeom prst="roundRect">
            <a:avLst>
              <a:gd name="adj" fmla="val 8537"/>
            </a:avLst>
          </a:prstGeom>
          <a:solidFill>
            <a:srgbClr val="DBEAFE"/>
          </a:solidFill>
          <a:ln w="19050">
            <a:solidFill>
              <a:srgbClr val="2563EB"/>
            </a:solidFill>
            <a:prstDash val="solid"/>
          </a:ln>
        </p:spPr>
      </p:sp>
      <p:sp>
        <p:nvSpPr>
          <p:cNvPr id="26" name="Text 24"/>
          <p:cNvSpPr/>
          <p:nvPr/>
        </p:nvSpPr>
        <p:spPr>
          <a:xfrm>
            <a:off x="46634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ServiceNow INC created</a:t>
            </a:r>
            <a:endParaRPr lang="en-US" sz="1050" dirty="0"/>
          </a:p>
        </p:txBody>
      </p:sp>
      <p:sp>
        <p:nvSpPr>
          <p:cNvPr id="27" name="Text 25"/>
          <p:cNvSpPr/>
          <p:nvPr/>
        </p:nvSpPr>
        <p:spPr>
          <a:xfrm>
            <a:off x="4663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auto-populated from evidence</a:t>
            </a:r>
            <a:endParaRPr lang="en-US" sz="850" dirty="0"/>
          </a:p>
        </p:txBody>
      </p:sp>
      <p:sp>
        <p:nvSpPr>
          <p:cNvPr id="28" name="Text 26"/>
          <p:cNvSpPr/>
          <p:nvPr/>
        </p:nvSpPr>
        <p:spPr>
          <a:xfrm>
            <a:off x="30518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3326130" y="3611880"/>
            <a:ext cx="264033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338099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Smart fix proposed</a:t>
            </a:r>
            <a:endParaRPr lang="en-US" sz="1050" dirty="0"/>
          </a:p>
        </p:txBody>
      </p:sp>
      <p:sp>
        <p:nvSpPr>
          <p:cNvPr id="31" name="Text 29"/>
          <p:cNvSpPr/>
          <p:nvPr/>
        </p:nvSpPr>
        <p:spPr>
          <a:xfrm>
            <a:off x="33809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targeted, not generic</a:t>
            </a:r>
            <a:endParaRPr lang="en-US" sz="850" dirty="0"/>
          </a:p>
        </p:txBody>
      </p:sp>
      <p:sp>
        <p:nvSpPr>
          <p:cNvPr id="32" name="Text 30"/>
          <p:cNvSpPr/>
          <p:nvPr/>
        </p:nvSpPr>
        <p:spPr>
          <a:xfrm>
            <a:off x="59664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6240780" y="3611880"/>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629564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 validation</a:t>
            </a:r>
            <a:endParaRPr lang="en-US" sz="1050" dirty="0"/>
          </a:p>
        </p:txBody>
      </p:sp>
      <p:sp>
        <p:nvSpPr>
          <p:cNvPr id="35" name="Text 33"/>
          <p:cNvSpPr/>
          <p:nvPr/>
        </p:nvSpPr>
        <p:spPr>
          <a:xfrm>
            <a:off x="62956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effect known before approval</a:t>
            </a:r>
            <a:endParaRPr lang="en-US" sz="850" dirty="0"/>
          </a:p>
        </p:txBody>
      </p:sp>
      <p:sp>
        <p:nvSpPr>
          <p:cNvPr id="36" name="Text 34"/>
          <p:cNvSpPr/>
          <p:nvPr/>
        </p:nvSpPr>
        <p:spPr>
          <a:xfrm>
            <a:off x="88811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9155430" y="3611880"/>
            <a:ext cx="2640330" cy="749808"/>
          </a:xfrm>
          <a:prstGeom prst="roundRect">
            <a:avLst>
              <a:gd name="adj" fmla="val 8537"/>
            </a:avLst>
          </a:prstGeom>
          <a:solidFill>
            <a:srgbClr val="FEF3C7"/>
          </a:solidFill>
          <a:ln w="19050">
            <a:solidFill>
              <a:srgbClr val="D97706"/>
            </a:solidFill>
            <a:prstDash val="solid"/>
          </a:ln>
        </p:spPr>
      </p:sp>
      <p:sp>
        <p:nvSpPr>
          <p:cNvPr id="38" name="Text 36"/>
          <p:cNvSpPr/>
          <p:nvPr/>
        </p:nvSpPr>
        <p:spPr>
          <a:xfrm>
            <a:off x="9210294" y="3679363"/>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Fix card — approve</a:t>
            </a:r>
            <a:endParaRPr lang="en-US" sz="1050" dirty="0"/>
          </a:p>
        </p:txBody>
      </p:sp>
      <p:sp>
        <p:nvSpPr>
          <p:cNvPr id="39" name="Text 37"/>
          <p:cNvSpPr/>
          <p:nvPr/>
        </p:nvSpPr>
        <p:spPr>
          <a:xfrm>
            <a:off x="92102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 AI Chat</a:t>
            </a:r>
            <a:endParaRPr lang="en-US" sz="850" dirty="0"/>
          </a:p>
        </p:txBody>
      </p:sp>
      <p:sp>
        <p:nvSpPr>
          <p:cNvPr id="40" name="Shape 38"/>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1" name="Text 39"/>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2" name="Shape 40"/>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3" name="Text 41"/>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4" name="Shape 42"/>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5" name="Text 43"/>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6" name="Shape 44"/>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7" name="Text 45"/>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8" name="Text 46"/>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Question in, governed action out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1965960"/>
            <a:ext cx="10698480" cy="640080"/>
          </a:xfrm>
          <a:prstGeom prst="rect">
            <a:avLst/>
          </a:prstGeom>
          <a:noFill/>
          <a:ln/>
        </p:spPr>
        <p:txBody>
          <a:bodyPr wrap="square" rtlCol="0" anchor="ctr"/>
          <a:lstStyle/>
          <a:p>
            <a:pPr indent="0" marL="0">
              <a:buNone/>
            </a:pPr>
            <a:r>
              <a:rPr lang="en-US" sz="3000" b="1" dirty="0">
                <a:solidFill>
                  <a:srgbClr val="FFFFFF"/>
                </a:solidFill>
                <a:latin typeface="Inter" pitchFamily="34" charset="0"/>
                <a:ea typeface="Inter" pitchFamily="34" charset="-122"/>
                <a:cs typeface="Inter" pitchFamily="34" charset="-120"/>
              </a:rPr>
              <a:t>One platform. One conversational surface. Nine use cases.</a:t>
            </a:r>
            <a:endParaRPr lang="en-US" sz="3000" dirty="0"/>
          </a:p>
        </p:txBody>
      </p:sp>
      <p:sp>
        <p:nvSpPr>
          <p:cNvPr id="3" name="Text 1"/>
          <p:cNvSpPr/>
          <p:nvPr/>
        </p:nvSpPr>
        <p:spPr>
          <a:xfrm>
            <a:off x="731520" y="2788920"/>
            <a:ext cx="10698480" cy="822960"/>
          </a:xfrm>
          <a:prstGeom prst="rect">
            <a:avLst/>
          </a:prstGeom>
          <a:noFill/>
          <a:ln/>
        </p:spPr>
        <p:txBody>
          <a:bodyPr wrap="square" rtlCol="0" anchor="ctr"/>
          <a:lstStyle/>
          <a:p>
            <a:pPr indent="0" marL="0">
              <a:lnSpc>
                <a:spcPct val="130000"/>
              </a:lnSpc>
              <a:buNone/>
            </a:pPr>
            <a:r>
              <a:rPr lang="en-US" sz="1500" dirty="0">
                <a:solidFill>
                  <a:srgbClr val="94A3B8"/>
                </a:solidFill>
                <a:latin typeface="Inter" pitchFamily="34" charset="0"/>
                <a:ea typeface="Inter" pitchFamily="34" charset="-122"/>
                <a:cs typeface="Inter" pitchFamily="34" charset="-120"/>
              </a:rPr>
              <a:t>Every use case shares the same agents, the same governance, and the same rule: the AI reasons and explains — but anything claiming to be true of your cluster is measured, not generated.</a:t>
            </a:r>
            <a:endParaRPr lang="en-US" sz="1500" dirty="0"/>
          </a:p>
        </p:txBody>
      </p:sp>
      <p:sp>
        <p:nvSpPr>
          <p:cNvPr id="4" name="Text 2"/>
          <p:cNvSpPr/>
          <p:nvPr/>
        </p:nvSpPr>
        <p:spPr>
          <a:xfrm>
            <a:off x="731520" y="3794760"/>
            <a:ext cx="10698480" cy="365760"/>
          </a:xfrm>
          <a:prstGeom prst="rect">
            <a:avLst/>
          </a:prstGeom>
          <a:noFill/>
          <a:ln/>
        </p:spPr>
        <p:txBody>
          <a:bodyPr wrap="square" rtlCol="0" anchor="ctr"/>
          <a:lstStyle/>
          <a:p>
            <a:pPr indent="0" marL="0">
              <a:buNone/>
            </a:pPr>
            <a:r>
              <a:rPr lang="en-US" sz="1300" i="1" dirty="0">
                <a:solidFill>
                  <a:srgbClr val="0891B2"/>
                </a:solidFill>
                <a:latin typeface="Inter" pitchFamily="34" charset="0"/>
                <a:ea typeface="Inter" pitchFamily="34" charset="-122"/>
                <a:cs typeface="Inter" pitchFamily="34" charset="-120"/>
              </a:rPr>
              <a:t>Each use case has its own deck, workbook and specification in usecases/ — this file is the map.</a:t>
            </a:r>
            <a:endParaRPr lang="en-US" sz="1300" dirty="0"/>
          </a:p>
        </p:txBody>
      </p:sp>
      <p:sp>
        <p:nvSpPr>
          <p:cNvPr id="5" name="Text 3"/>
          <p:cNvSpPr/>
          <p:nvPr/>
        </p:nvSpPr>
        <p:spPr>
          <a:xfrm>
            <a:off x="731520" y="6035040"/>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TCS Agentic AI for Hybrid Infrastructure  ·  Container &amp; Kubernetes Operations  ·  Tata Consultancy Services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Tata Consultancy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TCS Agentic AI — Use Case Summary</dc:title>
  <dc:subject>One slide per use case: name, description and master workflow</dc:subject>
  <dc:creator>TCS Agentic AI Platform</dc:creator>
  <cp:lastModifiedBy>TCS Agentic AI Platform</cp:lastModifiedBy>
  <cp:revision>1</cp:revision>
  <dcterms:created xsi:type="dcterms:W3CDTF">2026-08-25T08:23:53Z</dcterms:created>
  <dcterms:modified xsi:type="dcterms:W3CDTF">2026-08-25T08:23:53Z</dcterms:modified>
</cp:coreProperties>
</file>