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200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Incident Lifecycle Management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Kubernetes Workloads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reactive troubleshooting into AI-driven resolution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2–4 hours → 45 seconds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760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Demo  |  TCS Agentic AI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2194560" cy="658368"/>
          </a:xfrm>
          <a:prstGeom prst="rect">
            <a:avLst>
              <a:gd name="adj" fmla="val 11111"/>
            </a:avLst>
          </a:prstGeom>
          <a:solidFill>
            <a:srgbClr val="FEF2F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Hours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26080" y="118872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resolve a pod crash in production — across multiple tools, terminals, and teams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2194560" cy="658368"/>
          </a:xfrm>
          <a:prstGeom prst="rect">
            <a:avLst>
              <a:gd name="adj" fmla="val 11111"/>
            </a:avLst>
          </a:prstGeom>
          <a:solidFill>
            <a:srgbClr val="FEF2F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93392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Commands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6080" y="1993392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get, describe, logs, top, events — SREs juggle CLI commands while under pressure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98064"/>
            <a:ext cx="2194560" cy="658368"/>
          </a:xfrm>
          <a:prstGeom prst="rect">
            <a:avLst>
              <a:gd name="adj" fmla="val 11111"/>
            </a:avLst>
          </a:prstGeom>
          <a:solidFill>
            <a:srgbClr val="FE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98064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Correlation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26080" y="2798064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events, metrics, resource specs — each in different tools, no unified view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2194560" cy="658368"/>
          </a:xfrm>
          <a:prstGeom prst="rect">
            <a:avLst>
              <a:gd name="adj" fmla="val 11111"/>
            </a:avLst>
          </a:prstGeom>
          <a:solidFill>
            <a:srgbClr val="FE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0273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26080" y="3602736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depends on senior SRE experience — not scalable, not repeatable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07408"/>
            <a:ext cx="2194560" cy="658368"/>
          </a:xfrm>
          <a:prstGeom prst="rect">
            <a:avLst>
              <a:gd name="adj" fmla="val 11111"/>
            </a:avLst>
          </a:prstGeom>
          <a:solidFill>
            <a:srgbClr val="FE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407408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 Paperwork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926080" y="4407408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incident creation, field population, resolution notes — done after the fix, often incomplete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2194560" cy="658368"/>
          </a:xfrm>
          <a:prstGeom prst="rect">
            <a:avLst>
              <a:gd name="adj" fmla="val 11111"/>
            </a:avLst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12080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Trail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926080" y="521208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state rarely captured — auditors and change management have no forensic evidence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6035040"/>
            <a:ext cx="11064240" cy="502920"/>
          </a:xfrm>
          <a:prstGeom prst="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AI could do all of this in 45 seconds — with full audit trail?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TCS Agentic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3566160" cy="2011680"/>
          </a:xfrm>
          <a:prstGeom prst="rect">
            <a:avLst>
              <a:gd name="adj" fmla="val 5455"/>
            </a:avLst>
          </a:prstGeom>
          <a:solidFill>
            <a:srgbClr val="FEF3C7"/>
          </a:solidFill>
          <a:ln/>
          <a:effectLst>
            <a:outerShdw sx="100000" sy="100000" kx="0" ky="0" algn="bl" rotWithShape="0" blurRad="76200" dist="25400" dir="16200000">
              <a:srgbClr val="C0C0C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Interface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 — "Why is my pod crashing?"  No kubectl commands needed.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280160"/>
            <a:ext cx="3566160" cy="2011680"/>
          </a:xfrm>
          <a:prstGeom prst="rect">
            <a:avLst>
              <a:gd name="adj" fmla="val 5455"/>
            </a:avLst>
          </a:prstGeom>
          <a:solidFill>
            <a:srgbClr val="D1FAE5"/>
          </a:solidFill>
          <a:ln/>
          <a:effectLst>
            <a:outerShdw sx="100000" sy="100000" kx="0" ky="0" algn="bl" rotWithShape="0" blurRad="76200" dist="25400" dir="16200000">
              <a:srgbClr val="C0C0C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06240" y="1417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38912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Investigation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2468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logs, events, metrics from cluster automatically in seconds.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566160" cy="2011680"/>
          </a:xfrm>
          <a:prstGeom prst="rect">
            <a:avLst>
              <a:gd name="adj" fmla="val 5455"/>
            </a:avLst>
          </a:prstGeom>
          <a:solidFill>
            <a:srgbClr val="EDE9FE"/>
          </a:solidFill>
          <a:ln/>
          <a:effectLst>
            <a:outerShdw sx="100000" sy="100000" kx="0" ky="0" algn="bl" rotWithShape="0" blurRad="76200" dist="25400" dir="16200000">
              <a:srgbClr val="C0C0C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0" y="1417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2960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Diagnosis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2468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pattern matching + LLM contextual root cause analysis.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3566160" cy="2011680"/>
          </a:xfrm>
          <a:prstGeom prst="rect">
            <a:avLst>
              <a:gd name="adj" fmla="val 5455"/>
            </a:avLst>
          </a:prstGeom>
          <a:solidFill>
            <a:srgbClr val="CFFAFE"/>
          </a:solidFill>
          <a:ln/>
          <a:effectLst>
            <a:outerShdw sx="100000" sy="100000" kx="0" ky="0" algn="bl" rotWithShape="0" blurRad="76200" dist="25400" dir="16200000">
              <a:srgbClr val="C0C0C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Fix Generation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remediation with restart-aware scaling and risk assessment.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3657600"/>
            <a:ext cx="3566160" cy="2011680"/>
          </a:xfrm>
          <a:prstGeom prst="rect">
            <a:avLst>
              <a:gd name="adj" fmla="val 5455"/>
            </a:avLst>
          </a:prstGeom>
          <a:solidFill>
            <a:srgbClr val="DBEAFE"/>
          </a:solidFill>
          <a:ln/>
          <a:effectLst>
            <a:outerShdw sx="100000" sy="100000" kx="0" ky="0" algn="bl" rotWithShape="0" blurRad="76200" dist="25400" dir="16200000">
              <a:srgbClr val="C0C0C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0624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38912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Integration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9120" y="4846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incidents, populate fields, update work notes, close on resolution.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3657600"/>
            <a:ext cx="3566160" cy="2011680"/>
          </a:xfrm>
          <a:prstGeom prst="rect">
            <a:avLst>
              <a:gd name="adj" fmla="val 5455"/>
            </a:avLst>
          </a:prstGeom>
          <a:solidFill>
            <a:srgbClr val="D1FAE5"/>
          </a:solidFill>
          <a:ln/>
          <a:effectLst>
            <a:outerShdw sx="100000" sy="100000" kx="0" ky="0" algn="bl" rotWithShape="0" blurRad="76200" dist="25400" dir="16200000">
              <a:srgbClr val="C0C0C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0" y="3794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229600" y="4389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Evidence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metrics comparison + incident timeline with MTTR calculation.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217920"/>
            <a:ext cx="11064240" cy="411480"/>
          </a:xfrm>
          <a:prstGeom prst="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62179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in → Full diagnosis + Fix + ServiceNow lifecycle out — in 45 seconds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303520" y="274320"/>
            <a:ext cx="201168" cy="201168"/>
          </a:xfrm>
          <a:prstGeom prst="rect">
            <a:avLst>
              <a:gd name="adj" fmla="val 18182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5559552" y="2194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0" y="274320"/>
            <a:ext cx="201168" cy="201168"/>
          </a:xfrm>
          <a:prstGeom prst="rect">
            <a:avLst>
              <a:gd name="adj" fmla="val 18182"/>
            </a:avLst>
          </a:prstGeom>
          <a:solidFill>
            <a:srgbClr val="EDE9FE"/>
          </a:solidFill>
          <a:ln/>
        </p:spPr>
      </p:sp>
      <p:sp>
        <p:nvSpPr>
          <p:cNvPr id="7" name="Text 5"/>
          <p:cNvSpPr/>
          <p:nvPr/>
        </p:nvSpPr>
        <p:spPr>
          <a:xfrm>
            <a:off x="7388352" y="2194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778240" y="274320"/>
            <a:ext cx="201168" cy="201168"/>
          </a:xfrm>
          <a:prstGeom prst="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9034272" y="2194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424160" y="274320"/>
            <a:ext cx="201168" cy="201168"/>
          </a:xfrm>
          <a:prstGeom prst="rect">
            <a:avLst>
              <a:gd name="adj" fmla="val 18182"/>
            </a:avLst>
          </a:prstGeom>
          <a:solidFill>
            <a:srgbClr val="CFFAFE"/>
          </a:solidFill>
          <a:ln/>
        </p:spPr>
      </p:sp>
      <p:sp>
        <p:nvSpPr>
          <p:cNvPr id="11" name="Text 9"/>
          <p:cNvSpPr/>
          <p:nvPr/>
        </p:nvSpPr>
        <p:spPr>
          <a:xfrm>
            <a:off x="10680192" y="2194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667512"/>
            <a:ext cx="11795760" cy="274320"/>
          </a:xfrm>
          <a:prstGeom prst="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6675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DETECTION &amp; ANALYSIS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960120"/>
            <a:ext cx="2560320" cy="1417320"/>
          </a:xfrm>
          <a:prstGeom prst="rect">
            <a:avLst>
              <a:gd name="adj" fmla="val 6452"/>
            </a:avLst>
          </a:prstGeom>
          <a:solidFill>
            <a:srgbClr val="FEF3C7"/>
          </a:solidFill>
          <a:ln w="2286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05156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051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1033272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Reports Issue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" y="1362456"/>
            <a:ext cx="234086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my pod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mlflow-server crashing?"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 AI Chat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54680" y="960120"/>
            <a:ext cx="2560320" cy="1417320"/>
          </a:xfrm>
          <a:prstGeom prst="rect">
            <a:avLst>
              <a:gd name="adj" fmla="val 6452"/>
            </a:avLst>
          </a:prstGeom>
          <a:solidFill>
            <a:srgbClr val="EDE9FE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05156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1051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93592" y="1033272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Processing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64408" y="1362456"/>
            <a:ext cx="234086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Intent: incident_response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Pod: mlflow-server-xxx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Namespace: auto-detected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0.88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26480" y="960120"/>
            <a:ext cx="2286000" cy="1417320"/>
          </a:xfrm>
          <a:prstGeom prst="rect">
            <a:avLst>
              <a:gd name="adj" fmla="val 6452"/>
            </a:avLst>
          </a:prstGeom>
          <a:solidFill>
            <a:srgbClr val="D1FAE5"/>
          </a:solidFill>
          <a:ln w="2286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05156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051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65392" y="1033272"/>
            <a:ext cx="175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Discovery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1362456"/>
            <a:ext cx="206654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deployment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matchLabels selector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pods in cluster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prefix match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823960" y="960120"/>
            <a:ext cx="3154680" cy="1417320"/>
          </a:xfrm>
          <a:prstGeom prst="rect">
            <a:avLst>
              <a:gd name="adj" fmla="val 6452"/>
            </a:avLst>
          </a:prstGeom>
          <a:solidFill>
            <a:srgbClr val="D1FAE5"/>
          </a:solidFill>
          <a:ln w="2286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15400" y="105156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8915400" y="1051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62872" y="1033272"/>
            <a:ext cx="2624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Collection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33688" y="1362456"/>
            <a:ext cx="293522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(200 lines) + Events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Metrics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380Mi / 512Mi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Restarts: 19 | CrashLoop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61488" y="1632204"/>
            <a:ext cx="24688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35" name="Text 33"/>
          <p:cNvSpPr/>
          <p:nvPr/>
        </p:nvSpPr>
        <p:spPr>
          <a:xfrm>
            <a:off x="2971800" y="1540764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733288" y="1632204"/>
            <a:ext cx="24688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0" y="1540764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430768" y="1632204"/>
            <a:ext cx="24688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39" name="Text 37"/>
          <p:cNvSpPr/>
          <p:nvPr/>
        </p:nvSpPr>
        <p:spPr>
          <a:xfrm>
            <a:off x="8641080" y="1540764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82880" y="2587752"/>
            <a:ext cx="11795760" cy="274320"/>
          </a:xfrm>
          <a:prstGeom prst="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25877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AI DIAGNOSIS &amp; FIX GENERATION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2170664" y="2377440"/>
            <a:ext cx="73152" cy="365760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43" name="Shape 41"/>
          <p:cNvSpPr/>
          <p:nvPr/>
        </p:nvSpPr>
        <p:spPr>
          <a:xfrm>
            <a:off x="-45720" y="2706624"/>
            <a:ext cx="12481560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44" name="Shape 42"/>
          <p:cNvSpPr/>
          <p:nvPr/>
        </p:nvSpPr>
        <p:spPr>
          <a:xfrm>
            <a:off x="-45720" y="2743200"/>
            <a:ext cx="73152" cy="100584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45" name="Text 43"/>
          <p:cNvSpPr/>
          <p:nvPr/>
        </p:nvSpPr>
        <p:spPr>
          <a:xfrm>
            <a:off x="-137160" y="264261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82880" y="2880360"/>
            <a:ext cx="3017520" cy="1417320"/>
          </a:xfrm>
          <a:prstGeom prst="rect">
            <a:avLst>
              <a:gd name="adj" fmla="val 6452"/>
            </a:avLst>
          </a:prstGeom>
          <a:solidFill>
            <a:srgbClr val="EDE9FE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297180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1792" y="295351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Root Cause Analysis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92608" y="3282696"/>
            <a:ext cx="279806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Engine: OOMKilled match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"Memory ceiling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for ML workload"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Resource Exhaustion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611880" y="2880360"/>
            <a:ext cx="2377440" cy="1417320"/>
          </a:xfrm>
          <a:prstGeom prst="rect">
            <a:avLst>
              <a:gd name="adj" fmla="val 6452"/>
            </a:avLst>
          </a:prstGeom>
          <a:solidFill>
            <a:srgbClr val="EDE9FE"/>
          </a:solidFill>
          <a:ln w="22860">
            <a:solidFill>
              <a:srgbClr val="7C3A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03320" y="297180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3" name="Text 51"/>
          <p:cNvSpPr/>
          <p:nvPr/>
        </p:nvSpPr>
        <p:spPr>
          <a:xfrm>
            <a:off x="370332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050792" y="2953512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Fix Calculation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721608" y="3282696"/>
            <a:ext cx="215798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smartMemoryLimit()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512Mi × 5x (19 restarts)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Rounded to 2Gi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Low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400800" y="2880360"/>
            <a:ext cx="2560320" cy="1417320"/>
          </a:xfrm>
          <a:prstGeom prst="rect">
            <a:avLst>
              <a:gd name="adj" fmla="val 6452"/>
            </a:avLst>
          </a:prstGeom>
          <a:solidFill>
            <a:srgbClr val="D1FAE5"/>
          </a:solidFill>
          <a:ln w="22860">
            <a:solidFill>
              <a:srgbClr val="05966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92240" y="297180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8" name="Text 56"/>
          <p:cNvSpPr/>
          <p:nvPr/>
        </p:nvSpPr>
        <p:spPr>
          <a:xfrm>
            <a:off x="649224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39712" y="2953512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510528" y="3282696"/>
            <a:ext cx="234086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INC0012345 created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P2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 in work notes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auto-populated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372600" y="2880360"/>
            <a:ext cx="2606040" cy="1417320"/>
          </a:xfrm>
          <a:prstGeom prst="rect">
            <a:avLst>
              <a:gd name="adj" fmla="val 6452"/>
            </a:avLst>
          </a:prstGeom>
          <a:solidFill>
            <a:srgbClr val="D1FAE5"/>
          </a:solidFill>
          <a:ln w="22860">
            <a:solidFill>
              <a:srgbClr val="05966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64040" y="297180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3" name="Text 61"/>
          <p:cNvSpPr/>
          <p:nvPr/>
        </p:nvSpPr>
        <p:spPr>
          <a:xfrm>
            <a:off x="946404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811512" y="2953512"/>
            <a:ext cx="20756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 Operator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482328" y="3282696"/>
            <a:ext cx="238658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card + Fix proposal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Before-metrics snapshot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/ Dry Run buttons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timeline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218688" y="3552444"/>
            <a:ext cx="24688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67" name="Text 65"/>
          <p:cNvSpPr/>
          <p:nvPr/>
        </p:nvSpPr>
        <p:spPr>
          <a:xfrm>
            <a:off x="3429000" y="3461004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007608" y="3552444"/>
            <a:ext cx="24688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69" name="Text 67"/>
          <p:cNvSpPr/>
          <p:nvPr/>
        </p:nvSpPr>
        <p:spPr>
          <a:xfrm>
            <a:off x="6217920" y="3461004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8979408" y="3552444"/>
            <a:ext cx="24688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71" name="Text 69"/>
          <p:cNvSpPr/>
          <p:nvPr/>
        </p:nvSpPr>
        <p:spPr>
          <a:xfrm>
            <a:off x="9189720" y="3461004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182880" y="4507992"/>
            <a:ext cx="11795760" cy="274320"/>
          </a:xfrm>
          <a:prstGeom prst="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73" name="Text 71"/>
          <p:cNvSpPr/>
          <p:nvPr/>
        </p:nvSpPr>
        <p:spPr>
          <a:xfrm>
            <a:off x="320040" y="45079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REMEDIATION, VALIDATION &amp; CLOSURE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2170664" y="4297680"/>
            <a:ext cx="73152" cy="365760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75" name="Shape 73"/>
          <p:cNvSpPr/>
          <p:nvPr/>
        </p:nvSpPr>
        <p:spPr>
          <a:xfrm>
            <a:off x="-45720" y="4626864"/>
            <a:ext cx="12481560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76" name="Shape 74"/>
          <p:cNvSpPr/>
          <p:nvPr/>
        </p:nvSpPr>
        <p:spPr>
          <a:xfrm>
            <a:off x="-45720" y="4663440"/>
            <a:ext cx="73152" cy="100584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77" name="Text 75"/>
          <p:cNvSpPr/>
          <p:nvPr/>
        </p:nvSpPr>
        <p:spPr>
          <a:xfrm>
            <a:off x="-137160" y="456285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182880" y="4800600"/>
            <a:ext cx="2560320" cy="1417320"/>
          </a:xfrm>
          <a:prstGeom prst="rect">
            <a:avLst>
              <a:gd name="adj" fmla="val 6452"/>
            </a:avLst>
          </a:prstGeom>
          <a:solidFill>
            <a:srgbClr val="FEF3C7"/>
          </a:solidFill>
          <a:ln w="22860">
            <a:solidFill>
              <a:srgbClr val="D9770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4320" y="489204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0" name="Text 78"/>
          <p:cNvSpPr/>
          <p:nvPr/>
        </p:nvSpPr>
        <p:spPr>
          <a:xfrm>
            <a:off x="274320" y="4892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21792" y="4873752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Apply Fix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292608" y="5202936"/>
            <a:ext cx="234086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“Apply Fix”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patch executed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Before-metrics captured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 initiated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3154680" y="4800600"/>
            <a:ext cx="2560320" cy="1417320"/>
          </a:xfrm>
          <a:prstGeom prst="rect">
            <a:avLst>
              <a:gd name="adj" fmla="val 6452"/>
            </a:avLst>
          </a:prstGeom>
          <a:solidFill>
            <a:srgbClr val="CFFAFE"/>
          </a:solidFill>
          <a:ln w="22860">
            <a:solidFill>
              <a:srgbClr val="0891B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246120" y="489204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5" name="Text 83"/>
          <p:cNvSpPr/>
          <p:nvPr/>
        </p:nvSpPr>
        <p:spPr>
          <a:xfrm>
            <a:off x="3246120" y="4892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3593592" y="4873752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Post-Fix Validation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3264408" y="5202936"/>
            <a:ext cx="234086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Pod: Running ✓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Ready: 1/1 ✓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Restarts: 0 (was 19) ✓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120Mi / 2Gi ✓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126480" y="4800600"/>
            <a:ext cx="2743200" cy="1417320"/>
          </a:xfrm>
          <a:prstGeom prst="rect">
            <a:avLst>
              <a:gd name="adj" fmla="val 6452"/>
            </a:avLst>
          </a:prstGeom>
          <a:solidFill>
            <a:srgbClr val="D1FAE5"/>
          </a:solidFill>
          <a:ln w="22860">
            <a:solidFill>
              <a:srgbClr val="05966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217920" y="489204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0" name="Text 88"/>
          <p:cNvSpPr/>
          <p:nvPr/>
        </p:nvSpPr>
        <p:spPr>
          <a:xfrm>
            <a:off x="6217920" y="4892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6565392" y="4873752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Evidence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6236208" y="5202936"/>
            <a:ext cx="252374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512Mi → 2Gi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Restarts: 19 → 0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Ready: false → true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Pods: 1/1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9281160" y="4800600"/>
            <a:ext cx="2697480" cy="1417320"/>
          </a:xfrm>
          <a:prstGeom prst="rect">
            <a:avLst>
              <a:gd name="adj" fmla="val 6452"/>
            </a:avLst>
          </a:prstGeom>
          <a:solidFill>
            <a:srgbClr val="D1FAE5"/>
          </a:solidFill>
          <a:ln w="22860">
            <a:solidFill>
              <a:srgbClr val="05966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372600" y="489204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5" name="Text 93"/>
          <p:cNvSpPr/>
          <p:nvPr/>
        </p:nvSpPr>
        <p:spPr>
          <a:xfrm>
            <a:off x="9372600" y="4892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9720072" y="4873752"/>
            <a:ext cx="216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Resolved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9390888" y="5202936"/>
            <a:ext cx="2478024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INC0012345 closed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notes: before/after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45 seconds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persisted to storage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2761488" y="5472684"/>
            <a:ext cx="24688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99" name="Text 97"/>
          <p:cNvSpPr/>
          <p:nvPr/>
        </p:nvSpPr>
        <p:spPr>
          <a:xfrm>
            <a:off x="2971800" y="5381244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5733288" y="5472684"/>
            <a:ext cx="24688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101" name="Text 99"/>
          <p:cNvSpPr/>
          <p:nvPr/>
        </p:nvSpPr>
        <p:spPr>
          <a:xfrm>
            <a:off x="5943600" y="5381244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02" name="Shape 100"/>
          <p:cNvSpPr/>
          <p:nvPr/>
        </p:nvSpPr>
        <p:spPr>
          <a:xfrm>
            <a:off x="8887968" y="5472684"/>
            <a:ext cx="246888" cy="73152"/>
          </a:xfrm>
          <a:prstGeom prst="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103" name="Text 101"/>
          <p:cNvSpPr/>
          <p:nvPr/>
        </p:nvSpPr>
        <p:spPr>
          <a:xfrm>
            <a:off x="9098280" y="5381244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137160" y="6355080"/>
            <a:ext cx="11887200" cy="384048"/>
          </a:xfrm>
          <a:prstGeom prst="rect">
            <a:avLst>
              <a:gd name="adj" fmla="val 19048"/>
            </a:avLst>
          </a:prstGeom>
          <a:solidFill>
            <a:srgbClr val="0F172A"/>
          </a:solidFill>
          <a:ln/>
        </p:spPr>
      </p:sp>
      <p:sp>
        <p:nvSpPr>
          <p:cNvPr id="105" name="Text 103"/>
          <p:cNvSpPr/>
          <p:nvPr/>
        </p:nvSpPr>
        <p:spPr>
          <a:xfrm>
            <a:off x="137160" y="6355080"/>
            <a:ext cx="1188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→  AI  →  AUTOMATED  →  VALIDATED  →  RESOLVED    |    Total: 45 seconds    |    20 steps, only 3 require human input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— Impact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5029200"/>
          </a:xfrm>
          <a:prstGeom prst="rect">
            <a:avLst>
              <a:gd name="adj" fmla="val 2182"/>
            </a:avLst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Status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755648"/>
            <a:ext cx="2286000" cy="347472"/>
          </a:xfrm>
          <a:prstGeom prst="rect">
            <a:avLst>
              <a:gd name="adj" fmla="val 15789"/>
            </a:avLst>
          </a:prstGeom>
          <a:solidFill>
            <a:srgbClr val="FECAC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7373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CrashLoopBackOff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258568"/>
            <a:ext cx="2286000" cy="347472"/>
          </a:xfrm>
          <a:prstGeom prst="rect">
            <a:avLst>
              <a:gd name="adj" fmla="val 15789"/>
            </a:avLst>
          </a:prstGeom>
          <a:solidFill>
            <a:srgbClr val="FECAC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240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OOMKilled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761488"/>
            <a:ext cx="2286000" cy="347472"/>
          </a:xfrm>
          <a:prstGeom prst="rect">
            <a:avLst>
              <a:gd name="adj" fmla="val 15789"/>
            </a:avLst>
          </a:prstGeom>
          <a:solidFill>
            <a:srgbClr val="FECAC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7432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264408"/>
            <a:ext cx="2286000" cy="347472"/>
          </a:xfrm>
          <a:prstGeom prst="rect">
            <a:avLst>
              <a:gd name="adj" fmla="val 15789"/>
            </a:avLst>
          </a:prstGeom>
          <a:solidFill>
            <a:srgbClr val="FECAC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3246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749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Limit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3767328"/>
            <a:ext cx="2286000" cy="347472"/>
          </a:xfrm>
          <a:prstGeom prst="rect">
            <a:avLst>
              <a:gd name="adj" fmla="val 15789"/>
            </a:avLst>
          </a:prstGeom>
          <a:solidFill>
            <a:srgbClr val="FECACA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37490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4270248"/>
            <a:ext cx="2286000" cy="347472"/>
          </a:xfrm>
          <a:prstGeom prst="rect">
            <a:avLst>
              <a:gd name="adj" fmla="val 15789"/>
            </a:avLst>
          </a:prstGeom>
          <a:solidFill>
            <a:srgbClr val="FECACA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4251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380Mi (74%)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754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Limit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4773168"/>
            <a:ext cx="2286000" cy="347472"/>
          </a:xfrm>
          <a:prstGeom prst="rect">
            <a:avLst>
              <a:gd name="adj" fmla="val 15789"/>
            </a:avLst>
          </a:prstGeom>
          <a:solidFill>
            <a:srgbClr val="FECACA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47548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5257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Pods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0" y="5276088"/>
            <a:ext cx="2286000" cy="347472"/>
          </a:xfrm>
          <a:prstGeom prst="rect">
            <a:avLst>
              <a:gd name="adj" fmla="val 15789"/>
            </a:avLst>
          </a:prstGeom>
          <a:solidFill>
            <a:srgbClr val="FECACA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0" y="52578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3200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</a:t>
            </a:r>
            <a:endParaRPr lang="en-US" sz="4800" dirty="0"/>
          </a:p>
        </p:txBody>
      </p:sp>
      <p:sp>
        <p:nvSpPr>
          <p:cNvPr id="31" name="Shape 29"/>
          <p:cNvSpPr/>
          <p:nvPr/>
        </p:nvSpPr>
        <p:spPr>
          <a:xfrm>
            <a:off x="6400800" y="1097280"/>
            <a:ext cx="5303520" cy="5029200"/>
          </a:xfrm>
          <a:prstGeom prst="rect">
            <a:avLst>
              <a:gd name="adj" fmla="val 2182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0972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120" y="1737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Status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44000" y="1755648"/>
            <a:ext cx="2286000" cy="347472"/>
          </a:xfrm>
          <a:prstGeom prst="rect">
            <a:avLst>
              <a:gd name="adj" fmla="val 15789"/>
            </a:avLst>
          </a:prstGeom>
          <a:solidFill>
            <a:srgbClr val="BBF7D0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0" y="17373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2240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State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44000" y="2258568"/>
            <a:ext cx="2286000" cy="347472"/>
          </a:xfrm>
          <a:prstGeom prst="rect">
            <a:avLst>
              <a:gd name="adj" fmla="val 15789"/>
            </a:avLst>
          </a:prstGeom>
          <a:solidFill>
            <a:srgbClr val="BBF7D0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0" y="22402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7512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144000" y="2761488"/>
            <a:ext cx="2286000" cy="347472"/>
          </a:xfrm>
          <a:prstGeom prst="rect">
            <a:avLst>
              <a:gd name="adj" fmla="val 15789"/>
            </a:avLst>
          </a:prstGeom>
          <a:solidFill>
            <a:srgbClr val="BBF7D0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0" y="27432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7512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144000" y="3264408"/>
            <a:ext cx="2286000" cy="347472"/>
          </a:xfrm>
          <a:prstGeom prst="rect">
            <a:avLst>
              <a:gd name="adj" fmla="val 15789"/>
            </a:avLst>
          </a:prstGeom>
          <a:solidFill>
            <a:srgbClr val="BBF7D0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0" y="32461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75120" y="3749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Limit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144000" y="3767328"/>
            <a:ext cx="2286000" cy="347472"/>
          </a:xfrm>
          <a:prstGeom prst="rect">
            <a:avLst>
              <a:gd name="adj" fmla="val 15789"/>
            </a:avLst>
          </a:prstGeom>
          <a:solidFill>
            <a:srgbClr val="BBF7D0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0" y="37490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2Gi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7512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144000" y="4270248"/>
            <a:ext cx="2286000" cy="347472"/>
          </a:xfrm>
          <a:prstGeom prst="rect">
            <a:avLst>
              <a:gd name="adj" fmla="val 15789"/>
            </a:avLst>
          </a:prstGeom>
          <a:solidFill>
            <a:srgbClr val="BBF7D0"/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0" y="4251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120Mi (6%)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675120" y="4754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Limit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144000" y="4773168"/>
            <a:ext cx="2286000" cy="347472"/>
          </a:xfrm>
          <a:prstGeom prst="rect">
            <a:avLst>
              <a:gd name="adj" fmla="val 15789"/>
            </a:avLst>
          </a:prstGeom>
          <a:solidFill>
            <a:srgbClr val="BBF7D0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0" y="47548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675120" y="5257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Pods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144000" y="5276088"/>
            <a:ext cx="2286000" cy="347472"/>
          </a:xfrm>
          <a:prstGeom prst="rect">
            <a:avLst>
              <a:gd name="adj" fmla="val 15789"/>
            </a:avLst>
          </a:prstGeom>
          <a:solidFill>
            <a:srgbClr val="BBF7D0"/>
          </a:solidFill>
          <a:ln/>
        </p:spPr>
      </p:sp>
      <p:sp>
        <p:nvSpPr>
          <p:cNvPr id="56" name="Text 54"/>
          <p:cNvSpPr/>
          <p:nvPr/>
        </p:nvSpPr>
        <p:spPr>
          <a:xfrm>
            <a:off x="9144000" y="52578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 ✓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Demo — 3-Minute Script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188720" cy="640080"/>
          </a:xfrm>
          <a:prstGeom prst="rect">
            <a:avLst>
              <a:gd name="adj" fmla="val 8571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9786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91640" y="868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Scene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868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pod is crashing in production. Normally takes 2-4 hours. Watch what our AI does."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581912"/>
            <a:ext cx="1188720" cy="640080"/>
          </a:xfrm>
          <a:prstGeom prst="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819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0:20–0:40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9110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91640" y="15819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Question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158191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"Why is my pod mlflow-server crashing?"  Point out: plain English, no kubectl.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295144"/>
            <a:ext cx="1188720" cy="640080"/>
          </a:xfrm>
          <a:prstGeom prst="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29514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0:40–1:10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243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91640" y="2295144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AI Diagnosis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29514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returns root cause (OOMKilled), evidence (logs + events + metrics), severity.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AI collected 3 sources, ran hybrid analysis in 10 seconds."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008376"/>
            <a:ext cx="1188720" cy="640080"/>
          </a:xfrm>
          <a:prstGeom prst="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00837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1:10–1:30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337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91640" y="3008376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Fix Proposal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300837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fix card: 2Gi memory (was 512Mi), data-driven using restart count.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a guess — AI used restart pattern + actual usage to calculate this."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21608"/>
            <a:ext cx="1188720" cy="640080"/>
          </a:xfrm>
          <a:prstGeom prst="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7216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1:30–1:50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0507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691640" y="372160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ServiceNow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0" y="372160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"Incident INC already created automatically — severity, description, AI diagnosis populated. No manual form filling."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434840"/>
            <a:ext cx="1188720" cy="640080"/>
          </a:xfrm>
          <a:prstGeom prst="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4348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1:50–2:20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76402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91640" y="4434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Fix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0480" y="4434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'Apply Fix'. Show before/after: Memory 512Mi→2Gi, Restarts 19→0, Status→Running.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change is evidenced."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5148072"/>
            <a:ext cx="1188720" cy="640080"/>
          </a:xfrm>
          <a:prstGeom prst="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51480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2:20–2:40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547725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691640" y="514807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Timeline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40480" y="514807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timeline: Detection→Diagnosis→Fix→Validated→Resolved.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"MTTR: 45 seconds. ServiceNow incident auto-closed with full audit trail."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5861304"/>
            <a:ext cx="1188720" cy="640080"/>
          </a:xfrm>
          <a:prstGeom prst="rect">
            <a:avLst>
              <a:gd name="adj" fmla="val 8571"/>
            </a:avLst>
          </a:prstGeom>
          <a:solidFill>
            <a:srgbClr val="FEF3C7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58613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2:40–3:00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61904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691640" y="5861304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Strong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840480" y="5861304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question to resolution in 45 seconds. 20 steps, only 3 need human input. Full ITSM lifecycle. That's TCS Agentic AI."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6537960"/>
            <a:ext cx="11430000" cy="201168"/>
          </a:xfrm>
          <a:prstGeom prst="rect">
            <a:avLst>
              <a:gd name="adj" fmla="val 18182"/>
            </a:avLst>
          </a:pr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651967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 Pause after AI diagnosis — let the audience absorb the speed.  End with MTTR for maximum impact.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2926080"/>
          </a:xfrm>
          <a:prstGeom prst="rect">
            <a:avLst>
              <a:gd name="adj" fmla="val 4138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hours → 45 seconds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651760" cy="2926080"/>
          </a:xfrm>
          <a:prstGeom prst="rect">
            <a:avLst>
              <a:gd name="adj" fmla="val 4138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8288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38328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Steps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require human input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645920"/>
            <a:ext cx="2651760" cy="2926080"/>
          </a:xfrm>
          <a:prstGeom prst="rect">
            <a:avLst>
              <a:gd name="adj" fmla="val 4138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288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19+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30936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Phrasings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intent, many expressions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1645920"/>
            <a:ext cx="2651760" cy="2926080"/>
          </a:xfrm>
          <a:prstGeom prst="rect">
            <a:avLst>
              <a:gd name="adj" fmla="val 4138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8288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923544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CLI Commands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35440" y="3566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— no kubectl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029200"/>
            <a:ext cx="2651760" cy="1188720"/>
          </a:xfrm>
          <a:prstGeom prst="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074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ITSM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5623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Lifecycle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5029200"/>
            <a:ext cx="2651760" cy="1188720"/>
          </a:xfrm>
          <a:prstGeom prst="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5074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83280" y="5623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Resolution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5029200"/>
            <a:ext cx="2651760" cy="1188720"/>
          </a:xfrm>
          <a:prstGeom prst="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5074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5623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Support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235440" y="5029200"/>
            <a:ext cx="2651760" cy="1188720"/>
          </a:xfrm>
          <a:prstGeom prst="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5074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35440" y="5623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Across Refresh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937760" y="2377440"/>
            <a:ext cx="2286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6517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Incident Lifecycle Management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365760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Question to Resolution in 45 Seconds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0" y="4754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0" y="57607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 Engineering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Agentic AI — Autonomous Incident Lifecycle Management</dc:title>
  <dc:subject>PptxGenJS Presentation</dc:subject>
  <dc:creator>TCS Agentic AI Platform</dc:creator>
  <cp:lastModifiedBy>TCS Agentic AI Platform</cp:lastModifiedBy>
  <cp:revision>1</cp:revision>
  <dcterms:created xsi:type="dcterms:W3CDTF">2026-06-23T07:13:05Z</dcterms:created>
  <dcterms:modified xsi:type="dcterms:W3CDTF">2026-06-23T07:13:05Z</dcterms:modified>
</cp:coreProperties>
</file>