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35808"/>
            <a:ext cx="12188952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4813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   ·   USE CASE 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1810512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Zero-Touch Incident Command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578608"/>
            <a:ext cx="1097280" cy="292608"/>
          </a:xfrm>
          <a:prstGeom prst="rect">
            <a:avLst>
              <a:gd name="adj" fmla="val 15625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ZTIC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920240" y="2578608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short name for demos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Self-detecting · Self-documenting · Self-closing · Self-reverting incident lifecycle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31520" y="370332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EF3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“Nobody opens the ticket.  Nobody writes the RCA.  Nobody closes it.”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443484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54456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731520" y="50017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touchpoint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944368" y="443484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44368" y="454456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2944368" y="50017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triggers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157216" y="443484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57216" y="454456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5157216" y="50017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thresholds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370064" y="443484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70064" y="454456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7370064" y="50017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Lifecycle states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9582912" y="443484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82912" y="454456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9582912" y="50017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RCA formats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31520" y="589788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 for OpenShift  ·  Autonomous ITSM / AIOps  ·  Tata Consultancy Services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incident effort is administration, not engineering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ZTIC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 · UC-05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EE2E2"/>
          </a:solidFill>
          <a:ln w="15875">
            <a:solidFill>
              <a:srgbClr val="DC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Humans are the trigger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94360" y="198424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happens until an SRE notices. Detection latency is human latency.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33672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EDD5"/>
          </a:solidFill>
          <a:ln w="15875">
            <a:solidFill>
              <a:srgbClr val="EA580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16552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58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RCAs are hand-written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16552" y="198424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20–60 minutes of typing per incident — and quality varies by who was on call.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55864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38744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Closing the ticket is toil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38744" y="198424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Pure administration. Teams spend hours a week closing tickets nobody disputes.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Self-resolved = stale tickets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94360" y="413308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Conditions that fix themselves still need a human to notice and close.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233672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16552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Duplicates everywhere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416552" y="413308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node failure becomes twenty tickets. Correlation is manual.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055864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1F5F9"/>
          </a:solidFill>
          <a:ln w="15875">
            <a:solidFill>
              <a:srgbClr val="64748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38744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gaps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238744" y="413308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rarely captured consistently; auditors find holes.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11480" y="589788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UC-01 answers when a human asks.  UC-05 has no human trigger at all — and closes its own tickets.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ACTORS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does what — AI, automatic, or manual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ZTIC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 · UC-05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explains. Deterministic code acts. A human decides. Claiming “AI does everything” would be inaccurate and less reassuring.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1463040"/>
            <a:ext cx="3611880" cy="1828800"/>
          </a:xfrm>
          <a:prstGeom prst="roundRect">
            <a:avLst>
              <a:gd name="adj" fmla="val 4500"/>
            </a:avLst>
          </a:prstGeom>
          <a:solidFill>
            <a:srgbClr val="EDE9FE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57276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🤖  AI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926080" y="1600200"/>
            <a:ext cx="960120" cy="274320"/>
          </a:xfrm>
          <a:prstGeom prst="rect">
            <a:avLst>
              <a:gd name="adj" fmla="val 1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step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94360" y="1993392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LLM reasoning over gathered evidence — the root-cause narrative, category, 5-Whys, contributing factors and preventive actions.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233672" y="1463040"/>
            <a:ext cx="3611880" cy="1828800"/>
          </a:xfrm>
          <a:prstGeom prst="roundRect">
            <a:avLst>
              <a:gd name="adj" fmla="val 4500"/>
            </a:avLst>
          </a:prstGeom>
          <a:solidFill>
            <a:srgbClr val="DBEAFE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16552" y="157276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⚙️  AUTOMATIC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748272" y="1600200"/>
            <a:ext cx="960120" cy="274320"/>
          </a:xfrm>
          <a:prstGeom prst="rect">
            <a:avLst>
              <a:gd name="adj" fmla="val 13333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steps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416552" y="1993392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Deterministic code. No AI, no human. Detection, correlation, ticketing, fix planning, dry-run, apply, verify, close, ledger.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55864" y="1463040"/>
            <a:ext cx="3611880" cy="1828800"/>
          </a:xfrm>
          <a:prstGeom prst="roundRect">
            <a:avLst>
              <a:gd name="adj" fmla="val 4500"/>
            </a:avLst>
          </a:prstGeom>
          <a:solidFill>
            <a:srgbClr val="FEF3C7"/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38744" y="157276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👤  MANUAL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570464" y="1600200"/>
            <a:ext cx="960120" cy="274320"/>
          </a:xfrm>
          <a:prstGeom prst="rect">
            <a:avLst>
              <a:gd name="adj" fmla="val 13333"/>
            </a:avLst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decision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238744" y="1993392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Requires a person. Approving the fix — plus optional revert, threshold tuning and owning an escalation.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11480" y="3456432"/>
            <a:ext cx="11338560" cy="731520"/>
          </a:xfrm>
          <a:prstGeom prst="roundRect">
            <a:avLst>
              <a:gd name="adj" fmla="val 8750"/>
            </a:avLst>
          </a:prstGeom>
          <a:solidFill>
            <a:srgbClr val="EDE9FE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456432"/>
            <a:ext cx="1102766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21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remediation command is chosen by deterministic rules, NOT by the AI. A language model writes the explanation; a fixed table decides what runs against the cluster — so the AI can be wrong about “why” without ever being able to run the wrong command.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11480" y="43434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lifecycle, coloured by actor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11480" y="4681728"/>
            <a:ext cx="877824" cy="914400"/>
          </a:xfrm>
          <a:prstGeom prst="roundRect">
            <a:avLst>
              <a:gd name="adj" fmla="val 625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1480" y="4754880"/>
            <a:ext cx="8778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⚙️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11480" y="5029200"/>
            <a:ext cx="87782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Detect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1362456" y="4681728"/>
            <a:ext cx="877824" cy="914400"/>
          </a:xfrm>
          <a:prstGeom prst="roundRect">
            <a:avLst>
              <a:gd name="adj" fmla="val 625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62456" y="4754880"/>
            <a:ext cx="8778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⚙️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362456" y="5029200"/>
            <a:ext cx="87782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Correlate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313432" y="4681728"/>
            <a:ext cx="877824" cy="914400"/>
          </a:xfrm>
          <a:prstGeom prst="roundRect">
            <a:avLst>
              <a:gd name="adj" fmla="val 625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4754880"/>
            <a:ext cx="8778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⚙️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2313432" y="5029200"/>
            <a:ext cx="87782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264408" y="4681728"/>
            <a:ext cx="877824" cy="914400"/>
          </a:xfrm>
          <a:prstGeom prst="roundRect">
            <a:avLst>
              <a:gd name="adj" fmla="val 6250"/>
            </a:avLst>
          </a:prstGeom>
          <a:solidFill>
            <a:srgbClr val="EDE9FE"/>
          </a:solidFill>
          <a:ln w="3175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64408" y="4754880"/>
            <a:ext cx="8778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🤖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264408" y="5029200"/>
            <a:ext cx="87782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RCA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215384" y="4681728"/>
            <a:ext cx="877824" cy="914400"/>
          </a:xfrm>
          <a:prstGeom prst="roundRect">
            <a:avLst>
              <a:gd name="adj" fmla="val 625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215384" y="4754880"/>
            <a:ext cx="8778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⚙️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215384" y="5029200"/>
            <a:ext cx="87782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Ticket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166360" y="4681728"/>
            <a:ext cx="877824" cy="914400"/>
          </a:xfrm>
          <a:prstGeom prst="roundRect">
            <a:avLst>
              <a:gd name="adj" fmla="val 625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166360" y="4754880"/>
            <a:ext cx="8778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⚙️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166360" y="5029200"/>
            <a:ext cx="87782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fix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117336" y="4681728"/>
            <a:ext cx="877824" cy="914400"/>
          </a:xfrm>
          <a:prstGeom prst="roundRect">
            <a:avLst>
              <a:gd name="adj" fmla="val 625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117336" y="4754880"/>
            <a:ext cx="8778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⚙️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6117336" y="5029200"/>
            <a:ext cx="87782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Dry-run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7068312" y="4681728"/>
            <a:ext cx="877824" cy="914400"/>
          </a:xfrm>
          <a:prstGeom prst="roundRect">
            <a:avLst>
              <a:gd name="adj" fmla="val 6250"/>
            </a:avLst>
          </a:prstGeom>
          <a:solidFill>
            <a:srgbClr val="FEF3C7"/>
          </a:solidFill>
          <a:ln w="31750">
            <a:solidFill>
              <a:srgbClr val="D9770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068312" y="4754880"/>
            <a:ext cx="8778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👤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7068312" y="5029200"/>
            <a:ext cx="87782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8019288" y="4681728"/>
            <a:ext cx="877824" cy="914400"/>
          </a:xfrm>
          <a:prstGeom prst="roundRect">
            <a:avLst>
              <a:gd name="adj" fmla="val 625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019288" y="4754880"/>
            <a:ext cx="8778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⚙️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8019288" y="5029200"/>
            <a:ext cx="87782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8970264" y="4681728"/>
            <a:ext cx="877824" cy="914400"/>
          </a:xfrm>
          <a:prstGeom prst="roundRect">
            <a:avLst>
              <a:gd name="adj" fmla="val 625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970264" y="4754880"/>
            <a:ext cx="8778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⚙️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8970264" y="5029200"/>
            <a:ext cx="87782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Verify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9921240" y="4681728"/>
            <a:ext cx="877824" cy="914400"/>
          </a:xfrm>
          <a:prstGeom prst="roundRect">
            <a:avLst>
              <a:gd name="adj" fmla="val 625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921240" y="4754880"/>
            <a:ext cx="8778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⚙️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9921240" y="5029200"/>
            <a:ext cx="87782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Close+RCA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10872216" y="4681728"/>
            <a:ext cx="877824" cy="914400"/>
          </a:xfrm>
          <a:prstGeom prst="roundRect">
            <a:avLst>
              <a:gd name="adj" fmla="val 625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872216" y="4754880"/>
            <a:ext cx="8778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⚙️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10872216" y="5029200"/>
            <a:ext cx="87782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Ledger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11480" y="5806440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automatic  ·  1 AI  ·  1 required human decision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411480" y="6144768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Exception paths (no safe fix, verification failure) hand back to a human with the RCA and ticket already prepared.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flow — one human gate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ZTIC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 · UC-05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Blue = automatic · purple = the single AI step · amber = the human.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1600200"/>
            <a:ext cx="1627632" cy="9144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691640"/>
            <a:ext cx="16276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⚙️ Detect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11480" y="2057400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thresholds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dwell time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048256" y="1938528"/>
            <a:ext cx="256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322576" y="1600200"/>
            <a:ext cx="1627632" cy="9144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22576" y="1691640"/>
            <a:ext cx="16276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⚙️ Correlate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22576" y="2057400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 signals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1 incident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959352" y="1938528"/>
            <a:ext cx="256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33672" y="1600200"/>
            <a:ext cx="1627632" cy="914400"/>
          </a:xfrm>
          <a:prstGeom prst="roundRect">
            <a:avLst>
              <a:gd name="adj" fmla="val 8000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33672" y="1691640"/>
            <a:ext cx="16276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🤖 AI RCA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233672" y="2057400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→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narrative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870448" y="1938528"/>
            <a:ext cx="256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44768" y="1600200"/>
            <a:ext cx="1627632" cy="9144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44768" y="1691640"/>
            <a:ext cx="16276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⚙️ Raise INC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144768" y="2057400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reuse if one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already open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781544" y="1938528"/>
            <a:ext cx="256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055864" y="1600200"/>
            <a:ext cx="1627632" cy="9144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55864" y="1691640"/>
            <a:ext cx="16276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⚙️ Plan fix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055864" y="2057400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deterministic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guardrails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9692640" y="1938528"/>
            <a:ext cx="256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966960" y="1600200"/>
            <a:ext cx="1627632" cy="9144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966960" y="1691640"/>
            <a:ext cx="16276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⚙️ Dry-run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9966960" y="2057400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API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?dryRun=All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291840" y="2834640"/>
            <a:ext cx="5577840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31750">
            <a:solidFill>
              <a:srgbClr val="D9770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91840" y="2834640"/>
            <a:ext cx="5577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👤  APPROVE OR REJECT — THE ONLY HUMAN GATE  👤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2286000" y="393192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86000" y="402336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⚙️ Apply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2286000" y="438912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snapshot first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032504" y="4270248"/>
            <a:ext cx="256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297680" y="393192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297680" y="402336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⚙️ Verify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297680" y="438912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poll health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044184" y="4270248"/>
            <a:ext cx="256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309360" y="393192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09360" y="402336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⚙️ Attach RCA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309360" y="438912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HTML + PDF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8055864" y="4270248"/>
            <a:ext cx="256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8321040" y="393192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21040" y="402336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⚙️ Close + ledger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321040" y="438912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RCA in notes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inverse stored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1480" y="5120640"/>
            <a:ext cx="3611880" cy="502920"/>
          </a:xfrm>
          <a:prstGeom prst="roundRect">
            <a:avLst>
              <a:gd name="adj" fmla="val 10909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1480" y="5120640"/>
            <a:ext cx="3611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⚙️ Self-healed → auto-closed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4233672" y="5120640"/>
            <a:ext cx="3611880" cy="502920"/>
          </a:xfrm>
          <a:prstGeom prst="roundRect">
            <a:avLst>
              <a:gd name="adj" fmla="val 10909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233672" y="5120640"/>
            <a:ext cx="3611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👤 No safe fix → escalated (RCA ready)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055864" y="5120640"/>
            <a:ext cx="3611880" cy="502920"/>
          </a:xfrm>
          <a:prstGeom prst="roundRect">
            <a:avLst>
              <a:gd name="adj" fmla="val 10909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055864" y="5120640"/>
            <a:ext cx="3611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👤 Not verified → rolled back, ticket OPEN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411480" y="5852160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Everything before the gate is autonomous. Everything after the gate is autonomous.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/ AFTER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human touchpoints become one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ZTIC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 · UC-05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11480" y="1371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MANUAL TODAY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1480" y="1737360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73736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SRE notices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11480" y="2359152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2359152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Open ticket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11480" y="2980944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980944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Investigate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11480" y="3602736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FEE2E2"/>
          </a:solidFill>
          <a:ln w="15875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3602736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Write RCA by hand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11480" y="4224528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4224528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Apply fix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11480" y="4846320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" y="484632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Verify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11480" y="5468112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FEE2E2"/>
          </a:solidFill>
          <a:ln w="15875">
            <a:solidFill>
              <a:srgbClr val="DC262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5468112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Close ticket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56832" y="1371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UC-05 ZERO-TOUCH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656832" y="1737360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56832" y="173736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Auto-detected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656832" y="2359152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56832" y="2359152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Auto-ticketed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656832" y="2980944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56832" y="2980944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AI RCA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656832" y="3602736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56832" y="3602736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APPROVE ✋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656832" y="4224528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56832" y="4224528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Auto-applied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656832" y="4846320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56832" y="484632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Auto-verified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656832" y="5468112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56832" y="5468112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Auto-closed + RCA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6656832" y="60807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step 4 needs a person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DETECTION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Industry-standard thresholds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ZTIC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 · UC-05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Defaults come from kubernetes-mixin / kube-prometheus — the rules OpenShift already ships. Dwell time = the `for:` clause.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00200"/>
          <a:ext cx="113385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1463040"/>
                <a:gridCol w="5303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Rule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Dwell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Severity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Industry standard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crashLoop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SEV-2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KubePodCrashLooping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oomKilled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 event (30m window)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SEV-2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container OOMKilled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zeroReady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SEV-1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KubeDeploymentReplicasMismatch (0 ready)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replicaMismatch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SEV-3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KubeDeploymentReplicasMismatch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podNotReady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SEV-3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KubePodNotReady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podPending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SEV-3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KubePodNotScheduled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imagePull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SEV-3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KubeContainerWaiting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nodeNotReady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SEV-1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KubeNodeNotReady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nodePressure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SEV-3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KubeNodeMemory/DiskPressure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operatorDegraded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SEV-2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ClusterOperatorDegraded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pvcPending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SEV-3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KubePersistentVolumeClaimPending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pvcFilling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&lt;10% free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SEV-2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KubePersistentVolumeFillingUp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IT'S SAFE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Noise control — what makes autonomy credible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ZTIC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 · UC-05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Without these, enabling auto-ticketing on a real cluster creates a storm on the first scan.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572768"/>
          <a:ext cx="113385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649224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Guard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Purpose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Default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Dwell time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Ignore transient blips and normal rolling deploys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 rule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Causal merge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Every signal on one workload → ONE incident; root cause chosen by precedence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always 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Node cascade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NotReady node taking N pods with it = 1 incident, not N+1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always 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Chronic guard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Already broken &gt;24h when first seen → Problem candidate, not an Incident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24 hours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Activity override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…UNLESS it is still actively restarting — then it is a live incident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Severity floor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Only this severity or worse is auto-ticketed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SEV-2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Rate limit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Rolling ceiling on tickets per hour + circuit breaker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 / hour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Workload signature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Stable across rollouts AND across a changing mix of firing signals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always 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ServiceNow dedup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Reuse an existing open ticket via correlation_id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always 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Recurrence gap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“Recurring” = cleared then returned, not “polled again”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 min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Escalation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3+ recurrences → severity +1, flagged for immediate attention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Protected namespaces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openshift-*, kube-*, default never auto-remediated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always 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11480" y="5577840"/>
            <a:ext cx="11338560" cy="868680"/>
          </a:xfrm>
          <a:prstGeom prst="roundRect">
            <a:avLst>
              <a:gd name="adj" fmla="val 8421"/>
            </a:avLst>
          </a:prstGeom>
          <a:solidFill>
            <a:srgbClr val="D1FAE5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565099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65F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Measured on the live lab cluster:  26 raw symptoms  →  24 correlated detections  →  23 chronic (Problem candidates)  →  1 auto-ticket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48640" y="5998464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478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single ticket was the genuinely new failure. That is the guard set doing its job.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NUMBERS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the guards actually filter out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ZTIC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 · UC-05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Measured on the live lab cluster — this is the most persuasive slide in the deck.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" y="1737360"/>
            <a:ext cx="3108960" cy="1920240"/>
          </a:xfrm>
          <a:prstGeom prst="roundRect">
            <a:avLst>
              <a:gd name="adj" fmla="val 4762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87452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822960" y="26974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SYMPTOMS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5840" y="2999232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threshold breach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found on the cluster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977640" y="251460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4663440" y="1737360"/>
            <a:ext cx="3108960" cy="1920240"/>
          </a:xfrm>
          <a:prstGeom prst="roundRect">
            <a:avLst>
              <a:gd name="adj" fmla="val 4762"/>
            </a:avLst>
          </a:prstGeom>
          <a:solidFill>
            <a:srgbClr val="EDE9FE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187452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4663440" y="26974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DETECTIONS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46320" y="2999232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 correlation and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causal merge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818120" y="251460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8503920" y="1737360"/>
            <a:ext cx="3108960" cy="1920240"/>
          </a:xfrm>
          <a:prstGeom prst="roundRect">
            <a:avLst>
              <a:gd name="adj" fmla="val 4762"/>
            </a:avLst>
          </a:prstGeom>
          <a:solidFill>
            <a:srgbClr val="D1FAE5"/>
          </a:solidFill>
          <a:ln w="38100">
            <a:solidFill>
              <a:srgbClr val="05966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0" y="187452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8503920" y="26974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AUTO-TICKET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686800" y="2999232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 chronic guard,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severity floor, rate limit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11480" y="397764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6072" y="406908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Correlation + causal merge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76072" y="4389120"/>
            <a:ext cx="32918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signal on one workload becomes ONE incident. A NotReady node taking 20 pods with it is 1 ticket, not 21.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233672" y="397764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1F5F9"/>
          </a:solidFill>
          <a:ln w="15875">
            <a:solidFill>
              <a:srgbClr val="64748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98264" y="406908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Chronic guard — 23 filtered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398264" y="4389120"/>
            <a:ext cx="32918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Already broken &gt;24h when first seen → a Problem candidate, not a new Incident. Nobody gets paged for a 10-day-old failure.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8055864" y="397764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0456" y="406908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Severity floor + rate limit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20456" y="4389120"/>
            <a:ext cx="32918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SEV-2 or worse only, max 10 tickets/hour with a circuit breaker.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11480" y="5532120"/>
            <a:ext cx="11338560" cy="731520"/>
          </a:xfrm>
          <a:prstGeom prst="roundRect">
            <a:avLst>
              <a:gd name="adj" fmla="val 8750"/>
            </a:avLst>
          </a:prstGeom>
          <a:solidFill>
            <a:srgbClr val="D1FAE5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553212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65F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Without these guards this cluster would have opened 24 tickets on the first scan. The one that survived was the genuinely new failure — that restraint IS the product.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FAULT = ONE TICKET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layers of duplicate prevention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ZTIC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 · UC-05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Plus deliberately asymmetric handling of tickets we did not raise.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1554480"/>
            <a:ext cx="11338560" cy="1051560"/>
          </a:xfrm>
          <a:prstGeom prst="roundRect">
            <a:avLst>
              <a:gd name="adj" fmla="val 6957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1828800"/>
            <a:ext cx="502920" cy="5029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1682496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Causal merge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97680" y="1700784"/>
            <a:ext cx="7223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workload that is OOMKilled AND crash-looping AND at 0/1 replicas is ONE incident. Root cause chosen by precedence (OOM explains the crash loop), the rest folded in as symptoms.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11480" y="2724912"/>
            <a:ext cx="11338560" cy="1051560"/>
          </a:xfrm>
          <a:prstGeom prst="roundRect">
            <a:avLst>
              <a:gd name="adj" fmla="val 6957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" y="2999232"/>
            <a:ext cx="502920" cy="5029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" y="29992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80160" y="285292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Workload signature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297680" y="2871216"/>
            <a:ext cx="7223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dedup key is the workload, not the rule — so the signature survives rollouts AND a changing mix of firing signals. No second ticket when the OOM window lapses.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11480" y="3895344"/>
            <a:ext cx="11338560" cy="1051560"/>
          </a:xfrm>
          <a:prstGeom prst="roundRect">
            <a:avLst>
              <a:gd name="adj" fmla="val 6957"/>
            </a:avLst>
          </a:prstGeom>
          <a:solidFill>
            <a:srgbClr val="CFFAFE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1792" y="4169664"/>
            <a:ext cx="502920" cy="50292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" y="416966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40233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ServiceNow correlation_id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297680" y="4041648"/>
            <a:ext cx="7223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creating, we query ServiceNow for an open incident with the same correlation_id and ATTACH to it. Holds even if our own state was lost to a pod restart.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11480" y="51663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duplicates already exist: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11480" y="5486400"/>
            <a:ext cx="5577840" cy="868680"/>
          </a:xfrm>
          <a:prstGeom prst="roundRect">
            <a:avLst>
              <a:gd name="adj" fmla="val 7368"/>
            </a:avLst>
          </a:prstGeom>
          <a:solidFill>
            <a:srgbClr val="CFFAFE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6072" y="555955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Tickets WE raised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76072" y="5833872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 as children of the primary, then closed as Duplicate pointing at it (opt-in setting).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53912" y="5486400"/>
            <a:ext cx="5577840" cy="868680"/>
          </a:xfrm>
          <a:prstGeom prst="roundRect">
            <a:avLst>
              <a:gd name="adj" fmla="val 7368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18504" y="555955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Tickets a HUMAN raised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318504" y="5833872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 and work-noted “review and close” — but NEVER closed automatically. They may hold context we would destroy.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ROOT-CAUSE ANALYSIS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Evidence-grounded, not a label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ZTIC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 · UC-05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Logs and events are fenced as untrusted data — prompt-injection safe.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1645920"/>
            <a:ext cx="212140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645920"/>
            <a:ext cx="212140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Container logs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(incl. previous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terminated instance)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06624" y="1645920"/>
            <a:ext cx="212140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06624" y="1645920"/>
            <a:ext cx="212140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Warning events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the object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001768" y="1645920"/>
            <a:ext cx="212140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01768" y="1645920"/>
            <a:ext cx="212140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Resource limits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&amp; requests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296912" y="1645920"/>
            <a:ext cx="212140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96912" y="1645920"/>
            <a:ext cx="212140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Restart counts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&amp; exit codes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592056" y="1645920"/>
            <a:ext cx="212140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92056" y="1645920"/>
            <a:ext cx="212140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Known-error KB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matches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11480" y="260604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  fed to the LLM  ▼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2971800"/>
            <a:ext cx="5577840" cy="475488"/>
          </a:xfrm>
          <a:prstGeom prst="roundRect">
            <a:avLst>
              <a:gd name="adj" fmla="val 9615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297180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21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Root cause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468880" y="2971800"/>
            <a:ext cx="3429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precise sentence citing the evidence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153912" y="2971800"/>
            <a:ext cx="5577840" cy="475488"/>
          </a:xfrm>
          <a:prstGeom prst="roundRect">
            <a:avLst>
              <a:gd name="adj" fmla="val 9615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91072" y="297180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21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Category + confidence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211312" y="2971800"/>
            <a:ext cx="3429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Memory Exhaustion / App Bug / … · high|medium|low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11480" y="3538728"/>
            <a:ext cx="5577840" cy="475488"/>
          </a:xfrm>
          <a:prstGeom prst="roundRect">
            <a:avLst>
              <a:gd name="adj" fmla="val 9615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3538728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21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Detailed analysis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468880" y="3538728"/>
            <a:ext cx="3429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3–5 sentences explaining WHY, referencing log lines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153912" y="3538728"/>
            <a:ext cx="5577840" cy="475488"/>
          </a:xfrm>
          <a:prstGeom prst="roundRect">
            <a:avLst>
              <a:gd name="adj" fmla="val 9615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91072" y="3538728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21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5-Whys causal chain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211312" y="3538728"/>
            <a:ext cx="3429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Symptom → … → Root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11480" y="4105656"/>
            <a:ext cx="5577840" cy="475488"/>
          </a:xfrm>
          <a:prstGeom prst="roundRect">
            <a:avLst>
              <a:gd name="adj" fmla="val 9615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4105656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21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Contributing factors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468880" y="4105656"/>
            <a:ext cx="3429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made it possible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153912" y="4105656"/>
            <a:ext cx="5577840" cy="475488"/>
          </a:xfrm>
          <a:prstGeom prst="roundRect">
            <a:avLst>
              <a:gd name="adj" fmla="val 9615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91072" y="4105656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21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assessment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211312" y="4105656"/>
            <a:ext cx="3429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Who/what is affected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11480" y="4672584"/>
            <a:ext cx="5577840" cy="475488"/>
          </a:xfrm>
          <a:prstGeom prst="roundRect">
            <a:avLst>
              <a:gd name="adj" fmla="val 9615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8640" y="4672584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21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Investigation steps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2468880" y="4672584"/>
            <a:ext cx="3429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to confirm if it recurs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153912" y="4672584"/>
            <a:ext cx="5577840" cy="475488"/>
          </a:xfrm>
          <a:prstGeom prst="roundRect">
            <a:avLst>
              <a:gd name="adj" fmla="val 9615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291072" y="4672584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21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Preventive actions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8211312" y="4672584"/>
            <a:ext cx="3429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 to stop recurrence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11480" y="553212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48640" y="553212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Bounded: 35s AI / 20s evidence soft timeout. If the LLM is slow or absent the RCA still renders from the deterministic engine — and says so.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DELIVERABLE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RCA document — ITIL 4 · Google SRE · NIST SP 800-61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ZTIC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 · UC-05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Delivered three ways, so it reaches the ticket, the browser and the archive.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1371600"/>
            <a:ext cx="3611880" cy="777240"/>
          </a:xfrm>
          <a:prstGeom prst="roundRect">
            <a:avLst>
              <a:gd name="adj" fmla="val 9412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463040"/>
            <a:ext cx="3611880" cy="4274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Plain text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11480" y="1760220"/>
            <a:ext cx="3611880" cy="3264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ServiceNow close_notes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GUARANTEED record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33672" y="1371600"/>
            <a:ext cx="3611880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33672" y="1463040"/>
            <a:ext cx="3611880" cy="4274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HTML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233672" y="1760220"/>
            <a:ext cx="3611880" cy="3264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Attached to the incident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View RCA in console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055864" y="1371600"/>
            <a:ext cx="3611880" cy="777240"/>
          </a:xfrm>
          <a:prstGeom prst="roundRect">
            <a:avLst>
              <a:gd name="adj" fmla="val 9412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55864" y="1463040"/>
            <a:ext cx="3611880" cy="4274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PDF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055864" y="1760220"/>
            <a:ext cx="3611880" cy="3264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Attached to the incident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archival / auditors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11480" y="2212848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Attached BEFORE closing — many ServiceNow configurations refuse attachments on closed records. Attachment is best-effort: a failure never costs the text record.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11480" y="2606040"/>
            <a:ext cx="11338560" cy="347472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260604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Summary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017520" y="2606040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Title, severity, cluster, scope, detecting threshold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1480" y="2990088"/>
            <a:ext cx="113385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2990088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Impact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17520" y="2990088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Symptoms, correlation, recurrence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11480" y="3374136"/>
            <a:ext cx="11338560" cy="347472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3374136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Timeline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17520" y="3374136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 computed MTTD / MTTA / MTTR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11480" y="3758184"/>
            <a:ext cx="113385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3758184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Root cause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017520" y="3758184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Category, confidence, provenance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11480" y="4142232"/>
            <a:ext cx="11338560" cy="347472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1422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4.1–4.5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017520" y="4142232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analysis · impact · 5-Whys · contributing factors · recommendation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11480" y="4526280"/>
            <a:ext cx="113385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" y="452628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Evidence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017520" y="4526280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Threshold obs · resource config · log excerpts · events · KB matches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11480" y="4910328"/>
            <a:ext cx="11338560" cy="347472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6928" y="4910328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Resolution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017520" y="4910328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Action, command, rationale, approver, dry-run + apply output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11480" y="5294376"/>
            <a:ext cx="113385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6928" y="5294376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Verification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017520" y="5294376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Proof the workload actually recovered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11480" y="5678424"/>
            <a:ext cx="11338560" cy="347472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66928" y="5678424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 CAPA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017520" y="5678424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AI-proposed preventive actions first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11480" y="6062472"/>
            <a:ext cx="113385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66928" y="606247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 Notes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3017520" y="6062472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Blameless review statement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incident closes with the same audit-grade document — regardless of who was on call.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REMEDIATION &amp; SAFETY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safe action per signal — everything else escalates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ZTIC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 · UC-05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508760"/>
          <a:ext cx="1133856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754880"/>
                <a:gridCol w="118872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Signal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Automated action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Risk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Reversible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CrashLoop / NotReady / ZeroReady / ReplicaMismatch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rollout restart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OOMKilled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set resources --limits=memory (DOUBLED, never a bare restart)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PVC filling 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patch pvc expand +50% (allowVolumeExpansion validated)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Node NotReady · Operator Degraded · PVC Pending · ImagePull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none — escalate to a human with RCA + ticket ready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11480" y="3840480"/>
            <a:ext cx="3611880" cy="914400"/>
          </a:xfrm>
          <a:prstGeom prst="roundRect">
            <a:avLst>
              <a:gd name="adj" fmla="val 7000"/>
            </a:avLst>
          </a:prstGeom>
          <a:solidFill>
            <a:srgbClr val="CFFAFE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3931920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5E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Two-flag interlock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48640" y="4251960"/>
            <a:ext cx="33375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Detection (read-only) separate from action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233672" y="3840480"/>
            <a:ext cx="3611880" cy="914400"/>
          </a:xfrm>
          <a:prstGeom prst="roundRect">
            <a:avLst>
              <a:gd name="adj" fmla="val 7000"/>
            </a:avLst>
          </a:prstGeom>
          <a:solidFill>
            <a:srgbClr val="CFFAFE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70832" y="3931920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5E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Shadow mode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4370832" y="4251960"/>
            <a:ext cx="33375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See what WOULD happen before granting autonomy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55864" y="3840480"/>
            <a:ext cx="3611880" cy="914400"/>
          </a:xfrm>
          <a:prstGeom prst="roundRect">
            <a:avLst>
              <a:gd name="adj" fmla="val 7000"/>
            </a:avLst>
          </a:prstGeom>
          <a:solidFill>
            <a:srgbClr val="CFFAFE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93024" y="3931920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5E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Mandatory dry-run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8193024" y="4251960"/>
            <a:ext cx="33375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fix previewed with ?dryRun=All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11480" y="4892040"/>
            <a:ext cx="3611880" cy="914400"/>
          </a:xfrm>
          <a:prstGeom prst="roundRect">
            <a:avLst>
              <a:gd name="adj" fmla="val 7000"/>
            </a:avLst>
          </a:prstGeom>
          <a:solidFill>
            <a:srgbClr val="CFFAFE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8640" y="4983480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5E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Verification gate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548640" y="5303520"/>
            <a:ext cx="33375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Unverified → rolled back, ticket left OPEN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233672" y="4892040"/>
            <a:ext cx="3611880" cy="914400"/>
          </a:xfrm>
          <a:prstGeom prst="roundRect">
            <a:avLst>
              <a:gd name="adj" fmla="val 7000"/>
            </a:avLst>
          </a:prstGeom>
          <a:solidFill>
            <a:srgbClr val="CFFAFE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370832" y="4983480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5E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Injection defense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370832" y="5303520"/>
            <a:ext cx="33375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Logs fenced as data, never instructions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8055864" y="4892040"/>
            <a:ext cx="3611880" cy="914400"/>
          </a:xfrm>
          <a:prstGeom prst="roundRect">
            <a:avLst>
              <a:gd name="adj" fmla="val 7000"/>
            </a:avLst>
          </a:prstGeom>
          <a:solidFill>
            <a:srgbClr val="CFFAFE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193024" y="4983480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5E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audit trail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8193024" y="5303520"/>
            <a:ext cx="33375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state transition logged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411480" y="6035040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a false success: if the fix cannot be verified, the incident escalates and the ticket stays open.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PROVENANCE &amp; UNDO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Ledger — every mutation, with an inverse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ZTIC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 · UC-05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inverse is computed and stored AT APPLY TIME — once memory is patched the old value is gone from the cluster.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1600200"/>
            <a:ext cx="2084832" cy="9144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691640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Capture prior value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11480" y="2057400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memory 389Mi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505456" y="1938528"/>
            <a:ext cx="201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06624" y="1600200"/>
            <a:ext cx="2084832" cy="914400"/>
          </a:xfrm>
          <a:prstGeom prst="roundRect">
            <a:avLst>
              <a:gd name="adj" fmla="val 8000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06624" y="1691640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Compute inverse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706624" y="2057400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…limits=memory=389Mi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800600" y="1938528"/>
            <a:ext cx="201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01768" y="1600200"/>
            <a:ext cx="2084832" cy="914400"/>
          </a:xfrm>
          <a:prstGeom prst="roundRect">
            <a:avLst>
              <a:gd name="adj" fmla="val 8000"/>
            </a:avLst>
          </a:prstGeom>
          <a:solidFill>
            <a:srgbClr val="CFFAFE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01768" y="1691640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in ledger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001768" y="2057400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90-day retention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95744" y="1938528"/>
            <a:ext cx="201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296912" y="1600200"/>
            <a:ext cx="2084832" cy="9144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96912" y="1691640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▷ Dry-run revert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296912" y="2057400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preview, no change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390888" y="1938528"/>
            <a:ext cx="201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592056" y="1600200"/>
            <a:ext cx="2084832" cy="91440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592056" y="1691640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↩ Revert + verify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9592056" y="2057400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 ledger entry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788920"/>
          <a:ext cx="113385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017520"/>
                <a:gridCol w="5669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Action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Revertable?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increase_memory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65F4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 — exact inverse patch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prior limit was captured at apply time, so it can be restored precisely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rollout_restart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 — nothing to revert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rolling restart changes no configuration; only pods were recreated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expand_pvc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 — physically impossible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Kubernetes cannot shrink a PersistentVolumeClaim; expansion is one-way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(no captured value)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Native rollout undo offered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Falls back to `oc rollout undo`, which restores the whole prior pod template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Shape 25"/>
          <p:cNvSpPr/>
          <p:nvPr/>
        </p:nvSpPr>
        <p:spPr>
          <a:xfrm>
            <a:off x="411480" y="480060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EE2E2"/>
          </a:solidFill>
          <a:ln w="15875">
            <a:solidFill>
              <a:srgbClr val="DC2626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76072" y="48920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revert is a change</a:t>
            </a:r>
            <a:endParaRPr lang="en-US" sz="1150" dirty="0"/>
          </a:p>
        </p:txBody>
      </p:sp>
      <p:sp>
        <p:nvSpPr>
          <p:cNvPr id="30" name="Text 27"/>
          <p:cNvSpPr/>
          <p:nvPr/>
        </p:nvSpPr>
        <p:spPr>
          <a:xfrm>
            <a:off x="576072" y="52120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governance as the original fix: classify → mandatory dry-run → apply → verify → work-note the incident.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4233672" y="480060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398264" y="48920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not always rollout undo?</a:t>
            </a:r>
            <a:endParaRPr lang="en-US" sz="1150" dirty="0"/>
          </a:p>
        </p:txBody>
      </p:sp>
      <p:sp>
        <p:nvSpPr>
          <p:cNvPr id="33" name="Text 30"/>
          <p:cNvSpPr/>
          <p:nvPr/>
        </p:nvSpPr>
        <p:spPr>
          <a:xfrm>
            <a:off x="4398264" y="52120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Undo restores the ENTIRE prior template and would silently discard unrelated changes made since. The inverse patch undoes exactly what we did.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8055864" y="480060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CFFAFE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220456" y="48920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Reverts are reversible</a:t>
            </a:r>
            <a:endParaRPr lang="en-US" sz="1150" dirty="0"/>
          </a:p>
        </p:txBody>
      </p:sp>
      <p:sp>
        <p:nvSpPr>
          <p:cNvPr id="36" name="Text 33"/>
          <p:cNvSpPr/>
          <p:nvPr/>
        </p:nvSpPr>
        <p:spPr>
          <a:xfrm>
            <a:off x="8220456" y="52120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revert is recorded with revertOf → the original, so the chain is complete and a revert can itself be reverted.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411480" y="635508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Surfaced as “History — applied changes” in AI Intelligence, with a before → after diff on every entry.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VALUE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time actually goes back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ZTIC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 · UC-05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508760"/>
          <a:ext cx="113385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206240"/>
                <a:gridCol w="3840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Metric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Manual today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UC-05 Zero-Touch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Detection → ticket raised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Minutes to hours (a human must notice)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65F4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Seconds — no human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RCA authoring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20–60 min hand-written, quality varies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65F4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Automatic, evidence-grounded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Ticket closure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Manual, frequently deferred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65F4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Automatic, with RCA attached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Self-resolved conditions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Stale tickets closed by hand later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65F4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Self-closing, marked self-healed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Duplicate tickets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One node failure → many tickets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65F4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Deduped by stable signature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Undoing a change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Manual archaeology through kubectl history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65F4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One-click ledgered revert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Human touchpoints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≈ 6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65F4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— approve the fix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Audit evidence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Inconsistent between engineers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65F4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Same standard RCA every time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11480" y="5760720"/>
            <a:ext cx="11338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differentiator: other automation stops at “alert raised”. UC-05 also writes the RCA and closes the ticket.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Five-minute walkthrough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ZTIC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 · UC-05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17320"/>
          <a:ext cx="113385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023360"/>
                <a:gridCol w="6766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Action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to say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 Intelligence → Auto-Detect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“Nobody asked. 24 detections from 26 correlated symptoms.”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Point at CHRONIC 23 / ELIGIBLE 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“It refuses to page for things broken 10 days. That restraint is the product.”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Toggle Actionable / Chronic filter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“One actionable item, not 24 — the queue tells the truth.”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Open ⚙ Automation Settings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Autonomous toggle, ServiceNow queue, thresholds — no redeploy.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Break something live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genuinely new failure — the only kind that should page.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Wait one detection cycle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Incident appears auto-raised with INC number + ITIL priority.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Read the AI RCA on the card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Category, confidence, causal chain, real log lines, container name.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Click ▷ Dry-run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Previewed against the live API server — nothing changed.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Click ✅ Apply Fix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Terminal transcript + BEFORE/AFTER container table appear.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Open the ticket in ServiceNow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HTML + PDF attached, full RCA in close notes, MTTR.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History — applied changes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before → after diff, then ↩ Revert with its own dry-run.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Optional: let one self-heal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Incident closes itself, marked self-healed.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Configuration &amp; rollout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ZTIC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 · UC-05</a:t>
            </a:r>
            <a:endParaRPr lang="en-US" sz="7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17320"/>
          <a:ext cx="11338560" cy="914400"/>
        </p:xfrm>
        <a:graphic>
          <a:graphicData uri="http://schemas.openxmlformats.org/drawingml/2006/table">
            <a:tbl>
              <a:tblPr/>
              <a:tblGrid>
                <a:gridCol w="5852160"/>
                <a:gridCol w="3108960"/>
                <a:gridCol w="2377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Setting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Default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Configurable in UI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Detection on/off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 (read-only)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Autonomous action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OFF — deliberate interlock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ServiceNow assignment group (admin queue)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instance default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Chronic window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24 hours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Severity floor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SEV-2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Ticket rate limit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 / hour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Self-heal confirm scans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Attach RCA report (HTML + PDF)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Auto-close duplicate tickets we raised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OFF — opt-in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Treat actively-failing workloads as live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Escalate after N recurrences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Env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Change-ledger retention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90 days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Env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Scan interval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 minutes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Env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11480" y="4892040"/>
            <a:ext cx="5577840" cy="1508760"/>
          </a:xfrm>
          <a:prstGeom prst="roundRect">
            <a:avLst>
              <a:gd name="adj" fmla="val 4242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9834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F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Verified by automated harness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66928" y="5266944"/>
            <a:ext cx="53035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0478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Causal merge (3 signals → 1 ticket) · signature stability · chronic guard + activity override · restart-rate detection · escalation on 3rd episode · name derivation · full happy path · dry-run precedes apply · failed verification escalates without closing · duplicate asymmetry · attachment degrades safely · ledger inverse + revert chain · rollout undo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172200" y="4892040"/>
            <a:ext cx="5577840" cy="1508760"/>
          </a:xfrm>
          <a:prstGeom prst="roundRect">
            <a:avLst>
              <a:gd name="adj" fmla="val 4242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27648" y="49834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Requires live validation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327648" y="5266944"/>
            <a:ext cx="53035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real ServiceNow auto-raise and close against the customer instance. AI RCA depth depends on the configured LLM being reachable from the pod.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Recommended: run in shadow mode for one cycle, confirm the chronic/eligible split, then enable autonomous action.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0299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233172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Zero-Touch Incident Command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294436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ZTIC  ·  UC-05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3273552"/>
            <a:ext cx="292608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93008"/>
            <a:ext cx="10607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FEF3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Nobody opens the ticket.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FEF3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Nobody writes the RCA.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FEF3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Nobody closes it.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FEF3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every change can be undone.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31520" y="516636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only thing a human decides is whether to apply the fix.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594360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 for OpenShift  ·  Tata Consultancy Services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Tata Consultancy Services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TCS Agentic AI — Zero-Touch Incident Command (ZTIC) · UC-05</dc:title>
  <dc:subject>ZTIC — autonomous incident lifecycle for OpenShift</dc:subject>
  <dc:creator>TCS Agentic AI Platform</dc:creator>
  <cp:lastModifiedBy>TCS Agentic AI Platform</cp:lastModifiedBy>
  <cp:revision>1</cp:revision>
  <dcterms:created xsi:type="dcterms:W3CDTF">2026-07-28T09:30:30Z</dcterms:created>
  <dcterms:modified xsi:type="dcterms:W3CDTF">2026-07-28T09:30:30Z</dcterms:modified>
</cp:coreProperties>
</file>