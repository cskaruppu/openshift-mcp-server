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Cluster Upgrade Automation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OpenShift Container Platform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14–40 hours of manual SRE effort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 10 minutes of human involvement per cluster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237744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5029200"/>
            <a:ext cx="237744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5577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Pre-Upgrade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5029200"/>
            <a:ext cx="237744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5577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Touch-Time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0" y="5029200"/>
            <a:ext cx="237744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0" y="5577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|  TCS Agentic AI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Manual Cluster Upgrades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2103120"/>
          </a:xfrm>
          <a:prstGeom prst="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14–40 Hours per Cluster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SRE time across pre-checks, approvals, execution, monitoring, and documentation — spread over 2-5 business days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3566160" cy="2103120"/>
          </a:xfrm>
          <a:prstGeom prst="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07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health checks miss edge cases — expired certificates, deprecated APIs, under-replicated etcd, storage pressure go undetected until mid-upgrade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097280"/>
            <a:ext cx="3566160" cy="2103120"/>
          </a:xfrm>
          <a:prstGeom prst="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207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 often incomplete, post-assessment documentation inconsistent, audit trails have gaps — leading to SOC2/ISO findings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3566160" cy="2103120"/>
          </a:xfrm>
          <a:prstGeom prst="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Bottleneck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SREs pulled from high-value work to babysit upgrade progress, manually checking operator health every few minutes for hours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3474720"/>
            <a:ext cx="3566160" cy="2103120"/>
          </a:xfrm>
          <a:prstGeom prst="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3891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Problem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with 10–50+ clusters face compounding burden every upgrade cycle — effort grows linearly with cluster count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3474720"/>
            <a:ext cx="3566160" cy="2103120"/>
          </a:xfrm>
          <a:prstGeom prst="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Outcomes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SRE follows slightly different process — no standardized workflow means variable quality, missed steps, and undocumented decisions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6126480"/>
            <a:ext cx="11430000" cy="457200"/>
          </a:xfrm>
          <a:prstGeom prst="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one sentence — "Upgrade this cluster to 4.14.28" — could do it all?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Autonomous Upgrade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27632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55648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01368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Pre-Assessment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Checks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55648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0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36976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0F7DC2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696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36976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90288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64024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Creation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8304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71616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9632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5352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52944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26680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034272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62288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9162288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08008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62288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Cluster-paced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15600" y="1371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643616" y="1051560"/>
            <a:ext cx="1371600" cy="914400"/>
          </a:xfrm>
          <a:prstGeom prst="rect">
            <a:avLst>
              <a:gd name="adj" fmla="val 6000"/>
            </a:avLst>
          </a:prstGeom>
          <a:solidFill>
            <a:srgbClr val="65A30D"/>
          </a:solidFill>
          <a:ln/>
        </p:spPr>
      </p:sp>
      <p:sp>
        <p:nvSpPr>
          <p:cNvPr id="40" name="Text 38"/>
          <p:cNvSpPr/>
          <p:nvPr/>
        </p:nvSpPr>
        <p:spPr>
          <a:xfrm>
            <a:off x="10643616" y="1088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89336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Close CR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43616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2286000"/>
            <a:ext cx="3657600" cy="1874520"/>
          </a:xfrm>
          <a:prstGeom prst="rect">
            <a:avLst>
              <a:gd name="adj" fmla="val 4878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Pre-Upgrade Health Checks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" y="2834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nodes, etcd quorum, certificates, deprecated APIs, storage, PDBs, networking, MCP sync — all checked in parallel in 2-3 minutes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60520" y="2286000"/>
            <a:ext cx="3657600" cy="1874520"/>
          </a:xfrm>
          <a:prstGeom prst="rect">
            <a:avLst>
              <a:gd name="adj" fmla="val 4878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Blocker Remediation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97680" y="2834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findings as Blocker/Warning/Info, assigns risk scores, generates overall upgrade readiness score, proposes targeted fixes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2286000"/>
            <a:ext cx="3657600" cy="1874520"/>
          </a:xfrm>
          <a:prstGeom prst="rect">
            <a:avLst>
              <a:gd name="adj" fmla="val 4878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ITSM Change Management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83880" y="2834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ServiceNow CR with justification, risk classification, rollback plan, PDF/HTML assessment reports attached as evidence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434840"/>
            <a:ext cx="3657600" cy="1874520"/>
          </a:xfrm>
          <a:prstGeom prst="rect">
            <a:avLst>
              <a:gd name="adj" fmla="val 4878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 &amp; Monitoring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1480" y="49834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CVO-driven upgrade with 15-second progress polling. Completes only when: CVO history confirmed + all operators healthy + all nodes ready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60520" y="4434840"/>
            <a:ext cx="3657600" cy="1874520"/>
          </a:xfrm>
          <a:prstGeom prst="rect">
            <a:avLst>
              <a:gd name="adj" fmla="val 4878"/>
            </a:avLst>
          </a:prstGeom>
          <a:solidFill>
            <a:srgbClr val="CFFAFE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Post-Assessment &amp; Auto-Close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297680" y="49834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comprehensive post-upgrade report (PDF + HTML), auto-closes CR with detailed close notes including timing and health metrics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046720" y="4434840"/>
            <a:ext cx="3657600" cy="1874520"/>
          </a:xfrm>
          <a:prstGeom prst="rect">
            <a:avLst>
              <a:gd name="adj" fmla="val 4878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8388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 &amp; Safety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183880" y="49834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in-progress upgrades across all conversations, prevents concurrent upgrades, full rollback plan documented in every CR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Workflow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0" y="228600"/>
            <a:ext cx="164592" cy="164592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5504688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0" y="228600"/>
            <a:ext cx="164592" cy="164592"/>
          </a:xfrm>
          <a:prstGeom prst="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6784848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138160" y="228600"/>
            <a:ext cx="164592" cy="164592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8339328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0" y="228600"/>
            <a:ext cx="164592" cy="164592"/>
          </a:xfrm>
          <a:prstGeom prst="rect">
            <a:avLst>
              <a:gd name="adj" fmla="val 16667"/>
            </a:avLst>
          </a:prstGeom>
          <a:solidFill>
            <a:srgbClr val="FCE7F3"/>
          </a:solidFill>
          <a:ln/>
        </p:spPr>
      </p:sp>
      <p:sp>
        <p:nvSpPr>
          <p:cNvPr id="11" name="Text 9"/>
          <p:cNvSpPr/>
          <p:nvPr/>
        </p:nvSpPr>
        <p:spPr>
          <a:xfrm>
            <a:off x="9802368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0" y="228600"/>
            <a:ext cx="164592" cy="164592"/>
          </a:xfrm>
          <a:prstGeom prst="rect">
            <a:avLst>
              <a:gd name="adj" fmla="val 16667"/>
            </a:avLst>
          </a:prstGeom>
          <a:solidFill>
            <a:srgbClr val="CFFA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3968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7160" y="566928"/>
            <a:ext cx="11887200" cy="219456"/>
          </a:xfrm>
          <a:prstGeom prst="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56692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VALIDATION &amp; PRE-ASSESSMENT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7160" y="804672"/>
            <a:ext cx="2331720" cy="1188720"/>
          </a:xfrm>
          <a:prstGeom prst="rect">
            <a:avLst>
              <a:gd name="adj" fmla="val 7692"/>
            </a:avLst>
          </a:prstGeom>
          <a:solidFill>
            <a:srgbClr val="FEF3C7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" y="877824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" y="877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" y="8595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1152144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"Upgrade this cluster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4.14.28"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target version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34640" y="804672"/>
            <a:ext cx="2331720" cy="1188720"/>
          </a:xfrm>
          <a:prstGeom prst="rect">
            <a:avLst>
              <a:gd name="adj" fmla="val 769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7792" y="87782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2907792" y="877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8595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1152144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ClusterVersion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upgrade channel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EUS path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availability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32120" y="804672"/>
            <a:ext cx="2331720" cy="1188720"/>
          </a:xfrm>
          <a:prstGeom prst="rect">
            <a:avLst>
              <a:gd name="adj" fmla="val 769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05272" y="87782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605272" y="877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16168" y="8595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Pre-Assessment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1152144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parallel health checks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nodes, etcd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Certs, APIs, storage, PDBs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readiness score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29600" y="804672"/>
            <a:ext cx="1828800" cy="1188720"/>
          </a:xfrm>
          <a:prstGeom prst="rect">
            <a:avLst>
              <a:gd name="adj" fmla="val 769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2752" y="87782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302752" y="877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13648" y="859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1152144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Blocker /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/ Info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per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24160" y="804672"/>
            <a:ext cx="1627632" cy="1188720"/>
          </a:xfrm>
          <a:prstGeom prst="rect">
            <a:avLst>
              <a:gd name="adj" fmla="val 769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97312" y="87782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10497312" y="877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08208" y="85953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0" y="1152144"/>
            <a:ext cx="14447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proposals for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blocker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risk scoring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87168" y="1362456"/>
            <a:ext cx="20116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2633472" y="127101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184648" y="1362456"/>
            <a:ext cx="20116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4" name="Text 42"/>
          <p:cNvSpPr/>
          <p:nvPr/>
        </p:nvSpPr>
        <p:spPr>
          <a:xfrm>
            <a:off x="5330952" y="127101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882128" y="1362456"/>
            <a:ext cx="20116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8028432" y="127101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076688" y="1362456"/>
            <a:ext cx="20116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8" name="Text 46"/>
          <p:cNvSpPr/>
          <p:nvPr/>
        </p:nvSpPr>
        <p:spPr>
          <a:xfrm>
            <a:off x="10222992" y="127101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37160" y="2249424"/>
            <a:ext cx="11887200" cy="219456"/>
          </a:xfrm>
          <a:prstGeom prst="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224942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CHANGE MANAGEMENT &amp; APPROVAL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2198096" y="1993392"/>
            <a:ext cx="73152" cy="384048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52" name="Shape 50"/>
          <p:cNvSpPr/>
          <p:nvPr/>
        </p:nvSpPr>
        <p:spPr>
          <a:xfrm>
            <a:off x="-45720" y="2340864"/>
            <a:ext cx="12280392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53" name="Shape 51"/>
          <p:cNvSpPr/>
          <p:nvPr/>
        </p:nvSpPr>
        <p:spPr>
          <a:xfrm>
            <a:off x="-45720" y="2377440"/>
            <a:ext cx="73152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54" name="Text 52"/>
          <p:cNvSpPr/>
          <p:nvPr/>
        </p:nvSpPr>
        <p:spPr>
          <a:xfrm>
            <a:off x="-100584" y="22677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37160" y="2487168"/>
            <a:ext cx="2834640" cy="118872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0312" y="256032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210312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1208" y="2542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CR Creation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28600" y="283464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CR: description,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justification, risk, rollback plan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HTML reports attached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priority auto-set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83280" y="2487168"/>
            <a:ext cx="2377440" cy="1188720"/>
          </a:xfrm>
          <a:prstGeom prst="rect">
            <a:avLst>
              <a:gd name="adj" fmla="val 7692"/>
            </a:avLst>
          </a:prstGeom>
          <a:solidFill>
            <a:srgbClr val="FCE7F3"/>
          </a:solidFill>
          <a:ln w="22860">
            <a:solidFill>
              <a:srgbClr val="9D174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56432" y="2560320"/>
            <a:ext cx="256032" cy="256032"/>
          </a:xfrm>
          <a:prstGeom prst="ellipse">
            <a:avLst/>
          </a:prstGeom>
          <a:solidFill>
            <a:srgbClr val="9D174D"/>
          </a:solidFill>
          <a:ln/>
        </p:spPr>
      </p:sp>
      <p:sp>
        <p:nvSpPr>
          <p:cNvPr id="62" name="Text 60"/>
          <p:cNvSpPr/>
          <p:nvPr/>
        </p:nvSpPr>
        <p:spPr>
          <a:xfrm>
            <a:off x="3456432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67328" y="2542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474720" y="28346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 ServiceNow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 seconds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Auto-advance on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"Approved" state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72200" y="2487168"/>
            <a:ext cx="2743200" cy="1188720"/>
          </a:xfrm>
          <a:prstGeom prst="rect">
            <a:avLst>
              <a:gd name="adj" fmla="val 7692"/>
            </a:avLst>
          </a:prstGeom>
          <a:solidFill>
            <a:srgbClr val="CFFAFE"/>
          </a:solidFill>
          <a:ln w="22860">
            <a:solidFill>
              <a:srgbClr val="0891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45352" y="256032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6245352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556248" y="2542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Validation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63640" y="283464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upgrade path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 new blockers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cluster state stable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prerequisites confirmed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326880" y="2487168"/>
            <a:ext cx="2697480" cy="118872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00032" y="256032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2" name="Text 70"/>
          <p:cNvSpPr/>
          <p:nvPr/>
        </p:nvSpPr>
        <p:spPr>
          <a:xfrm>
            <a:off x="9400032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710928" y="25420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Upgrade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418320" y="2834640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CVO-driven upgrade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15-second progress polling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operator monitoring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rollout tracking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990088" y="3044952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76" name="Text 74"/>
          <p:cNvSpPr/>
          <p:nvPr/>
        </p:nvSpPr>
        <p:spPr>
          <a:xfrm>
            <a:off x="3182112" y="29535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5779008" y="3044952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78" name="Text 76"/>
          <p:cNvSpPr/>
          <p:nvPr/>
        </p:nvSpPr>
        <p:spPr>
          <a:xfrm>
            <a:off x="5971032" y="29535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8933688" y="3044952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80" name="Text 78"/>
          <p:cNvSpPr/>
          <p:nvPr/>
        </p:nvSpPr>
        <p:spPr>
          <a:xfrm>
            <a:off x="9125712" y="29535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137160" y="3931920"/>
            <a:ext cx="11887200" cy="219456"/>
          </a:xfrm>
          <a:prstGeom prst="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82" name="Text 80"/>
          <p:cNvSpPr/>
          <p:nvPr/>
        </p:nvSpPr>
        <p:spPr>
          <a:xfrm>
            <a:off x="274320" y="393192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MONITORING, VERIFICATION &amp; CLOSURE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2170664" y="3675888"/>
            <a:ext cx="73152" cy="384048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84" name="Shape 82"/>
          <p:cNvSpPr/>
          <p:nvPr/>
        </p:nvSpPr>
        <p:spPr>
          <a:xfrm>
            <a:off x="-45720" y="4023360"/>
            <a:ext cx="12252960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85" name="Shape 83"/>
          <p:cNvSpPr/>
          <p:nvPr/>
        </p:nvSpPr>
        <p:spPr>
          <a:xfrm>
            <a:off x="-45720" y="4059936"/>
            <a:ext cx="73152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86" name="Text 84"/>
          <p:cNvSpPr/>
          <p:nvPr/>
        </p:nvSpPr>
        <p:spPr>
          <a:xfrm>
            <a:off x="-100584" y="39502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37160" y="4169664"/>
            <a:ext cx="2926080" cy="118872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0312" y="4242816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9" name="Text 87"/>
          <p:cNvSpPr/>
          <p:nvPr/>
        </p:nvSpPr>
        <p:spPr>
          <a:xfrm>
            <a:off x="210312" y="4242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21208" y="4224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28600" y="451713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 progress tracking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health dashboard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readiness status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completion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474720" y="4169664"/>
            <a:ext cx="2926080" cy="1188720"/>
          </a:xfrm>
          <a:prstGeom prst="rect">
            <a:avLst>
              <a:gd name="adj" fmla="val 7692"/>
            </a:avLst>
          </a:prstGeom>
          <a:solidFill>
            <a:srgbClr val="CFFAFE"/>
          </a:solidFill>
          <a:ln w="22860">
            <a:solidFill>
              <a:srgbClr val="0891B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47872" y="424281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4" name="Text 92"/>
          <p:cNvSpPr/>
          <p:nvPr/>
        </p:nvSpPr>
        <p:spPr>
          <a:xfrm>
            <a:off x="3547872" y="4242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3858768" y="4224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Completion Gate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3566160" y="451713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conditions must be met: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CVO history confirmed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operators healthy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nodes Ready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812280" y="4169664"/>
            <a:ext cx="2560320" cy="1188720"/>
          </a:xfrm>
          <a:prstGeom prst="rect">
            <a:avLst>
              <a:gd name="adj" fmla="val 769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85432" y="424281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9" name="Text 97"/>
          <p:cNvSpPr/>
          <p:nvPr/>
        </p:nvSpPr>
        <p:spPr>
          <a:xfrm>
            <a:off x="6885432" y="4242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196328" y="4224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Post-Assessment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903720" y="4517136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health re-check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 + HTML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report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before/after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9784080" y="4169664"/>
            <a:ext cx="2240280" cy="118872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57232" y="4242816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4" name="Text 102"/>
          <p:cNvSpPr/>
          <p:nvPr/>
        </p:nvSpPr>
        <p:spPr>
          <a:xfrm>
            <a:off x="9857232" y="4242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10168128" y="42245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Closed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9875520" y="4517136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ServiceNow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close notes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+ health metrics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✓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081528" y="4727448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08" name="Text 106"/>
          <p:cNvSpPr/>
          <p:nvPr/>
        </p:nvSpPr>
        <p:spPr>
          <a:xfrm>
            <a:off x="3273552" y="463600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6419088" y="4727448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10" name="Text 108"/>
          <p:cNvSpPr/>
          <p:nvPr/>
        </p:nvSpPr>
        <p:spPr>
          <a:xfrm>
            <a:off x="6611112" y="463600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9390888" y="4727448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12" name="Text 110"/>
          <p:cNvSpPr/>
          <p:nvPr/>
        </p:nvSpPr>
        <p:spPr>
          <a:xfrm>
            <a:off x="9582912" y="463600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137160" y="5532120"/>
            <a:ext cx="11887200" cy="365760"/>
          </a:xfrm>
          <a:prstGeom prst="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114" name="Text 112"/>
          <p:cNvSpPr/>
          <p:nvPr/>
        </p:nvSpPr>
        <p:spPr>
          <a:xfrm>
            <a:off x="137160" y="553212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(1 step)  →  AI (5 steps)  →  AUTOMATED (4 steps)  →  GATE (1 step)  →  VALIDATION (2 steps)    |    13 steps, only 1 requires human input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vs. Automated — Time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57200" cy="347472"/>
          </a:xfrm>
          <a:prstGeom prst="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7552" y="868680"/>
            <a:ext cx="34747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868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35424" y="868680"/>
            <a:ext cx="18288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868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(SRE)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37376" y="868680"/>
            <a:ext cx="21031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868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(AI)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13648" y="868680"/>
            <a:ext cx="11887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13648" y="868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75520" y="868680"/>
            <a:ext cx="1828800" cy="347472"/>
          </a:xfrm>
          <a:prstGeom prst="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0" y="868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252728"/>
            <a:ext cx="4572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125272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87552" y="1252728"/>
            <a:ext cx="3474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1252728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 version &amp; validate path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35424" y="1252728"/>
            <a:ext cx="1828800" cy="40233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4590288" y="125272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37376" y="1252728"/>
            <a:ext cx="2103120" cy="40233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252728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13648" y="1252728"/>
            <a:ext cx="1188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68512" y="1252728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241280" y="1344168"/>
            <a:ext cx="1097280" cy="219456"/>
          </a:xfrm>
          <a:prstGeom prst="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0" y="13441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1673352"/>
            <a:ext cx="4572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167335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7552" y="1673352"/>
            <a:ext cx="3474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1042416" y="1673352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Pre-upgrade health checks (50+)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35424" y="1673352"/>
            <a:ext cx="1828800" cy="4023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4590288" y="1673352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37376" y="1673352"/>
            <a:ext cx="2103120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673352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13648" y="1673352"/>
            <a:ext cx="1188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8668512" y="1673352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241280" y="1764792"/>
            <a:ext cx="1097280" cy="219456"/>
          </a:xfrm>
          <a:prstGeom prst="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39" name="Text 37"/>
          <p:cNvSpPr/>
          <p:nvPr/>
        </p:nvSpPr>
        <p:spPr>
          <a:xfrm>
            <a:off x="10241280" y="17647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2093976"/>
            <a:ext cx="4572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" y="209397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87552" y="2093976"/>
            <a:ext cx="3474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42416" y="209397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identification &amp; remediation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35424" y="2093976"/>
            <a:ext cx="1828800" cy="40233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5" name="Text 43"/>
          <p:cNvSpPr/>
          <p:nvPr/>
        </p:nvSpPr>
        <p:spPr>
          <a:xfrm>
            <a:off x="4590288" y="2093976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hours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37376" y="2093976"/>
            <a:ext cx="2103120" cy="40233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209397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613648" y="2093976"/>
            <a:ext cx="1188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668512" y="2093976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241280" y="2185416"/>
            <a:ext cx="1097280" cy="219456"/>
          </a:xfrm>
          <a:prstGeom prst="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51" name="Text 49"/>
          <p:cNvSpPr/>
          <p:nvPr/>
        </p:nvSpPr>
        <p:spPr>
          <a:xfrm>
            <a:off x="10241280" y="21854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2514600"/>
            <a:ext cx="4572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" y="251460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87552" y="2514600"/>
            <a:ext cx="3474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5" name="Text 53"/>
          <p:cNvSpPr/>
          <p:nvPr/>
        </p:nvSpPr>
        <p:spPr>
          <a:xfrm>
            <a:off x="1042416" y="2514600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ServiceNow Change Request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35424" y="2514600"/>
            <a:ext cx="1828800" cy="4023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7" name="Text 55"/>
          <p:cNvSpPr/>
          <p:nvPr/>
        </p:nvSpPr>
        <p:spPr>
          <a:xfrm>
            <a:off x="4590288" y="25146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hours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37376" y="2514600"/>
            <a:ext cx="2103120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9" name="Text 57"/>
          <p:cNvSpPr/>
          <p:nvPr/>
        </p:nvSpPr>
        <p:spPr>
          <a:xfrm>
            <a:off x="6492240" y="25146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13648" y="2514600"/>
            <a:ext cx="1188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8668512" y="2514600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241280" y="2606040"/>
            <a:ext cx="1097280" cy="219456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63" name="Text 61"/>
          <p:cNvSpPr/>
          <p:nvPr/>
        </p:nvSpPr>
        <p:spPr>
          <a:xfrm>
            <a:off x="10241280" y="26060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0" y="2935224"/>
            <a:ext cx="4572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512064" y="293522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87552" y="2935224"/>
            <a:ext cx="3474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1042416" y="293522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CAB / manager approval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35424" y="2935224"/>
            <a:ext cx="1828800" cy="40233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9" name="Text 67"/>
          <p:cNvSpPr/>
          <p:nvPr/>
        </p:nvSpPr>
        <p:spPr>
          <a:xfrm>
            <a:off x="4590288" y="2935224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4–24 hours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37376" y="2935224"/>
            <a:ext cx="2103120" cy="40233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71" name="Text 69"/>
          <p:cNvSpPr/>
          <p:nvPr/>
        </p:nvSpPr>
        <p:spPr>
          <a:xfrm>
            <a:off x="6492240" y="293522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 (auto-poll)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613648" y="2935224"/>
            <a:ext cx="1188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8668512" y="293522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241280" y="3026664"/>
            <a:ext cx="1097280" cy="219456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75" name="Text 73"/>
          <p:cNvSpPr/>
          <p:nvPr/>
        </p:nvSpPr>
        <p:spPr>
          <a:xfrm>
            <a:off x="10241280" y="30266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7200" y="3355848"/>
            <a:ext cx="4572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7" name="Text 75"/>
          <p:cNvSpPr/>
          <p:nvPr/>
        </p:nvSpPr>
        <p:spPr>
          <a:xfrm>
            <a:off x="512064" y="335584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87552" y="3355848"/>
            <a:ext cx="3474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9" name="Text 77"/>
          <p:cNvSpPr/>
          <p:nvPr/>
        </p:nvSpPr>
        <p:spPr>
          <a:xfrm>
            <a:off x="1042416" y="3355848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validation &amp; preflight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35424" y="3355848"/>
            <a:ext cx="1828800" cy="4023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1" name="Text 79"/>
          <p:cNvSpPr/>
          <p:nvPr/>
        </p:nvSpPr>
        <p:spPr>
          <a:xfrm>
            <a:off x="4590288" y="33558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37376" y="3355848"/>
            <a:ext cx="2103120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83" name="Text 81"/>
          <p:cNvSpPr/>
          <p:nvPr/>
        </p:nvSpPr>
        <p:spPr>
          <a:xfrm>
            <a:off x="6492240" y="3355848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613648" y="3355848"/>
            <a:ext cx="1188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5" name="Text 83"/>
          <p:cNvSpPr/>
          <p:nvPr/>
        </p:nvSpPr>
        <p:spPr>
          <a:xfrm>
            <a:off x="8668512" y="3355848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241280" y="3447288"/>
            <a:ext cx="1097280" cy="219456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87" name="Text 85"/>
          <p:cNvSpPr/>
          <p:nvPr/>
        </p:nvSpPr>
        <p:spPr>
          <a:xfrm>
            <a:off x="10241280" y="34472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57200" y="3776472"/>
            <a:ext cx="4572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512064" y="377647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87552" y="3776472"/>
            <a:ext cx="3474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1042416" y="3776472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upgrade &amp; active monitoring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35424" y="3776472"/>
            <a:ext cx="1828800" cy="40233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3" name="Text 91"/>
          <p:cNvSpPr/>
          <p:nvPr/>
        </p:nvSpPr>
        <p:spPr>
          <a:xfrm>
            <a:off x="4590288" y="3776472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437376" y="3776472"/>
            <a:ext cx="2103120" cy="40233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5" name="Text 93"/>
          <p:cNvSpPr/>
          <p:nvPr/>
        </p:nvSpPr>
        <p:spPr>
          <a:xfrm>
            <a:off x="6492240" y="3776472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 (autonomous)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613648" y="3776472"/>
            <a:ext cx="1188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8668512" y="3776472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0241280" y="3867912"/>
            <a:ext cx="1097280" cy="219456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99" name="Text 97"/>
          <p:cNvSpPr/>
          <p:nvPr/>
        </p:nvSpPr>
        <p:spPr>
          <a:xfrm>
            <a:off x="10241280" y="38679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57200" y="4197096"/>
            <a:ext cx="4572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1" name="Text 99"/>
          <p:cNvSpPr/>
          <p:nvPr/>
        </p:nvSpPr>
        <p:spPr>
          <a:xfrm>
            <a:off x="512064" y="419709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987552" y="4197096"/>
            <a:ext cx="3474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3" name="Text 101"/>
          <p:cNvSpPr/>
          <p:nvPr/>
        </p:nvSpPr>
        <p:spPr>
          <a:xfrm>
            <a:off x="1042416" y="419709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Post-upgrade verification &amp; smoke tests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535424" y="4197096"/>
            <a:ext cx="1828800" cy="4023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5" name="Text 103"/>
          <p:cNvSpPr/>
          <p:nvPr/>
        </p:nvSpPr>
        <p:spPr>
          <a:xfrm>
            <a:off x="4590288" y="4197096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37376" y="4197096"/>
            <a:ext cx="2103120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7" name="Text 105"/>
          <p:cNvSpPr/>
          <p:nvPr/>
        </p:nvSpPr>
        <p:spPr>
          <a:xfrm>
            <a:off x="6492240" y="419709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 (smart detect)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8613648" y="4197096"/>
            <a:ext cx="1188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9" name="Text 107"/>
          <p:cNvSpPr/>
          <p:nvPr/>
        </p:nvSpPr>
        <p:spPr>
          <a:xfrm>
            <a:off x="8668512" y="4197096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0241280" y="4288536"/>
            <a:ext cx="1097280" cy="219456"/>
          </a:xfrm>
          <a:prstGeom prst="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111" name="Text 109"/>
          <p:cNvSpPr/>
          <p:nvPr/>
        </p:nvSpPr>
        <p:spPr>
          <a:xfrm>
            <a:off x="10241280" y="42885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57200" y="4617720"/>
            <a:ext cx="4572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512064" y="461772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987552" y="4617720"/>
            <a:ext cx="3474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3"/>
          <p:cNvSpPr/>
          <p:nvPr/>
        </p:nvSpPr>
        <p:spPr>
          <a:xfrm>
            <a:off x="1042416" y="4617720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post-assessment report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535424" y="4617720"/>
            <a:ext cx="1828800" cy="40233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90288" y="46177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hours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6437376" y="4617720"/>
            <a:ext cx="2103120" cy="40233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19" name="Text 117"/>
          <p:cNvSpPr/>
          <p:nvPr/>
        </p:nvSpPr>
        <p:spPr>
          <a:xfrm>
            <a:off x="6492240" y="461772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613648" y="4617720"/>
            <a:ext cx="1188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8668512" y="4617720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0241280" y="4709160"/>
            <a:ext cx="1097280" cy="219456"/>
          </a:xfrm>
          <a:prstGeom prst="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123" name="Text 121"/>
          <p:cNvSpPr/>
          <p:nvPr/>
        </p:nvSpPr>
        <p:spPr>
          <a:xfrm>
            <a:off x="10241280" y="47091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57200" y="5038344"/>
            <a:ext cx="4572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5" name="Text 123"/>
          <p:cNvSpPr/>
          <p:nvPr/>
        </p:nvSpPr>
        <p:spPr>
          <a:xfrm>
            <a:off x="512064" y="503834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987552" y="5038344"/>
            <a:ext cx="3474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7" name="Text 125"/>
          <p:cNvSpPr/>
          <p:nvPr/>
        </p:nvSpPr>
        <p:spPr>
          <a:xfrm>
            <a:off x="1042416" y="503834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Change Request with documentation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535424" y="5038344"/>
            <a:ext cx="1828800" cy="4023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9" name="Text 127"/>
          <p:cNvSpPr/>
          <p:nvPr/>
        </p:nvSpPr>
        <p:spPr>
          <a:xfrm>
            <a:off x="4590288" y="5038344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437376" y="5038344"/>
            <a:ext cx="2103120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31" name="Text 129"/>
          <p:cNvSpPr/>
          <p:nvPr/>
        </p:nvSpPr>
        <p:spPr>
          <a:xfrm>
            <a:off x="6492240" y="503834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613648" y="5038344"/>
            <a:ext cx="11887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3" name="Text 131"/>
          <p:cNvSpPr/>
          <p:nvPr/>
        </p:nvSpPr>
        <p:spPr>
          <a:xfrm>
            <a:off x="8668512" y="503834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0241280" y="5129784"/>
            <a:ext cx="1097280" cy="219456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135" name="Text 133"/>
          <p:cNvSpPr/>
          <p:nvPr/>
        </p:nvSpPr>
        <p:spPr>
          <a:xfrm>
            <a:off x="10241280" y="51297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57200" y="5513832"/>
            <a:ext cx="4005072" cy="438912"/>
          </a:xfrm>
          <a:prstGeom prst="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37" name="Text 135"/>
          <p:cNvSpPr/>
          <p:nvPr/>
        </p:nvSpPr>
        <p:spPr>
          <a:xfrm>
            <a:off x="457200" y="5513832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CLUSTER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4535424" y="5513832"/>
            <a:ext cx="1828800" cy="438912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139" name="Text 137"/>
          <p:cNvSpPr/>
          <p:nvPr/>
        </p:nvSpPr>
        <p:spPr>
          <a:xfrm>
            <a:off x="4535424" y="55138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14–40 hours</a:t>
            </a:r>
            <a:endParaRPr lang="en-US" sz="1400" dirty="0"/>
          </a:p>
        </p:txBody>
      </p:sp>
      <p:sp>
        <p:nvSpPr>
          <p:cNvPr id="140" name="Shape 138"/>
          <p:cNvSpPr/>
          <p:nvPr/>
        </p:nvSpPr>
        <p:spPr>
          <a:xfrm>
            <a:off x="6437376" y="5513832"/>
            <a:ext cx="2103120" cy="438912"/>
          </a:xfrm>
          <a:prstGeom prst="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37376" y="55138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minutes</a:t>
            </a:r>
            <a:endParaRPr lang="en-US" sz="1400" dirty="0"/>
          </a:p>
        </p:txBody>
      </p:sp>
      <p:sp>
        <p:nvSpPr>
          <p:cNvPr id="142" name="Shape 140"/>
          <p:cNvSpPr/>
          <p:nvPr/>
        </p:nvSpPr>
        <p:spPr>
          <a:xfrm>
            <a:off x="8613648" y="5513832"/>
            <a:ext cx="3090672" cy="438912"/>
          </a:xfrm>
          <a:prstGeom prst="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43" name="Text 141"/>
          <p:cNvSpPr/>
          <p:nvPr/>
        </p:nvSpPr>
        <p:spPr>
          <a:xfrm>
            <a:off x="8613648" y="551383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TIME SAVED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— Cluster Upgrade (3 Minutes)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097280" cy="694944"/>
          </a:xfrm>
          <a:prstGeom prst="rect">
            <a:avLst>
              <a:gd name="adj" fmla="val 7895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08760" y="822960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822960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cluster upgrade normally takes an SRE 14-40 hours — pre-checks, change requests, monitoring, documentation. Our AI does it with one sentence."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1097280" cy="694944"/>
          </a:xfrm>
          <a:prstGeom prst="rect">
            <a:avLst>
              <a:gd name="adj" fmla="val 7895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0934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0:20–0:40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975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08760" y="159105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Upgrade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591056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AI Chat: "Upgrade this cluster to 4.14.28"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instantly validates version, confirms upgrade path, starts pre-assessment.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1097280" cy="694944"/>
          </a:xfrm>
          <a:prstGeom prst="rect">
            <a:avLst>
              <a:gd name="adj" fmla="val 7895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08760" y="2359152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Pre-Assessment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359152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health checks running in parallel — operators, nodes, etcd, certs, APIs, storage, PDBs.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takes an SRE 2-4 hours, AI does in 2 minutes with zero missed checks."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1097280" cy="694944"/>
          </a:xfrm>
          <a:prstGeom prst="rect">
            <a:avLst>
              <a:gd name="adj" fmla="val 7895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1455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1:15–1:40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5112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08760" y="3127248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ServiceNow CR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12724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Change Request — justification, risk assessment, rollback plan, PDF report attached.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manual form filling. Full ITSM compliance from day one."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895344"/>
            <a:ext cx="1097280" cy="694944"/>
          </a:xfrm>
          <a:prstGeom prst="rect">
            <a:avLst>
              <a:gd name="adj" fmla="val 7895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913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279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08760" y="3895344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Execute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895344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approval gate auto-polling. Once approved → dry-run validation → upgrade initiated.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 human babysitting — AI monitors CVO, operators, nodes every 15 seconds."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1097280" cy="694944"/>
          </a:xfrm>
          <a:prstGeom prst="rect">
            <a:avLst>
              <a:gd name="adj" fmla="val 7895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6817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2:00–2:30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50474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08760" y="4663440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Completion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4663440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completion: CVO history confirmed + all operators healthy + all nodes Ready.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Post-assessment report generated. CR auto-closed with full documentation.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5431536"/>
            <a:ext cx="1097280" cy="694944"/>
          </a:xfrm>
          <a:prstGeom prst="rect">
            <a:avLst>
              <a:gd name="adj" fmla="val 7895"/>
            </a:avLst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54498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2:30–3:00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58155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508760" y="543153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5431536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sentence in, complete upgrade out. 14-40 hours reduced to under 10 minutes of human time.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automated steps. Full audit trail. That's TCS Agentic AI."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6309360"/>
            <a:ext cx="11612880" cy="320040"/>
          </a:xfrm>
          <a:prstGeom prst="rect">
            <a:avLst>
              <a:gd name="adj" fmla="val 17143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"One sentence → complete cluster upgrade with full ITSM lifecycle — 95% time reduction"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56032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14–40 hrs → &lt; 10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256032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 parallel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256032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human input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371600"/>
            <a:ext cx="2651760" cy="256032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23544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watches CVO/operators/nodes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Scale Projections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09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Fleet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47091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4709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47091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709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Agentic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61120" y="47091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0" y="4709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0749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074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Clusters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50749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5074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140–400 hrs/cycle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50749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5074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961120" y="50749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5074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reduction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4589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458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Clusters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54589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5458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350–1000 hrs/cycle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54589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5458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61120" y="54589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0" y="5458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reduction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8430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843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Clusters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91840" y="58430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5843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700–2000 hrs/cycle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58430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5843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hrs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61120" y="58430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0" y="5843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reduction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937760" y="2377440"/>
            <a:ext cx="2286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517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Cluster Upgrade Automation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In → Complete Upgrade Out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14–40 Hours → Under 10 Minutes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9377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Cluster Upgrade Automation</dc:title>
  <dc:subject>PptxGenJS Presentation</dc:subject>
  <dc:creator>TCS Agentic AI Platform</dc:creator>
  <cp:lastModifiedBy>TCS Agentic AI Platform</cp:lastModifiedBy>
  <cp:revision>1</cp:revision>
  <dcterms:created xsi:type="dcterms:W3CDTF">2026-06-23T07:27:10Z</dcterms:created>
  <dcterms:modified xsi:type="dcterms:W3CDTF">2026-06-23T07:27:10Z</dcterms:modified>
</cp:coreProperties>
</file>