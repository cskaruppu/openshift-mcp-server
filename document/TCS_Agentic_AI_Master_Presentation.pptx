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2004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Platform Operations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 Kubernetes at Scale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Troubleshooting  •  Autonomous Cluster Upgrades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  •  Security &amp; Compliance  •  Multi-Cluster Federation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846320"/>
            <a:ext cx="2011680" cy="100584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846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4846320"/>
            <a:ext cx="2011680" cy="100584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4846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3464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4846320"/>
            <a:ext cx="2011680" cy="100584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4846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2064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4846320"/>
            <a:ext cx="2011680" cy="100584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4846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0664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92640" y="4846320"/>
            <a:ext cx="2011680" cy="1005840"/>
          </a:xfrm>
          <a:prstGeom prst="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4846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69264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Demo  |  TCS Agentic AI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Operations at Scale — The Challenge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3657600" cy="2103120"/>
          </a:xfrm>
          <a:prstGeom prst="rect">
            <a:avLst>
              <a:gd name="adj" fmla="val 434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Proactive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react to incidents after users are impacted. No prediction, no prevention, no early warning system.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60520" y="1005840"/>
            <a:ext cx="3657600" cy="2103120"/>
          </a:xfrm>
          <a:prstGeom prst="rect">
            <a:avLst>
              <a:gd name="adj" fmla="val 434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9768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14–40 Hours per Upgrade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196596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pre-checks, change requests, monitoring, documentation — multiplied by every cluster, every cycle.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005840"/>
            <a:ext cx="3657600" cy="2103120"/>
          </a:xfrm>
          <a:prstGeom prst="rect">
            <a:avLst>
              <a:gd name="adj" fmla="val 434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183880" y="153619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Toil &amp; Burnout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196596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babysit upgrades, manually correlate logs, fill ServiceNow forms — instead of building.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3657600" cy="2103120"/>
          </a:xfrm>
          <a:prstGeom prst="rect">
            <a:avLst>
              <a:gd name="adj" fmla="val 434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1480" y="3913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Blind Spots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3434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benchmarks checked sporadically. Image CVEs discovered after deployment. RBAC drift goes unnoticed.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60520" y="3383280"/>
            <a:ext cx="3657600" cy="2103120"/>
          </a:xfrm>
          <a:prstGeom prst="rect">
            <a:avLst>
              <a:gd name="adj" fmla="val 434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297680" y="3913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Sprawl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0" y="43434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CLI commands, 5+ dashboards, multiple ticketing systems — no single pane of glass, no unified workflow.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46720" y="3383280"/>
            <a:ext cx="3657600" cy="2103120"/>
          </a:xfrm>
          <a:prstGeom prst="rect">
            <a:avLst>
              <a:gd name="adj" fmla="val 434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3474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183880" y="39136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83880" y="43434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evidence rarely captured. Change requests incomplete. Compliance auditors find gaps.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6035040"/>
            <a:ext cx="11612880" cy="457200"/>
          </a:xfrm>
          <a:prstGeom prst="rect">
            <a:avLst>
              <a:gd name="adj" fmla="val 16000"/>
            </a:avLst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603504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one AI platform could handle all of this — with natural language, full automation, and complete audit trail?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 — Platform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3840480"/>
          </a:xfrm>
          <a:prstGeom prst="rect">
            <a:avLst>
              <a:gd name="adj" fmla="val 4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143000"/>
            <a:ext cx="1645920" cy="274320"/>
          </a:xfrm>
          <a:prstGeom prst="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43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Pod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28600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AI diagnosis → automated fix → ServiceNow lifecycle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23774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45 seconds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2-4 hours)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743200" cy="3840480"/>
          </a:xfrm>
          <a:prstGeom prst="rect">
            <a:avLst>
              <a:gd name="adj" fmla="val 4000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1143000"/>
            <a:ext cx="1645920" cy="274320"/>
          </a:xfrm>
          <a:prstGeom prst="rect">
            <a:avLst>
              <a:gd name="adj" fmla="val 13333"/>
            </a:avLst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1143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Cluster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55848" y="228600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→ 50+ pre-checks → ITSM → execute → post-assess → close CR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29000" y="3383280"/>
            <a:ext cx="23774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min human time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14-40 hours)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005840"/>
            <a:ext cx="2743200" cy="3840480"/>
          </a:xfrm>
          <a:prstGeom prst="rect">
            <a:avLst>
              <a:gd name="adj" fmla="val 4000"/>
            </a:avLst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143000"/>
            <a:ext cx="1645920" cy="274320"/>
          </a:xfrm>
          <a:prstGeom prst="rect">
            <a:avLst>
              <a:gd name="adj" fmla="val 13333"/>
            </a:avLst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143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Anomaly Detection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27648" y="228600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 OOM, disk, restarts, capacity — before failures happen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0" y="3383280"/>
            <a:ext cx="23774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prediction types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rolling analysis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89720" y="1005840"/>
            <a:ext cx="2743200" cy="3840480"/>
          </a:xfrm>
          <a:prstGeom prst="rect">
            <a:avLst>
              <a:gd name="adj" fmla="val 4000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38360" y="1143000"/>
            <a:ext cx="1645920" cy="274320"/>
          </a:xfrm>
          <a:prstGeom prst="rect">
            <a:avLst>
              <a:gd name="adj" fmla="val 13333"/>
            </a:avLst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9738360" y="1143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8116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99448" y="2286000"/>
            <a:ext cx="2523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benchmarks, image CVE scanning, RBAC audit, policy enforcement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372600" y="3383280"/>
            <a:ext cx="237744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937260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A-F compliance grade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37260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scanning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5120640"/>
            <a:ext cx="2743200" cy="914400"/>
          </a:xfrm>
          <a:prstGeom prst="rect">
            <a:avLst>
              <a:gd name="adj" fmla="val 8000"/>
            </a:avLst>
          </a:prstGeom>
          <a:solidFill>
            <a:srgbClr val="FEF3C7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5166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Interface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5577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19+ phrasings understood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46120" y="5120640"/>
            <a:ext cx="2743200" cy="914400"/>
          </a:xfrm>
          <a:prstGeom prst="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41" name="Text 39"/>
          <p:cNvSpPr/>
          <p:nvPr/>
        </p:nvSpPr>
        <p:spPr>
          <a:xfrm>
            <a:off x="3337560" y="5166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Specialist AI Agents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37560" y="5577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 compatible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5120640"/>
            <a:ext cx="2743200" cy="914400"/>
          </a:xfrm>
          <a:prstGeom prst="rect">
            <a:avLst>
              <a:gd name="adj" fmla="val 8000"/>
            </a:avLst>
          </a:prstGeom>
          <a:solidFill>
            <a:srgbClr val="CFFAFE"/>
          </a:solidFill>
          <a:ln/>
        </p:spPr>
      </p:sp>
      <p:sp>
        <p:nvSpPr>
          <p:cNvPr id="44" name="Text 42"/>
          <p:cNvSpPr/>
          <p:nvPr/>
        </p:nvSpPr>
        <p:spPr>
          <a:xfrm>
            <a:off x="6309360" y="5166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Hub-Spoke Multi-Cluster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09360" y="5577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across 50+ clusters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189720" y="5120640"/>
            <a:ext cx="2743200" cy="914400"/>
          </a:xfrm>
          <a:prstGeom prst="rect">
            <a:avLst>
              <a:gd name="adj" fmla="val 8000"/>
            </a:avLst>
          </a:prstGeom>
          <a:solidFill>
            <a:srgbClr val="D1FAE5"/>
          </a:solidFill>
          <a:ln/>
        </p:spPr>
      </p:sp>
      <p:sp>
        <p:nvSpPr>
          <p:cNvPr id="47" name="Text 45"/>
          <p:cNvSpPr/>
          <p:nvPr/>
        </p:nvSpPr>
        <p:spPr>
          <a:xfrm>
            <a:off x="9281160" y="5166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ITSM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281160" y="5577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incident &amp; CR lifecycle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1612880" cy="731520"/>
          </a:xfrm>
          <a:prstGeom prst="rect">
            <a:avLst>
              <a:gd name="adj" fmla="val 125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LAYER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01168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(Natural Language)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0" y="960120"/>
            <a:ext cx="201168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(13+ Widgets)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0" y="960120"/>
            <a:ext cx="201168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(Predictions)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0" y="960120"/>
            <a:ext cx="201168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(Compliance Trail)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601200" y="960120"/>
            <a:ext cx="201168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Picker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(Multi-Cluster)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0" y="15361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1783080"/>
            <a:ext cx="11612880" cy="1463040"/>
          </a:xfrm>
          <a:prstGeom prst="rect">
            <a:avLst>
              <a:gd name="adj" fmla="val 6250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103120"/>
            <a:ext cx="201168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121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classification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19+ phrasings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0" y="2103120"/>
            <a:ext cx="201168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2121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diagnosis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0" y="2103120"/>
            <a:ext cx="201168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121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OOM/disk/restart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315200" y="2103120"/>
            <a:ext cx="201168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0" y="2121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Doctor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memory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601200" y="2103120"/>
            <a:ext cx="2011680" cy="96012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0" y="21214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Engine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0120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0" y="32735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" y="3520440"/>
            <a:ext cx="11612880" cy="1188720"/>
          </a:xfrm>
          <a:prstGeom prst="rect">
            <a:avLst>
              <a:gd name="adj" fmla="val 7692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SPECIALIST AI AGENTS (A2A Protocol)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Healing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25730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125730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214884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214884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Compliance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04038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304038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93192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393192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&amp;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Mgmt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82346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82346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ACM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71500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571500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Monitoring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60654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60654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749808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749808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GitOps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838962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838962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Mesh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928116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928116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DR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1017270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1017270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Virt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11064240" y="3840480"/>
            <a:ext cx="804672" cy="731520"/>
          </a:xfrm>
          <a:prstGeom prst="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11064240" y="3840480"/>
            <a:ext cx="804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5669280" y="47365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274320" y="4983480"/>
            <a:ext cx="5577840" cy="960120"/>
          </a:xfrm>
          <a:prstGeom prst="rect">
            <a:avLst>
              <a:gd name="adj" fmla="val 9524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983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57200" y="5257800"/>
            <a:ext cx="118872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5257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783080" y="5257800"/>
            <a:ext cx="118872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1783080" y="5257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108960" y="5257800"/>
            <a:ext cx="118872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3108960" y="5257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34840" y="5257800"/>
            <a:ext cx="1188720" cy="54864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4434840" y="5257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309360" y="4983480"/>
            <a:ext cx="5577840" cy="960120"/>
          </a:xfrm>
          <a:prstGeom prst="rect">
            <a:avLst>
              <a:gd name="adj" fmla="val 9524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92240" y="4983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HUB-SPOKE MULTI-CLUSTER FEDERATION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8046720" y="5303520"/>
            <a:ext cx="128016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7" name="Text 75"/>
          <p:cNvSpPr/>
          <p:nvPr/>
        </p:nvSpPr>
        <p:spPr>
          <a:xfrm>
            <a:off x="8046720" y="53035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9601200" y="5349240"/>
            <a:ext cx="685800" cy="4114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601200" y="534924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1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10378440" y="5349240"/>
            <a:ext cx="685800" cy="4114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378440" y="534924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2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11155680" y="5349240"/>
            <a:ext cx="685800" cy="4114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1155680" y="534924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 3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274320" y="6126480"/>
            <a:ext cx="11612880" cy="320040"/>
          </a:xfrm>
          <a:prstGeom prst="rect">
            <a:avLst>
              <a:gd name="adj" fmla="val 17143"/>
            </a:avLst>
          </a:prstGeom>
          <a:solidFill>
            <a:srgbClr val="0F172A"/>
          </a:solidFill>
          <a:ln/>
        </p:spPr>
      </p:sp>
      <p:sp>
        <p:nvSpPr>
          <p:cNvPr id="85" name="Text 83"/>
          <p:cNvSpPr/>
          <p:nvPr/>
        </p:nvSpPr>
        <p:spPr>
          <a:xfrm>
            <a:off x="274320" y="612648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Services  |  41 Tools  |  13 AI Agents  |  4 UI Views  |  Hub-Spoke Federation  |  Full ITSM Lifecycle  |  A2A Protocol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  |  Intelligent Pod Troubleshooting &amp; Remediation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804672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my pod crashing?"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53896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27632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0552" y="80467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2130552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64208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+ Pod Discovery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64208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→ pod → namespace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44368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18104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21024" y="80467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3621024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Telemetry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54680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+ Events + Metrics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34840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8576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11496" y="80467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111496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45152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Diagnosis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45152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LLM root cause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25312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99048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1968" y="80467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6601968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35624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Fix Proposal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35624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remediation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415784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92440" y="80467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8092440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26096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26096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+ populated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906256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079992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CFFAF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82912" y="804672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3" name="Text 41"/>
          <p:cNvSpPr/>
          <p:nvPr/>
        </p:nvSpPr>
        <p:spPr>
          <a:xfrm>
            <a:off x="9582912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16568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&amp; Validate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16568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evidence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396728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570464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073384" y="80467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11073384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607040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Resolved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607040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45 seconds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2331720"/>
            <a:ext cx="2743200" cy="347472"/>
          </a:xfrm>
          <a:prstGeom prst="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53" name="Text 51"/>
          <p:cNvSpPr/>
          <p:nvPr/>
        </p:nvSpPr>
        <p:spPr>
          <a:xfrm>
            <a:off x="34747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19+ NL phrasings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0" y="2331720"/>
            <a:ext cx="2743200" cy="347472"/>
          </a:xfrm>
          <a:prstGeom prst="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55" name="Text 53"/>
          <p:cNvSpPr/>
          <p:nvPr/>
        </p:nvSpPr>
        <p:spPr>
          <a:xfrm>
            <a:off x="327355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Rule + LLM diagnosis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26480" y="2331720"/>
            <a:ext cx="2743200" cy="347472"/>
          </a:xfrm>
          <a:prstGeom prst="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57" name="Text 55"/>
          <p:cNvSpPr/>
          <p:nvPr/>
        </p:nvSpPr>
        <p:spPr>
          <a:xfrm>
            <a:off x="619963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smartMemoryLimit()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052560" y="2331720"/>
            <a:ext cx="2743200" cy="347472"/>
          </a:xfrm>
          <a:prstGeom prst="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59" name="Text 57"/>
          <p:cNvSpPr/>
          <p:nvPr/>
        </p:nvSpPr>
        <p:spPr>
          <a:xfrm>
            <a:off x="912571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Before/After metrics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2743200"/>
            <a:ext cx="2743200" cy="347472"/>
          </a:xfrm>
          <a:prstGeom prst="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61" name="Text 59"/>
          <p:cNvSpPr/>
          <p:nvPr/>
        </p:nvSpPr>
        <p:spPr>
          <a:xfrm>
            <a:off x="347472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Pod name extraction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00400" y="2743200"/>
            <a:ext cx="2743200" cy="347472"/>
          </a:xfrm>
          <a:prstGeom prst="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63" name="Text 61"/>
          <p:cNvSpPr/>
          <p:nvPr/>
        </p:nvSpPr>
        <p:spPr>
          <a:xfrm>
            <a:off x="3273552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OOMKilled detection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26480" y="2743200"/>
            <a:ext cx="2743200" cy="347472"/>
          </a:xfrm>
          <a:prstGeom prst="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65" name="Text 63"/>
          <p:cNvSpPr/>
          <p:nvPr/>
        </p:nvSpPr>
        <p:spPr>
          <a:xfrm>
            <a:off x="6199632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Risk-assessed fixes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052560" y="2743200"/>
            <a:ext cx="2743200" cy="347472"/>
          </a:xfrm>
          <a:prstGeom prst="rect">
            <a:avLst>
              <a:gd name="adj" fmla="val 10526"/>
            </a:avLst>
          </a:prstGeom>
          <a:solidFill>
            <a:srgbClr val="EFF6FF"/>
          </a:solidFill>
          <a:ln/>
        </p:spPr>
      </p:sp>
      <p:sp>
        <p:nvSpPr>
          <p:cNvPr id="67" name="Text 65"/>
          <p:cNvSpPr/>
          <p:nvPr/>
        </p:nvSpPr>
        <p:spPr>
          <a:xfrm>
            <a:off x="9125712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ServiceNow lifecycle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7432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69" name="Text 67"/>
          <p:cNvSpPr/>
          <p:nvPr/>
        </p:nvSpPr>
        <p:spPr>
          <a:xfrm>
            <a:off x="27432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45s</a:t>
            </a:r>
            <a:endParaRPr lang="en-US" sz="2400" dirty="0"/>
          </a:p>
        </p:txBody>
      </p:sp>
      <p:sp>
        <p:nvSpPr>
          <p:cNvPr id="70" name="Text 68"/>
          <p:cNvSpPr/>
          <p:nvPr/>
        </p:nvSpPr>
        <p:spPr>
          <a:xfrm>
            <a:off x="27432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60604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72" name="Text 70"/>
          <p:cNvSpPr/>
          <p:nvPr/>
        </p:nvSpPr>
        <p:spPr>
          <a:xfrm>
            <a:off x="260604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2400" dirty="0"/>
          </a:p>
        </p:txBody>
      </p:sp>
      <p:sp>
        <p:nvSpPr>
          <p:cNvPr id="73" name="Text 71"/>
          <p:cNvSpPr/>
          <p:nvPr/>
        </p:nvSpPr>
        <p:spPr>
          <a:xfrm>
            <a:off x="260604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93776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75" name="Text 73"/>
          <p:cNvSpPr/>
          <p:nvPr/>
        </p:nvSpPr>
        <p:spPr>
          <a:xfrm>
            <a:off x="493776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400" dirty="0"/>
          </a:p>
        </p:txBody>
      </p:sp>
      <p:sp>
        <p:nvSpPr>
          <p:cNvPr id="76" name="Text 74"/>
          <p:cNvSpPr/>
          <p:nvPr/>
        </p:nvSpPr>
        <p:spPr>
          <a:xfrm>
            <a:off x="493776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Steps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26948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78" name="Text 76"/>
          <p:cNvSpPr/>
          <p:nvPr/>
        </p:nvSpPr>
        <p:spPr>
          <a:xfrm>
            <a:off x="726948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79" name="Text 77"/>
          <p:cNvSpPr/>
          <p:nvPr/>
        </p:nvSpPr>
        <p:spPr>
          <a:xfrm>
            <a:off x="726948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Steps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60120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81" name="Text 79"/>
          <p:cNvSpPr/>
          <p:nvPr/>
        </p:nvSpPr>
        <p:spPr>
          <a:xfrm>
            <a:off x="960120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82" name="Text 80"/>
          <p:cNvSpPr/>
          <p:nvPr/>
        </p:nvSpPr>
        <p:spPr>
          <a:xfrm>
            <a:off x="960120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Commands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  |  Autonomous Cluster Upgrade Automation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804672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"Upgrade to 4.14.28"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53896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27632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0552" y="80467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2130552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64208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Validate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64208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+ channel check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44368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18104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21024" y="80467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621024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Pre-Checks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54680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Operators, etcd, certs...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34840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8576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11496" y="804672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111496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45152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Analysis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45152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remediation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25312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99048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1968" y="80467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601968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35624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35624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+ reports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415784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FCE7F3"/>
          </a:solidFill>
          <a:ln w="19050">
            <a:solidFill>
              <a:srgbClr val="9D174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92440" y="804672"/>
            <a:ext cx="320040" cy="320040"/>
          </a:xfrm>
          <a:prstGeom prst="ellipse">
            <a:avLst/>
          </a:prstGeom>
          <a:solidFill>
            <a:srgbClr val="9D174D"/>
          </a:solidFill>
          <a:ln/>
        </p:spPr>
      </p:sp>
      <p:sp>
        <p:nvSpPr>
          <p:cNvPr id="37" name="Text 35"/>
          <p:cNvSpPr/>
          <p:nvPr/>
        </p:nvSpPr>
        <p:spPr>
          <a:xfrm>
            <a:off x="8092440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26096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26096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Auto-poll until approved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906256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079992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82912" y="80467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9582912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16568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Monitor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16568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CVO + operators + nodes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396728" y="118872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570464" y="777240"/>
            <a:ext cx="1353312" cy="1280160"/>
          </a:xfrm>
          <a:prstGeom prst="rect">
            <a:avLst>
              <a:gd name="adj" fmla="val 5714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073384" y="804672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11073384" y="804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607040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Post-Assess Close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607040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auto-close CR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2331720"/>
            <a:ext cx="2743200" cy="347472"/>
          </a:xfrm>
          <a:prstGeom prst="rect">
            <a:avLst>
              <a:gd name="adj" fmla="val 10526"/>
            </a:avLst>
          </a:prstGeom>
          <a:solidFill>
            <a:srgbClr val="ECFDF5"/>
          </a:solidFill>
          <a:ln/>
        </p:spPr>
      </p:sp>
      <p:sp>
        <p:nvSpPr>
          <p:cNvPr id="53" name="Text 51"/>
          <p:cNvSpPr/>
          <p:nvPr/>
        </p:nvSpPr>
        <p:spPr>
          <a:xfrm>
            <a:off x="34747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50+ health checks in parallel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0" y="2331720"/>
            <a:ext cx="2743200" cy="347472"/>
          </a:xfrm>
          <a:prstGeom prst="rect">
            <a:avLst>
              <a:gd name="adj" fmla="val 10526"/>
            </a:avLst>
          </a:prstGeom>
          <a:solidFill>
            <a:srgbClr val="ECFDF5"/>
          </a:solidFill>
          <a:ln/>
        </p:spPr>
      </p:sp>
      <p:sp>
        <p:nvSpPr>
          <p:cNvPr id="55" name="Text 53"/>
          <p:cNvSpPr/>
          <p:nvPr/>
        </p:nvSpPr>
        <p:spPr>
          <a:xfrm>
            <a:off x="327355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Smart completion: 3-gate verification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26480" y="2331720"/>
            <a:ext cx="2743200" cy="347472"/>
          </a:xfrm>
          <a:prstGeom prst="rect">
            <a:avLst>
              <a:gd name="adj" fmla="val 10526"/>
            </a:avLst>
          </a:prstGeom>
          <a:solidFill>
            <a:srgbClr val="ECFDF5"/>
          </a:solidFill>
          <a:ln/>
        </p:spPr>
      </p:sp>
      <p:sp>
        <p:nvSpPr>
          <p:cNvPr id="57" name="Text 55"/>
          <p:cNvSpPr/>
          <p:nvPr/>
        </p:nvSpPr>
        <p:spPr>
          <a:xfrm>
            <a:off x="619963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+ HTML assessment reports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052560" y="2331720"/>
            <a:ext cx="2743200" cy="347472"/>
          </a:xfrm>
          <a:prstGeom prst="rect">
            <a:avLst>
              <a:gd name="adj" fmla="val 10526"/>
            </a:avLst>
          </a:prstGeom>
          <a:solidFill>
            <a:srgbClr val="ECFDF5"/>
          </a:solidFill>
          <a:ln/>
        </p:spPr>
      </p:sp>
      <p:sp>
        <p:nvSpPr>
          <p:cNvPr id="59" name="Text 57"/>
          <p:cNvSpPr/>
          <p:nvPr/>
        </p:nvSpPr>
        <p:spPr>
          <a:xfrm>
            <a:off x="9125712" y="2331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Duplicate upgrade prevention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74320" y="2743200"/>
            <a:ext cx="2743200" cy="347472"/>
          </a:xfrm>
          <a:prstGeom prst="rect">
            <a:avLst>
              <a:gd name="adj" fmla="val 10526"/>
            </a:avLst>
          </a:prstGeom>
          <a:solidFill>
            <a:srgbClr val="ECFDF5"/>
          </a:solidFill>
          <a:ln/>
        </p:spPr>
      </p:sp>
      <p:sp>
        <p:nvSpPr>
          <p:cNvPr id="61" name="Text 59"/>
          <p:cNvSpPr/>
          <p:nvPr/>
        </p:nvSpPr>
        <p:spPr>
          <a:xfrm>
            <a:off x="347472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EUS-to-EUS path validation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00400" y="2743200"/>
            <a:ext cx="2743200" cy="347472"/>
          </a:xfrm>
          <a:prstGeom prst="rect">
            <a:avLst>
              <a:gd name="adj" fmla="val 10526"/>
            </a:avLst>
          </a:prstGeom>
          <a:solidFill>
            <a:srgbClr val="ECFDF5"/>
          </a:solidFill>
          <a:ln/>
        </p:spPr>
      </p:sp>
      <p:sp>
        <p:nvSpPr>
          <p:cNvPr id="63" name="Text 61"/>
          <p:cNvSpPr/>
          <p:nvPr/>
        </p:nvSpPr>
        <p:spPr>
          <a:xfrm>
            <a:off x="3273552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15-second CVO progress polling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26480" y="2743200"/>
            <a:ext cx="2743200" cy="347472"/>
          </a:xfrm>
          <a:prstGeom prst="rect">
            <a:avLst>
              <a:gd name="adj" fmla="val 10526"/>
            </a:avLst>
          </a:prstGeom>
          <a:solidFill>
            <a:srgbClr val="ECFDF5"/>
          </a:solidFill>
          <a:ln/>
        </p:spPr>
      </p:sp>
      <p:sp>
        <p:nvSpPr>
          <p:cNvPr id="65" name="Text 63"/>
          <p:cNvSpPr/>
          <p:nvPr/>
        </p:nvSpPr>
        <p:spPr>
          <a:xfrm>
            <a:off x="6199632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Auto-close CR with evidence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052560" y="2743200"/>
            <a:ext cx="2743200" cy="347472"/>
          </a:xfrm>
          <a:prstGeom prst="rect">
            <a:avLst>
              <a:gd name="adj" fmla="val 10526"/>
            </a:avLst>
          </a:prstGeom>
          <a:solidFill>
            <a:srgbClr val="ECFDF5"/>
          </a:solidFill>
          <a:ln/>
        </p:spPr>
      </p:sp>
      <p:sp>
        <p:nvSpPr>
          <p:cNvPr id="67" name="Text 65"/>
          <p:cNvSpPr/>
          <p:nvPr/>
        </p:nvSpPr>
        <p:spPr>
          <a:xfrm>
            <a:off x="9125712" y="27432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Hub-spoke multi-cluster ready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7432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69" name="Text 67"/>
          <p:cNvSpPr/>
          <p:nvPr/>
        </p:nvSpPr>
        <p:spPr>
          <a:xfrm>
            <a:off x="27432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2400" dirty="0"/>
          </a:p>
        </p:txBody>
      </p:sp>
      <p:sp>
        <p:nvSpPr>
          <p:cNvPr id="70" name="Text 68"/>
          <p:cNvSpPr/>
          <p:nvPr/>
        </p:nvSpPr>
        <p:spPr>
          <a:xfrm>
            <a:off x="27432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60604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72" name="Text 70"/>
          <p:cNvSpPr/>
          <p:nvPr/>
        </p:nvSpPr>
        <p:spPr>
          <a:xfrm>
            <a:off x="260604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min</a:t>
            </a:r>
            <a:endParaRPr lang="en-US" sz="2400" dirty="0"/>
          </a:p>
        </p:txBody>
      </p:sp>
      <p:sp>
        <p:nvSpPr>
          <p:cNvPr id="73" name="Text 71"/>
          <p:cNvSpPr/>
          <p:nvPr/>
        </p:nvSpPr>
        <p:spPr>
          <a:xfrm>
            <a:off x="260604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Time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93776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75" name="Text 73"/>
          <p:cNvSpPr/>
          <p:nvPr/>
        </p:nvSpPr>
        <p:spPr>
          <a:xfrm>
            <a:off x="493776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400" dirty="0"/>
          </a:p>
        </p:txBody>
      </p:sp>
      <p:sp>
        <p:nvSpPr>
          <p:cNvPr id="76" name="Text 74"/>
          <p:cNvSpPr/>
          <p:nvPr/>
        </p:nvSpPr>
        <p:spPr>
          <a:xfrm>
            <a:off x="493776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26948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78" name="Text 76"/>
          <p:cNvSpPr/>
          <p:nvPr/>
        </p:nvSpPr>
        <p:spPr>
          <a:xfrm>
            <a:off x="726948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400" dirty="0"/>
          </a:p>
        </p:txBody>
      </p:sp>
      <p:sp>
        <p:nvSpPr>
          <p:cNvPr id="79" name="Text 77"/>
          <p:cNvSpPr/>
          <p:nvPr/>
        </p:nvSpPr>
        <p:spPr>
          <a:xfrm>
            <a:off x="726948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Steps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601200" y="3383280"/>
            <a:ext cx="210312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81" name="Text 79"/>
          <p:cNvSpPr/>
          <p:nvPr/>
        </p:nvSpPr>
        <p:spPr>
          <a:xfrm>
            <a:off x="9601200" y="34015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2" name="Text 80"/>
          <p:cNvSpPr/>
          <p:nvPr/>
        </p:nvSpPr>
        <p:spPr>
          <a:xfrm>
            <a:off x="9601200" y="3931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Step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  |  Predictive Intelligence &amp; Anomaly Detection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that predicts failures before they happen — and tells you exactly what to do about it"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3657600" cy="1371600"/>
          </a:xfrm>
          <a:prstGeom prst="rect">
            <a:avLst>
              <a:gd name="adj" fmla="val 6667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OOM Prediction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memory exhaustion using 30-min rolling trends + 24h historical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2194560" cy="256032"/>
          </a:xfrm>
          <a:prstGeom prst="rect">
            <a:avLst>
              <a:gd name="adj" fmla="val 14286"/>
            </a:avLst>
          </a:prstGeom>
          <a:solidFill>
            <a:srgbClr val="FED7A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1488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advance warning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60520" y="1234440"/>
            <a:ext cx="3657600" cy="1371600"/>
          </a:xfrm>
          <a:prstGeom prst="rect">
            <a:avLst>
              <a:gd name="adj" fmla="val 6667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💿  Disk Full Prediction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1600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storage consumption trends and alerts before PVCs fill up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1960" y="2148840"/>
            <a:ext cx="2194560" cy="256032"/>
          </a:xfrm>
          <a:prstGeom prst="rect">
            <a:avLst>
              <a:gd name="adj" fmla="val 14286"/>
            </a:avLst>
          </a:prstGeom>
          <a:solidFill>
            <a:srgbClr val="FED7AA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21488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advance warning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46720" y="1234440"/>
            <a:ext cx="3657600" cy="1371600"/>
          </a:xfrm>
          <a:prstGeom prst="rect">
            <a:avLst>
              <a:gd name="adj" fmla="val 6667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Restart Acceleration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38160" y="1600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pods with accelerating restart patterns — early CrashLoop detection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38160" y="2148840"/>
            <a:ext cx="2194560" cy="256032"/>
          </a:xfrm>
          <a:prstGeom prst="rect">
            <a:avLst>
              <a:gd name="adj" fmla="val 14286"/>
            </a:avLst>
          </a:prstGeom>
          <a:solidFill>
            <a:srgbClr val="FED7AA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21488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detection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3657600" cy="1371600"/>
          </a:xfrm>
          <a:prstGeom prst="rect">
            <a:avLst>
              <a:gd name="adj" fmla="val 6667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Capacity Exhaustion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200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when cluster CPU/memory capacity will be exceeded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2194560" cy="256032"/>
          </a:xfrm>
          <a:prstGeom prst="rect">
            <a:avLst>
              <a:gd name="adj" fmla="val 14286"/>
            </a:avLst>
          </a:prstGeom>
          <a:solidFill>
            <a:srgbClr val="FED7A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749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160520" y="2834640"/>
            <a:ext cx="3657600" cy="1371600"/>
          </a:xfrm>
          <a:prstGeom prst="rect">
            <a:avLst>
              <a:gd name="adj" fmla="val 6667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Operator Degradation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51960" y="3200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gradual operator health decline before full degradation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51960" y="3749040"/>
            <a:ext cx="2194560" cy="256032"/>
          </a:xfrm>
          <a:prstGeom prst="rect">
            <a:avLst>
              <a:gd name="adj" fmla="val 14286"/>
            </a:avLst>
          </a:prstGeom>
          <a:solidFill>
            <a:srgbClr val="FED7AA"/>
          </a:solidFill>
          <a:ln/>
        </p:spPr>
      </p:sp>
      <p:sp>
        <p:nvSpPr>
          <p:cNvPr id="30" name="Text 28"/>
          <p:cNvSpPr/>
          <p:nvPr/>
        </p:nvSpPr>
        <p:spPr>
          <a:xfrm>
            <a:off x="4251960" y="3749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monitoring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046720" y="2834640"/>
            <a:ext cx="3657600" cy="1371600"/>
          </a:xfrm>
          <a:prstGeom prst="rect">
            <a:avLst>
              <a:gd name="adj" fmla="val 6667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3816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Event Escalation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38160" y="3200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warning event storms that indicate emerging cluster issues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38160" y="3749040"/>
            <a:ext cx="2194560" cy="256032"/>
          </a:xfrm>
          <a:prstGeom prst="rect">
            <a:avLst>
              <a:gd name="adj" fmla="val 14286"/>
            </a:avLst>
          </a:prstGeom>
          <a:solidFill>
            <a:srgbClr val="FED7AA"/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37490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alerts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572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Includes: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892040"/>
            <a:ext cx="5669280" cy="1097280"/>
          </a:xfrm>
          <a:prstGeom prst="rect">
            <a:avLst>
              <a:gd name="adj" fmla="val 8333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9194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Proactive Agent — Continuous Anomaly Detection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523036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Auto-detects: pod crashes, OOM kills, image pull failures, node pressure, cert expiry, operator degradation, PVC capacity, resource quota, event storms, config changes, image vulnerabilities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Scans: 60s main cycle | 5m app changes | 30m image vulns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17920" y="4892040"/>
            <a:ext cx="5669280" cy="1097280"/>
          </a:xfrm>
          <a:prstGeom prst="rect">
            <a:avLst>
              <a:gd name="adj" fmla="val 833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91947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&amp; Efficiency Advisor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523036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Identifies: over-provisioned workloads (request &gt; 3× P95 usage), under-provisioned (usage &gt; 90% limit), missing CPU/memory limits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24h P95 quantile from Prometheus vs declared requests/limits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6172200"/>
            <a:ext cx="11612880" cy="320040"/>
          </a:xfrm>
          <a:prstGeom prst="rect">
            <a:avLst>
              <a:gd name="adj" fmla="val 17143"/>
            </a:avLst>
          </a:prstGeom>
          <a:solidFill>
            <a:srgbClr val="0F172A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6172200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LEFT:  Detect problems before users notice  →  Prevent incidents instead of reacting to them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2188952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  |  Security &amp; Compliance Governance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669280" cy="2011680"/>
          </a:xfrm>
          <a:prstGeom prst="rect">
            <a:avLst>
              <a:gd name="adj" fmla="val 4545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503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 Scanning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5394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CIS-5.1 RBAC, CIS-5.2 Pod Security, CIS-5.3 Network, CIS-5.4 Secrets, CIS-5.5 Images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 penalty scoring with A-F grade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containers, root execution, hostNetwork/PID/IPC, resource limits, probes, NetworkPolicies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0" y="777240"/>
            <a:ext cx="5669280" cy="2011680"/>
          </a:xfrm>
          <a:prstGeom prst="rect">
            <a:avLst>
              <a:gd name="adj" fmla="val 4545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8503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Vulnerability Scanner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1188720"/>
            <a:ext cx="5394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Quay CSO or static analysis fallback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scoring: Critical (9.0-10.0), High (7.0-8.9), Medium (4.0-6.9), Low (0.1-3.9)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Fixable count, image age, compliance score (signed, SBOM, digest pinned, trusted registry)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063240"/>
            <a:ext cx="5669280" cy="2011680"/>
          </a:xfrm>
          <a:prstGeom prst="rect">
            <a:avLst>
              <a:gd name="adj" fmla="val 4545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1363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Audit &amp; Pod Security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474720"/>
            <a:ext cx="5394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"Who can" — find subjects capable of specific actions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bindings with subjects, verbs, resources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security audit: privileged mode, root execution, capabilities, limits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policy coverage analysis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3063240"/>
            <a:ext cx="5669280" cy="2011680"/>
          </a:xfrm>
          <a:prstGeom prst="rect">
            <a:avLst>
              <a:gd name="adj" fmla="val 4545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13639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&amp; SCC Advisor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3474720"/>
            <a:ext cx="5394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Enforceable policies: required-labels, forbidden-registries, required-limits, required-probes, max-replicas, custom-rego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 advisor: explains assignment, identifies over-privileged workloads, recommends least-privilege SCC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5440680"/>
            <a:ext cx="11612880" cy="731520"/>
          </a:xfrm>
          <a:prstGeom prst="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440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View UI — Complete Compliance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score ring visualization  |  Category breakdown  |  Severity/status filters  |  Scan history  |  Framework mapping  |  90-day event log  |  Change request tracking  |  Query analytics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6355080"/>
            <a:ext cx="11612880" cy="274320"/>
          </a:xfrm>
          <a:prstGeom prst="rect">
            <a:avLst>
              <a:gd name="adj" fmla="val 20000"/>
            </a:avLst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635508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READY:  SOC2 / ISO 27001 / CIS Kubernetes Benchmark — continuous compliance, not periodic audits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TCS Agentic AI?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5303520" cy="365760"/>
          </a:xfrm>
          <a:prstGeom prst="rect">
            <a:avLst>
              <a:gd name="adj" fmla="val 15000"/>
            </a:avLst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0" y="10515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0" y="1051560"/>
            <a:ext cx="5303520" cy="365760"/>
          </a:xfrm>
          <a:prstGeom prst="rect">
            <a:avLst>
              <a:gd name="adj" fmla="val 15000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051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5303520" cy="457200"/>
          </a:xfrm>
          <a:prstGeom prst="rect">
            <a:avLst>
              <a:gd name="adj" fmla="val 8000"/>
            </a:avLst>
          </a:prstGeom>
          <a:solidFill>
            <a:srgbClr val="FE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08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Alert after failure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508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0" y="1508760"/>
            <a:ext cx="5303520" cy="457200"/>
          </a:xfrm>
          <a:prstGeom prst="rect">
            <a:avLst>
              <a:gd name="adj" fmla="val 8000"/>
            </a:avLst>
          </a:prstGeom>
          <a:solidFill>
            <a:srgbClr val="ECFDF5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508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Predict before failure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039112"/>
            <a:ext cx="5303520" cy="457200"/>
          </a:xfrm>
          <a:prstGeom prst="rect">
            <a:avLst>
              <a:gd name="adj" fmla="val 8000"/>
            </a:avLst>
          </a:prstGeom>
          <a:solidFill>
            <a:srgbClr val="FEE2E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0391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15+ CLI commands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20391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039112"/>
            <a:ext cx="5303520" cy="457200"/>
          </a:xfrm>
          <a:prstGeom prst="rect">
            <a:avLst>
              <a:gd name="adj" fmla="val 8000"/>
            </a:avLst>
          </a:prstGeom>
          <a:solidFill>
            <a:srgbClr val="D1FAE5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03911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Natural language conversation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569464"/>
            <a:ext cx="5303520" cy="457200"/>
          </a:xfrm>
          <a:prstGeom prst="rect">
            <a:avLst>
              <a:gd name="adj" fmla="val 8000"/>
            </a:avLst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6946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Rules-only diagnosis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256946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2569464"/>
            <a:ext cx="5303520" cy="457200"/>
          </a:xfrm>
          <a:prstGeom prst="rect">
            <a:avLst>
              <a:gd name="adj" fmla="val 8000"/>
            </a:avLst>
          </a:prstGeom>
          <a:solidFill>
            <a:srgbClr val="ECFDF5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56946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Hybrid AI (rules + LLM)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099816"/>
            <a:ext cx="5303520" cy="457200"/>
          </a:xfrm>
          <a:prstGeom prst="rect">
            <a:avLst>
              <a:gd name="adj" fmla="val 8000"/>
            </a:avLst>
          </a:prstGeom>
          <a:solidFill>
            <a:srgbClr val="FEE2E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09981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fix + hope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309981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0" y="3099816"/>
            <a:ext cx="5303520" cy="457200"/>
          </a:xfrm>
          <a:prstGeom prst="rect">
            <a:avLst>
              <a:gd name="adj" fmla="val 8000"/>
            </a:avLst>
          </a:prstGeom>
          <a:solidFill>
            <a:srgbClr val="D1FAE5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309981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Data-driven fix + evidence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630168"/>
            <a:ext cx="5303520" cy="457200"/>
          </a:xfrm>
          <a:prstGeom prst="rect">
            <a:avLst>
              <a:gd name="adj" fmla="val 8000"/>
            </a:avLst>
          </a:prstGeom>
          <a:solidFill>
            <a:srgbClr val="FEF2F2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6301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Separate ticketing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0" y="36301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00800" y="3630168"/>
            <a:ext cx="5303520" cy="457200"/>
          </a:xfrm>
          <a:prstGeom prst="rect">
            <a:avLst>
              <a:gd name="adj" fmla="val 8000"/>
            </a:avLst>
          </a:prstGeom>
          <a:solidFill>
            <a:srgbClr val="ECFDF5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6301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Integrated ITSM lifecycle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160520"/>
            <a:ext cx="5303520" cy="457200"/>
          </a:xfrm>
          <a:prstGeom prst="rect">
            <a:avLst>
              <a:gd name="adj" fmla="val 8000"/>
            </a:avLst>
          </a:prstGeom>
          <a:solidFill>
            <a:srgbClr val="FEE2E2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160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Single cluster view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60720" y="41605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00800" y="4160520"/>
            <a:ext cx="5303520" cy="457200"/>
          </a:xfrm>
          <a:prstGeom prst="rect">
            <a:avLst>
              <a:gd name="adj" fmla="val 8000"/>
            </a:avLst>
          </a:prstGeom>
          <a:solidFill>
            <a:srgbClr val="D1FAE5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4160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Multi-cluster federation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690872"/>
            <a:ext cx="5303520" cy="457200"/>
          </a:xfrm>
          <a:prstGeom prst="rect">
            <a:avLst>
              <a:gd name="adj" fmla="val 8000"/>
            </a:avLst>
          </a:prstGeom>
          <a:solidFill>
            <a:srgbClr val="FEF2F2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6908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Periodic security audits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60720" y="46908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400800" y="4690872"/>
            <a:ext cx="5303520" cy="457200"/>
          </a:xfrm>
          <a:prstGeom prst="rect">
            <a:avLst>
              <a:gd name="adj" fmla="val 8000"/>
            </a:avLst>
          </a:prstGeom>
          <a:solidFill>
            <a:srgbClr val="ECFDF5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469087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Continuous compliance scanning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5221224"/>
            <a:ext cx="5303520" cy="457200"/>
          </a:xfrm>
          <a:prstGeom prst="rect">
            <a:avLst>
              <a:gd name="adj" fmla="val 8000"/>
            </a:avLst>
          </a:prstGeom>
          <a:solidFill>
            <a:srgbClr val="FEE2E2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522122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Reactive escalation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760720" y="522122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400800" y="5221224"/>
            <a:ext cx="5303520" cy="457200"/>
          </a:xfrm>
          <a:prstGeom prst="rect">
            <a:avLst>
              <a:gd name="adj" fmla="val 8000"/>
            </a:avLst>
          </a:prstGeom>
          <a:solidFill>
            <a:srgbClr val="D1FAE5"/>
          </a:solidFill>
          <a:ln/>
        </p:spPr>
      </p:sp>
      <p:sp>
        <p:nvSpPr>
          <p:cNvPr id="49" name="Text 47"/>
          <p:cNvSpPr/>
          <p:nvPr/>
        </p:nvSpPr>
        <p:spPr>
          <a:xfrm>
            <a:off x="6583680" y="522122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Proactive anomaly detection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5897880"/>
            <a:ext cx="11247120" cy="640080"/>
          </a:xfrm>
          <a:prstGeom prst="rect">
            <a:avLst>
              <a:gd name="adj" fmla="val 14286"/>
            </a:avLst>
          </a:prstGeom>
          <a:solidFill>
            <a:srgbClr val="0F172A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58978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monitoring. Not just alerting. Not just automation.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platform that understands, predicts, acts, and proves it.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Demo Flow — 5 Minutes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005840" cy="621792"/>
          </a:xfrm>
          <a:prstGeom prst="rect">
            <a:avLst>
              <a:gd name="adj" fmla="val 882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955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0:00–0:30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110642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71600" y="777240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0" y="7772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dashboard with 13+ widgets — health, topology, alerts, at-risk pods.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"Single pane of glass across all clusters. Everything an SRE needs, powered by AI."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1490472"/>
            <a:ext cx="1005840" cy="621792"/>
          </a:xfrm>
          <a:prstGeom prst="rect">
            <a:avLst>
              <a:gd name="adj" fmla="val 8824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5087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0:30–1:00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28600" y="181965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371600" y="1490472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UC-01: Ask a Question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0" y="1490472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"Why is my pod mlflow-server crashing?" → AI diagnoses OOMKilled in 10 seconds.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"Plain English. No kubectl. Root cause + evidence in seconds."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" y="2203704"/>
            <a:ext cx="1005840" cy="621792"/>
          </a:xfrm>
          <a:prstGeom prst="rect">
            <a:avLst>
              <a:gd name="adj" fmla="val 882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2219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1:00–1:45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28600" y="25328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371600" y="2203704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UC-01: Fix &amp; Evidence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203704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Apply Fix. Show before/after: 512Mi→2Gi, 19→0 restarts. ServiceNow auto-closed.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"45-second MTTR. Full audit trail. Before/after proof for every change."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2916936"/>
            <a:ext cx="1005840" cy="621792"/>
          </a:xfrm>
          <a:prstGeom prst="rect">
            <a:avLst>
              <a:gd name="adj" fmla="val 882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9352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1:45–2:30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8600" y="324612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371600" y="2916936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UC-02: Upgrade Cluster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916936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"Upgrade to 4.14.28" → 50+ pre-checks → ServiceNow CR auto-created.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takes 14-40 hours manually? One sentence. Full ITSM compliance."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3630168"/>
            <a:ext cx="1005840" cy="621792"/>
          </a:xfrm>
          <a:prstGeom prst="rect">
            <a:avLst>
              <a:gd name="adj" fmla="val 8824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6484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2:30–3:15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8600" y="3959352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371600" y="3630168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UC-03: Predictive Intel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63016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Intelligence tab. Show predictions: OOM warning, disk trend, restart acceleration.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doesn't just react — it predicts. 30-minute advance warning before failures hit."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4343400"/>
            <a:ext cx="1005840" cy="621792"/>
          </a:xfrm>
          <a:prstGeom prst="rect">
            <a:avLst>
              <a:gd name="adj" fmla="val 882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43616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3:15–4:00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28600" y="4672584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371600" y="4343400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UC-04: Security Scan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83280" y="434340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Audit tab: CIS compliance score, image vulnerabilities, RBAC findings.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"Continuous compliance. Not periodic audits. A-F grading. Enterprise-ready governance."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5056632"/>
            <a:ext cx="1005840" cy="621792"/>
          </a:xfrm>
          <a:prstGeom prst="rect">
            <a:avLst>
              <a:gd name="adj" fmla="val 8824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50749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4:00–4:30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8600" y="53858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Scale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371600" y="5056632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Scale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83280" y="5056632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multi-cluster picker, 13 agents. "Hub-spoke federation. 50+ clusters. 13 specialist AI agents.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discoverable via A2A protocol — they can collaborate."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" y="5769864"/>
            <a:ext cx="1005840" cy="621792"/>
          </a:xfrm>
          <a:prstGeom prst="rect">
            <a:avLst>
              <a:gd name="adj" fmla="val 8824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" y="57881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4:30–5:00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28600" y="609904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Strong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371600" y="5769864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Strong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83280" y="5769864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 use cases. 13 agents. 59 services. Natural language in, full lifecycle out.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to predictive. From manual to autonomous. That's TCS Agentic AI."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8600" y="6537960"/>
            <a:ext cx="11704320" cy="201168"/>
          </a:xfrm>
          <a:prstGeom prst="rect">
            <a:avLst>
              <a:gd name="adj" fmla="val 18182"/>
            </a:avLst>
          </a:pr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228600" y="6519672"/>
            <a:ext cx="1170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Pause after each "wow moment" — let it sink in.  The speed IS the demo.  End with the architecture for depth.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Platform Impact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219456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 • Upgrade • Predict • Secure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19456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9184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AI Agents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 • Self-discovering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651760" cy="219456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21792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Coverage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 only for approvals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0" y="1188720"/>
            <a:ext cx="2651760" cy="219456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12801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144000" y="2148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0" y="26060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evidenced &amp; traceable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2651760" cy="320040"/>
          </a:xfrm>
          <a:prstGeom prst="rect">
            <a:avLst>
              <a:gd name="adj" fmla="val 11429"/>
            </a:avLst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3794760"/>
            <a:ext cx="2651760" cy="320040"/>
          </a:xfrm>
          <a:prstGeom prst="rect">
            <a:avLst>
              <a:gd name="adj" fmla="val 11429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3794760"/>
            <a:ext cx="2651760" cy="320040"/>
          </a:xfrm>
          <a:prstGeom prst="rect">
            <a:avLst>
              <a:gd name="adj" fmla="val 11429"/>
            </a:avLst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TCS Agentic AI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144000" y="3794760"/>
            <a:ext cx="2651760" cy="320040"/>
          </a:xfrm>
          <a:prstGeom prst="rect">
            <a:avLst>
              <a:gd name="adj" fmla="val 11429"/>
            </a:avLst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160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UC-01: Troubleshooting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4160520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4160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hours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4160520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4160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seconds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144000" y="4160520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0" y="41605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544568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5445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UC-02: Cluster Upgrade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91840" y="4544568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45445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14-40 hours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4544568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45445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minutes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44000" y="4544568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0" y="45445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928616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9286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UC-03: Prediction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91840" y="4928616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49286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(post-failure)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17920" y="4928616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49286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advance warning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144000" y="4928616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44000" y="49286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5312664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53126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UC-04: Security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91840" y="5312664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0" y="53126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manual audits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17920" y="5312664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0" y="53126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A-F scoring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144000" y="5312664"/>
            <a:ext cx="265176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44000" y="53126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72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937760" y="2103120"/>
            <a:ext cx="2286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3774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Platform Operations for Enterprise Kubernetes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31089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  •  Upgrade  •  Predict  •  Secure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39319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to Predictive</a:t>
            </a:r>
            <a:endParaRPr lang="en-US" sz="20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 to Autonomous</a:t>
            </a:r>
            <a:endParaRPr lang="en-US" sz="20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to Unified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0" y="53035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Agentic AI Engineering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TCS Agentic AI — Complete Platform Overview</dc:title>
  <dc:subject>PptxGenJS Presentation</dc:subject>
  <dc:creator>TCS Agentic AI Platform</dc:creator>
  <cp:lastModifiedBy>TCS Agentic AI Platform</cp:lastModifiedBy>
  <cp:revision>1</cp:revision>
  <dcterms:created xsi:type="dcterms:W3CDTF">2026-06-23T07:56:34Z</dcterms:created>
  <dcterms:modified xsi:type="dcterms:W3CDTF">2026-06-23T07:56:34Z</dcterms:modified>
</cp:coreProperties>
</file>